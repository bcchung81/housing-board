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전파 도파민입니다. 저희가 준비한 프로젝트는 '주택공급 상황판'입니다.
주택공급 소식은 뉴스에서 자주 접하지만, 정작 그 계획이 지금 어디까지 진행됐는지는 알기 어렵습니다. 저희는 흩어져 있는 공급 정보를 연결해서, 정책이 실제 입주까지 어떻게 이어지고 있는지 한눈에 볼 수 있는 상황판을 만들었습니다.
오늘은 기술 자체보다, 어떤 문제를 발견했고 어떻게 풀었는지, 그리고 실제로 무엇을 구현했는지를 중심으로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주택공급 계획은 꾸준히 발표됩니다. "수도권에 몇십만 호를 공급하겠다"는 목표 숫자는 쉽게 접할 수 있죠.
그런데 그 계획이 지금 어디까지 왔는지 물어보면 답하기가 어렵습니다. 관련 정보가 국토부, LH, SH, GH, 청약홈, 인허가 자료, 통계, 지자체 등 여러 곳에 흩어져 있고, 각각 기준과 형식이 다르기 때문입니다.
게다가 정책 발표에서 실제 입주까지는 여러 단계를 거치고, 지역이나 사업에 따라 공개되는 정보의 수준도 다릅니다.
결국 "착공은 했는지, 분양은 언제인지, 입주는 언제인지"를 한 번에 확인할 방법이 없다는 것, 이것이 저희가 출발한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저희의 목표는 명확했습니다. 정책과 사업을 연결하고, 지금 어디까지 진행됐는지를 보여주는 서비스를 만드는 것입니다.
이 서비스는 두 가지 관점을 함께 고려했습니다.
먼저 정책 담당자 관점입니다. 정책별, 지역별로 추진현황을 확인하고, 사업이 어느 단계에서 멈춰 있는지, 공급계획과 사업정보가 제대로 연결돼 있는지를 볼 수 있어야 합니다.
다음은 국민 관점입니다. 내가 관심 있는 지역에 어떤 공급계획이 있는지, 그 사업이 지금 어느 단계인지, 언제쯤 공급과 입주가 이뤄지는지를 쉽게 이해할 수 있어야 합니다.
두 관점을 하나의 상황판 안에서 함께 담는 것이 저희의 설계 방향이었습니다.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서비스의 핵심 아이디어는 주택공급을 '물량'이 아니라 '단계'로 보는 것입니다.
주택공급은 정책, 사업화, 인허가, 건설, 공급, 그리고 입주까지 여섯 단계로 이어집니다. 기존에는 공급 예정 물량 위주로 정보가 나왔다면, 저희는 각 사업이 이 여섯 단계 중 어디까지 와 있는지를 보여주도록 설계했습니다.
아래 예시처럼 한 사업을 단계별로 추적합니다. 근거 자료로 확인된 단계는 실선으로 연결하고, 아직 확인이 필요한 단계는 점선으로 표시합니다.
여기서 중요한 원칙이 하나 있습니다. 단계 사이의 정보가 확인되지 않으면, 그럴듯해 보여도 임의로 연결하지 않습니다. 미연결이나 확인 필요 상태로 그대로 보여주는 것, 이것이 상황판의 신뢰를 지키는 방법이라고 생각했습니다.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아이디어는 단순했지만, 실제로 가장 크게 부딪힌 벽은 공공데이터였습니다.
저희 팀 모두가 공통적으로 느낀 것은, 데이터를 확보하는 것과 그 데이터를 연결해서 활용하는 것은 완전히 다른 문제라는 점이었습니다.
첫째, 기관마다 데이터를 제공하는 방식과 기준이 다릅니다. 어떤 곳은 웹 게시물, 어떤 곳은 파일, 어떤 곳은 API로 제공합니다.
둘째, 사업을 하나로 묶어줄 공통 식별자가 부족합니다. 왼쪽 예시처럼, 같은 사업이 정책 자료에서는 택지 이름으로, 인허가에서는 지번으로, 건설현황에서는 블록 번호로, 모집공고에서는 단지 이름으로 나타날 수 있습니다.
셋째, API가 제공되더라도 필요한 항목이 없거나 정상적으로 이용되지 않는 경우가 있었습니다.
넷째, 그래서 정책부터 입주까지 각 단계의 데이터를 직접 이어 붙이기가 어려웠습니다.
이 문제를 어떻게 다뤘는지 다음 장에서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팀원들은 각자 서로 다른 방식으로 데이터를 확보했습니다. 공식 공개자료를 내려받기도 하고, 공공데이터 API를 신청하기도 하고, 웹에 게시된 자료를 수집하기도 했습니다.
그다음 이 데이터를 함께 모아 구조와 항목을 분석하고, 공통 데이터 규격을 만들었습니다. 그리고 중복은 없는지, 같은 사업을 식별할 수 있는지, 실제로 연결이 가능한지를 검토한 뒤, 정책·프로그램·사업 중심의 구조로 정리해서 서비스에 연결했습니다.
여기서 저희가 가장 강조하고 싶은 것은 왼쪽 숫자입니다. 서비스 화면 기준으로 수집 출처는 62개, 추출된 데이터는 행과 컬럼을 곱해 5천5백만 개가 넘습니다. 하지만 근거가 확인된 연결 데이터는 884건입니다. 데이터를 많이 모았다고 해서 연결이 끝난 것으로 보지 않았다는 뜻입니다.
그래서 오른쪽처럼 원천 확보, 수집·연결 필요, 수집 방안 미확인, 아직 계획 미수립으로 상태를 나눠서, 확인된 것과 확인되지 않은 것을 구분해 관리했습니다.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무엇을 기준으로 데이터를 연결했을까요? 저희는 '정책–프로그램–사업'이라는 세 층을 기준으로 삼았습니다.
정책은 "무엇을 하겠다"는 목표입니다. 예를 들어 9·7 주택공급 확대방안이 있습니다. 프로그램은 "어떤 방식으로"에 해당합니다. 예를 들어 토지임대부 같은 공급 방식입니다. 그리고 사업은 "어디에서"입니다. 서울 강동구 고덕강일 3단지처럼 실제 현장 단위입니다. 이 예시는 저희 서비스의 연결 화면에 실제로 표시된 항목입니다.
그리고 각 사업에 사업화, 인허가, 건설, 공급, 입주 정보 중 확인 가능한 것만 연결합니다.
원칙은 세 가지입니다. 정책과 사업을 섞지 않고 구분합니다. 연결마다 출처와 근거를 남기고, 검토 필요, 담당자 확정, 연결 해제로 상태를 기록합니다. 마지막으로 연결되지 않은 항목은 별도로 표시합니다. 특히 지자체의 정비계획과 사업이 연결됐다고 해서, 그것을 정부 정책과 사업이 연결된 것으로 보지 않도록 주의했습니다.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구성은 간단하게 말씀드리겠습니다.
데이터는 공식 웹과 파일, 공공데이터 API에서 수집합니다. 수집한 데이터는 공통 규격으로 정제하고 검증한 다음, PostgreSQL 데이터베이스에 저장합니다. 지도 표현을 위해 위치 정보를 다루는 PostGIS를 함께 사용했습니다.
그리고 FastAPI로 화면이 필요로 하는 조회와 집계를 제공하고, 사용자 화면은 React와 Vite로 만들어 지도 시각화와 추진현황 대시보드를 보여줍니다.
여기서 하나 강조하고 싶은 점은, 화면은 데이터베이스에 저장된 연결만 조회한다는 것입니다. 화면을 열 때마다 새로 자동 매칭하지 않기 때문에, 누가 언제 보더라도 같은 근거를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구현 결과입니다. 먼저 추진현황 화면입니다.
화면은 서울 강동구 고덕강일 3단지를 선택한 모습입니다. 1번 영역에서는 이 사업이 어떤 정책, 어떤 프로그램에 연결되어 있는지, 그리고 그 연결이 검토 중인지 확정됐는지를 보여줍니다.
2번 영역에서는 사업의 규모, 위치, 시행자 같은 상세정보와 수집 근거를 확인할 수 있습니다.
3번이 핵심입니다. 정책, 사업화, 인허가, 건설, 공급, 입주까지 사업이 각 단계에서 어떤 상태인지 보여줍니다. 목표와 실제 확인된 실적을 구분하고, 확보하지 못한 정보는 빈칸을 채우지 않고 그대로 표시합니다.
정확히 말씀드리면, 사업별 추진현황은 구현된 상태이고, 정책별·프로그램별 추진현황에 필요한 정책 자료는 추가로 보완할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구현 결과는 지역과 공급현황 화면입니다.
1번은 공급현황 지도입니다. 서울, 인천, 경기의 공급계획을 지역과 블록 단위로 지도 위에 보여줍니다. 참고로 지도 위의 3D 건물 형상은 이해를 돕기 위한 가상 모델이고, 공급량 수치는 공식 원천 자료를 기준으로 합니다.
2번처럼 사업을 선택하면 단계별 물량과 일정을 바로 확인할 수 있습니다.
3번은 연도별 공급 비교 화면으로, 서울·인천·경기의 공식 공급단계 실적을 같은 연도 축에서 비교합니다.
또한 저희가 실제로 확보한 데이터의 범위와, 위치가 아직 연결되지 않은 사업도 숨기지 않고 함께 보여줍니다.
다만 입주 예정 지역의 학교, 어린이집 같은 생활 기반시설 정보는 아직 완성된 기능이 아니라 향후 추가할 기능으로 구분해서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서비스를 짧게 보여드리겠습니다. 시연은 네 단계로 진행합니다.
첫 번째, 상황판 메인입니다. 공급현황 지도에서 서울, 인천, 경기의 공급계획이 어디에 있는지 한눈에 봅니다.
두 번째, 추진현황의 정책 메뉴로 들어갑니다. 9·7 주택공급 확대방안을 기준으로 지역별, 단계별 현황을 확인합니다.
세 번째, 특정 사업을 선택합니다. 그 사업이 정책부터 입주까지 각 단계에서 어떤 상태인지, 어떤 근거가 있는지 확인합니다.
네 번째, 지역 여건과 공급현황 화면에서 해당 지역의 가구, 주택 재고 같은 통계를 함께 살펴봅니다.
실시간 접속이 원활하지 않을 경우에는 이 캡처 화면으로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프로젝트를 정리하면서 저희가 얻은 결론은 하나입니다. 데이터를 많이 모으는 것보다, 신뢰할 수 있게 연결하는 것이 더 중요했다는 것입니다.
성과로는, 흩어진 주택공급 정보를 하나의 화면에서 통합적으로 보여주는 서비스를 구현했고, 정책–프로그램–사업 중심의 데이터 구조를 마련했습니다. 또 공공데이터가 어디까지 연결될 수 있고 어디서 막히는지를 직접 확인했고, 확인된 사실과 미확인 정보를 구분하는 방식을 적용했습니다. 정책 담당자와 국민의 관점도 함께 반영했습니다.
배운 점도 있습니다. 데이터가 제공된다고 해서 바로 활용할 수 있는 것은 아니었습니다. 같은 사업을 알아볼 수 있는 공통 식별체계와 표준화가 무엇보다 중요했습니다. 연결되지 않은 데이터도 숨기지 않고 투명하게 보여줘야 신뢰가 생깁니다. 그리고 서비스를 만드는 것보다, 데이터를 계속 관리하는 일이 더 길고 중요하다는 것도 배웠습니다.
이 모든 과정은 팀원 각자가 확보한 서로 다른 데이터와 결과물을 하나로 모은 공동 작업의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앞으로의 발전 방향입니다. 저희의 방향은 "계획을 보여주는 상황판에서, 실제 진행을 설명하는 상황판으로" 나아가는 것입니다.
첫째, 정책별·프로그램별 추진현황에 필요한 정책 데이터를 보완하겠습니다. 둘째, 입주 예정 지역의 학교, 어린이집 같은 생활 기반시설 정보를 확대하겠습니다. 셋째, 정책과 사업 데이터의 연계 정확도를 높이고, 넷째, 데이터 수집과 검증 체계를 개선하겠습니다. 다섯째, 사업이 어디서 지연되는지, 단계별로 어떻게 변하는지를 분석하는 기능도 검토하겠습니다.
주택공급 상황판은 공급계획을 나열하는 것이 아니라, 정책이 실제 주거공급으로 이어지는 과정을 보여주기 위한 시도입니다.
지금까지 팀 전파 도파민이었습니다.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8.png"/><Relationship Id="rId10" Type="http://schemas.openxmlformats.org/officeDocument/2006/relationships/image" Target="../media/image-4-8.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44"/>
        </a:solidFill>
      </p:bgPr>
    </p:bg>
    <p:spTree>
      <p:nvGrpSpPr>
        <p:cNvPr id="1" name=""/>
        <p:cNvGrpSpPr/>
        <p:nvPr/>
      </p:nvGrpSpPr>
      <p:grpSpPr>
        <a:xfrm>
          <a:off x="0" y="0"/>
          <a:ext cx="0" cy="0"/>
          <a:chOff x="0" y="0"/>
          <a:chExt cx="0" cy="0"/>
        </a:xfrm>
      </p:grpSpPr>
      <p:pic>
        <p:nvPicPr>
          <p:cNvPr id="3" name="Image 0" descr="gen-dedup-df6ea64a4ba2cde5dea3580ac393b94e.jpg">    </p:cNvPr>
          <p:cNvPicPr>
            <a:picLocks noChangeAspect="1"/>
          </p:cNvPicPr>
          <p:nvPr/>
        </p:nvPicPr>
        <p:blipFill>
          <a:blip r:embed="rId1"/>
          <a:stretch>
            <a:fillRect/>
          </a:stretch>
        </p:blipFill>
        <p:spPr>
          <a:xfrm>
            <a:off x="0" y="0"/>
            <a:ext cx="18288000" cy="10287000"/>
          </a:xfrm>
          <a:prstGeom prst="rect">
            <a:avLst/>
          </a:prstGeom>
        </p:spPr>
      </p:pic>
      <p:pic>
        <p:nvPicPr>
          <p:cNvPr id="4" name="Image 1" descr="gen-dedup-5e83230b6e9d56cddd7109b05fe31314.png">    </p:cNvPr>
          <p:cNvPicPr>
            <a:picLocks noChangeAspect="1"/>
          </p:cNvPicPr>
          <p:nvPr/>
        </p:nvPicPr>
        <p:blipFill>
          <a:blip r:embed="rId2"/>
          <a:srcRect l="0" r="0" t="0" b="0"/>
          <a:stretch/>
        </p:blipFill>
        <p:spPr>
          <a:xfrm>
            <a:off x="0" y="0"/>
            <a:ext cx="18288000" cy="10287000"/>
          </a:xfrm>
          <a:prstGeom prst="rect">
            <a:avLst/>
          </a:prstGeom>
        </p:spPr>
      </p:pic>
      <p:sp>
        <p:nvSpPr>
          <p:cNvPr id="5" name="Text 0"/>
          <p:cNvSpPr txBox="1"/>
          <p:nvPr/>
        </p:nvSpPr>
        <p:spPr>
          <a:xfrm>
            <a:off x="1333195" y="1429207"/>
            <a:ext cx="8572500" cy="324612"/>
          </a:xfrm>
          <a:prstGeom prst="rect">
            <a:avLst/>
          </a:prstGeom>
          <a:noFill/>
          <a:ln/>
        </p:spPr>
        <p:txBody>
          <a:bodyPr wrap="none" lIns="0" tIns="0" rIns="0" bIns="0" rtlCol="0" anchor="ctr"/>
          <a:lstStyle/>
          <a:p>
            <a:pPr algn="l" indent="0" marL="0">
              <a:buNone/>
            </a:pPr>
            <a:r>
              <a:rPr lang="en-US" sz="2100" b="1" spc="450" kern="0" dirty="0">
                <a:solidFill>
                  <a:srgbClr val="12B5A6"/>
                </a:solidFill>
                <a:latin typeface="Pretendard" pitchFamily="34" charset="0"/>
                <a:ea typeface="Pretendard" pitchFamily="34" charset="-122"/>
                <a:cs typeface="Pretendard" pitchFamily="34" charset="-120"/>
              </a:rPr>
              <a:t>AI 챔피언 고급과정 · 프로젝트 발표</a:t>
            </a:r>
            <a:endParaRPr lang="en-US" sz="2100" dirty="0"/>
          </a:p>
        </p:txBody>
      </p:sp>
      <p:sp>
        <p:nvSpPr>
          <p:cNvPr id="6" name="Text 1"/>
          <p:cNvSpPr txBox="1"/>
          <p:nvPr/>
        </p:nvSpPr>
        <p:spPr>
          <a:xfrm>
            <a:off x="1276502" y="2857500"/>
            <a:ext cx="12705588" cy="1571854"/>
          </a:xfrm>
          <a:prstGeom prst="rect">
            <a:avLst/>
          </a:prstGeom>
          <a:noFill/>
          <a:ln/>
        </p:spPr>
        <p:txBody>
          <a:bodyPr wrap="none" lIns="0" tIns="0" rIns="0" bIns="0" rtlCol="0" anchor="ctr"/>
          <a:lstStyle/>
          <a:p>
            <a:pPr algn="l" indent="0" marL="0">
              <a:buNone/>
            </a:pPr>
            <a:r>
              <a:rPr lang="en-US" sz="11250" b="1" spc="-300" kern="0" dirty="0">
                <a:solidFill>
                  <a:srgbClr val="FFFFFF"/>
                </a:solidFill>
                <a:latin typeface="Pretendard" pitchFamily="34" charset="0"/>
                <a:ea typeface="Pretendard" pitchFamily="34" charset="-122"/>
                <a:cs typeface="Pretendard" pitchFamily="34" charset="-120"/>
              </a:rPr>
              <a:t>주택공급 상황판</a:t>
            </a:r>
            <a:endParaRPr lang="en-US" sz="11250" dirty="0"/>
          </a:p>
        </p:txBody>
      </p:sp>
      <p:sp>
        <p:nvSpPr>
          <p:cNvPr id="7" name="Text 2"/>
          <p:cNvSpPr txBox="1"/>
          <p:nvPr/>
        </p:nvSpPr>
        <p:spPr>
          <a:xfrm>
            <a:off x="1333195" y="4710074"/>
            <a:ext cx="10478110" cy="1271930"/>
          </a:xfrm>
          <a:prstGeom prst="rect">
            <a:avLst/>
          </a:prstGeom>
          <a:noFill/>
          <a:ln/>
        </p:spPr>
        <p:txBody>
          <a:bodyPr wrap="square" lIns="0" tIns="0" rIns="0" bIns="0" rtlCol="0" anchor="t"/>
          <a:lstStyle/>
          <a:p>
            <a:pPr algn="l" indent="0" marL="0">
              <a:lnSpc>
                <a:spcPts val="4785"/>
              </a:lnSpc>
              <a:buNone/>
            </a:pPr>
            <a:r>
              <a:rPr lang="en-US" sz="3300" dirty="0">
                <a:solidFill>
                  <a:srgbClr val="DCE6F5"/>
                </a:solidFill>
                <a:latin typeface="Pretendard" pitchFamily="34" charset="0"/>
                <a:ea typeface="Pretendard" pitchFamily="34" charset="-122"/>
                <a:cs typeface="Pretendard" pitchFamily="34" charset="-120"/>
              </a:rPr>
              <a:t>흩어진 공급정보를 연결해</a:t>
            </a:r>
            <a:pPr algn="l" indent="0" marL="0">
              <a:lnSpc>
                <a:spcPts val="4785"/>
              </a:lnSpc>
              <a:buNone/>
            </a:pPr>
            <a:endParaRPr lang="en-US" sz="3300" dirty="0"/>
          </a:p>
          <a:p>
            <a:pPr algn="l" indent="0" marL="0">
              <a:lnSpc>
                <a:spcPts val="4785"/>
              </a:lnSpc>
              <a:buNone/>
            </a:pPr>
            <a:r>
              <a:rPr lang="en-US" sz="3300" dirty="0">
                <a:solidFill>
                  <a:srgbClr val="DCE6F5"/>
                </a:solidFill>
                <a:latin typeface="Pretendard" pitchFamily="34" charset="0"/>
                <a:ea typeface="Pretendard" pitchFamily="34" charset="-122"/>
                <a:cs typeface="Pretendard" pitchFamily="34" charset="-120"/>
              </a:rPr>
              <a:t>정책의 진행 상황을 한눈에</a:t>
            </a:r>
            <a:endParaRPr lang="en-US" sz="3300" dirty="0"/>
          </a:p>
        </p:txBody>
      </p:sp>
      <p:pic>
        <p:nvPicPr>
          <p:cNvPr id="8" name="Image 2" descr="gen-dedup-48d81795c2e7a83da018d53a74838479.png">    </p:cNvPr>
          <p:cNvPicPr>
            <a:picLocks noChangeAspect="1"/>
          </p:cNvPicPr>
          <p:nvPr/>
        </p:nvPicPr>
        <p:blipFill>
          <a:blip r:embed="rId3"/>
          <a:srcRect l="0" r="0" t="-398" b="-398"/>
          <a:stretch/>
        </p:blipFill>
        <p:spPr>
          <a:xfrm>
            <a:off x="1619402" y="7086600"/>
            <a:ext cx="8953805" cy="38405"/>
          </a:xfrm>
          <a:prstGeom prst="rect">
            <a:avLst/>
          </a:prstGeom>
        </p:spPr>
      </p:pic>
      <p:sp>
        <p:nvSpPr>
          <p:cNvPr id="9" name="Shape 3"/>
          <p:cNvSpPr/>
          <p:nvPr/>
        </p:nvSpPr>
        <p:spPr>
          <a:xfrm>
            <a:off x="1657807" y="6858000"/>
            <a:ext cx="495605" cy="495605"/>
          </a:xfrm>
          <a:prstGeom prst="ellipse">
            <a:avLst/>
          </a:prstGeom>
          <a:solidFill>
            <a:srgbClr val="12B5A6"/>
          </a:solidFill>
          <a:ln w="12700">
            <a:solidFill>
              <a:srgbClr val="FFFFFF">
                <a:alpha val="0"/>
              </a:srgbClr>
            </a:solidFill>
            <a:prstDash val="solid"/>
          </a:ln>
        </p:spPr>
      </p:sp>
      <p:sp>
        <p:nvSpPr>
          <p:cNvPr id="10" name="Shape 4"/>
          <p:cNvSpPr/>
          <p:nvPr/>
        </p:nvSpPr>
        <p:spPr>
          <a:xfrm>
            <a:off x="3333902" y="6858000"/>
            <a:ext cx="495605" cy="495605"/>
          </a:xfrm>
          <a:prstGeom prst="ellipse">
            <a:avLst/>
          </a:prstGeom>
          <a:solidFill>
            <a:srgbClr val="12B5A6"/>
          </a:solidFill>
          <a:ln w="12700">
            <a:solidFill>
              <a:srgbClr val="FFFFFF">
                <a:alpha val="0"/>
              </a:srgbClr>
            </a:solidFill>
            <a:prstDash val="solid"/>
          </a:ln>
        </p:spPr>
      </p:sp>
      <p:sp>
        <p:nvSpPr>
          <p:cNvPr id="11" name="Shape 5"/>
          <p:cNvSpPr/>
          <p:nvPr/>
        </p:nvSpPr>
        <p:spPr>
          <a:xfrm>
            <a:off x="5009998" y="6858000"/>
            <a:ext cx="495605" cy="495605"/>
          </a:xfrm>
          <a:prstGeom prst="ellipse">
            <a:avLst/>
          </a:prstGeom>
          <a:solidFill>
            <a:srgbClr val="1F6FEB"/>
          </a:solidFill>
          <a:ln w="12700">
            <a:solidFill>
              <a:srgbClr val="FFFFFF">
                <a:alpha val="0"/>
              </a:srgbClr>
            </a:solidFill>
            <a:prstDash val="solid"/>
          </a:ln>
        </p:spPr>
      </p:sp>
      <p:pic>
        <p:nvPicPr>
          <p:cNvPr id="12" name="Image 3" descr="gen-dedup-9146f0fb6daaa8c307da458ecd090122.png">    </p:cNvPr>
          <p:cNvPicPr>
            <a:picLocks noChangeAspect="1"/>
          </p:cNvPicPr>
          <p:nvPr/>
        </p:nvPicPr>
        <p:blipFill>
          <a:blip r:embed="rId4"/>
          <a:srcRect l="0" r="0" t="0" b="0"/>
          <a:stretch/>
        </p:blipFill>
        <p:spPr>
          <a:xfrm>
            <a:off x="6687007" y="6858000"/>
            <a:ext cx="495605" cy="495605"/>
          </a:xfrm>
          <a:prstGeom prst="rect">
            <a:avLst/>
          </a:prstGeom>
        </p:spPr>
      </p:pic>
      <p:sp>
        <p:nvSpPr>
          <p:cNvPr id="13" name="Shape 6"/>
          <p:cNvSpPr/>
          <p:nvPr/>
        </p:nvSpPr>
        <p:spPr>
          <a:xfrm>
            <a:off x="8353044" y="6858000"/>
            <a:ext cx="514807" cy="514807"/>
          </a:xfrm>
          <a:prstGeom prst="ellipse">
            <a:avLst/>
          </a:prstGeom>
          <a:noFill/>
          <a:ln w="38100">
            <a:solidFill>
              <a:srgbClr val="FFFFFF">
                <a:alpha val="60000"/>
              </a:srgbClr>
            </a:solidFill>
            <a:prstDash val="solid"/>
          </a:ln>
        </p:spPr>
      </p:sp>
      <p:sp>
        <p:nvSpPr>
          <p:cNvPr id="14" name="Shape 7"/>
          <p:cNvSpPr/>
          <p:nvPr/>
        </p:nvSpPr>
        <p:spPr>
          <a:xfrm>
            <a:off x="10030054" y="6858000"/>
            <a:ext cx="514807" cy="514807"/>
          </a:xfrm>
          <a:prstGeom prst="ellipse">
            <a:avLst/>
          </a:prstGeom>
          <a:noFill/>
          <a:ln w="38100">
            <a:solidFill>
              <a:srgbClr val="FFFFFF">
                <a:alpha val="60000"/>
              </a:srgbClr>
            </a:solidFill>
            <a:prstDash val="solid"/>
          </a:ln>
        </p:spPr>
      </p:sp>
      <p:sp>
        <p:nvSpPr>
          <p:cNvPr id="15" name="Text 8"/>
          <p:cNvSpPr txBox="1"/>
          <p:nvPr/>
        </p:nvSpPr>
        <p:spPr>
          <a:xfrm>
            <a:off x="1333195" y="7619695"/>
            <a:ext cx="1143000" cy="295351"/>
          </a:xfrm>
          <a:prstGeom prst="rect">
            <a:avLst/>
          </a:prstGeom>
          <a:noFill/>
          <a:ln/>
        </p:spPr>
        <p:txBody>
          <a:bodyPr wrap="none" lIns="0" tIns="0" rIns="0" bIns="0" rtlCol="0" anchor="ctr"/>
          <a:lstStyle/>
          <a:p>
            <a:pPr algn="ctr" indent="0" marL="0">
              <a:buNone/>
            </a:pPr>
            <a:r>
              <a:rPr lang="en-US" sz="1950" b="1" dirty="0">
                <a:solidFill>
                  <a:srgbClr val="B8C7DE"/>
                </a:solidFill>
                <a:latin typeface="Pretendard" pitchFamily="34" charset="0"/>
                <a:ea typeface="Pretendard" pitchFamily="34" charset="-122"/>
                <a:cs typeface="Pretendard" pitchFamily="34" charset="-120"/>
              </a:rPr>
              <a:t>정책</a:t>
            </a:r>
            <a:endParaRPr lang="en-US" sz="1950" dirty="0"/>
          </a:p>
        </p:txBody>
      </p:sp>
      <p:sp>
        <p:nvSpPr>
          <p:cNvPr id="16" name="Text 9"/>
          <p:cNvSpPr txBox="1"/>
          <p:nvPr/>
        </p:nvSpPr>
        <p:spPr>
          <a:xfrm>
            <a:off x="3010205" y="7619695"/>
            <a:ext cx="1143000" cy="295351"/>
          </a:xfrm>
          <a:prstGeom prst="rect">
            <a:avLst/>
          </a:prstGeom>
          <a:noFill/>
          <a:ln/>
        </p:spPr>
        <p:txBody>
          <a:bodyPr wrap="none" lIns="0" tIns="0" rIns="0" bIns="0" rtlCol="0" anchor="ctr"/>
          <a:lstStyle/>
          <a:p>
            <a:pPr algn="ctr" indent="0" marL="0">
              <a:buNone/>
            </a:pPr>
            <a:r>
              <a:rPr lang="en-US" sz="1950" b="1" dirty="0">
                <a:solidFill>
                  <a:srgbClr val="B8C7DE"/>
                </a:solidFill>
                <a:latin typeface="Pretendard" pitchFamily="34" charset="0"/>
                <a:ea typeface="Pretendard" pitchFamily="34" charset="-122"/>
                <a:cs typeface="Pretendard" pitchFamily="34" charset="-120"/>
              </a:rPr>
              <a:t>사업화</a:t>
            </a:r>
            <a:endParaRPr lang="en-US" sz="1950" dirty="0"/>
          </a:p>
        </p:txBody>
      </p:sp>
      <p:sp>
        <p:nvSpPr>
          <p:cNvPr id="17" name="Text 10"/>
          <p:cNvSpPr txBox="1"/>
          <p:nvPr/>
        </p:nvSpPr>
        <p:spPr>
          <a:xfrm>
            <a:off x="4686300" y="7619695"/>
            <a:ext cx="1143000" cy="295351"/>
          </a:xfrm>
          <a:prstGeom prst="rect">
            <a:avLst/>
          </a:prstGeom>
          <a:noFill/>
          <a:ln/>
        </p:spPr>
        <p:txBody>
          <a:bodyPr wrap="none" lIns="0" tIns="0" rIns="0" bIns="0" rtlCol="0" anchor="ctr"/>
          <a:lstStyle/>
          <a:p>
            <a:pPr algn="ctr" indent="0" marL="0">
              <a:buNone/>
            </a:pPr>
            <a:r>
              <a:rPr lang="en-US" sz="1950" b="1" dirty="0">
                <a:solidFill>
                  <a:srgbClr val="B8C7DE"/>
                </a:solidFill>
                <a:latin typeface="Pretendard" pitchFamily="34" charset="0"/>
                <a:ea typeface="Pretendard" pitchFamily="34" charset="-122"/>
                <a:cs typeface="Pretendard" pitchFamily="34" charset="-120"/>
              </a:rPr>
              <a:t>인허가</a:t>
            </a:r>
            <a:endParaRPr lang="en-US" sz="1950" dirty="0"/>
          </a:p>
        </p:txBody>
      </p:sp>
      <p:sp>
        <p:nvSpPr>
          <p:cNvPr id="18" name="Text 11"/>
          <p:cNvSpPr txBox="1"/>
          <p:nvPr/>
        </p:nvSpPr>
        <p:spPr>
          <a:xfrm>
            <a:off x="6362395" y="7619695"/>
            <a:ext cx="1143000" cy="295351"/>
          </a:xfrm>
          <a:prstGeom prst="rect">
            <a:avLst/>
          </a:prstGeom>
          <a:noFill/>
          <a:ln/>
        </p:spPr>
        <p:txBody>
          <a:bodyPr wrap="none" lIns="0" tIns="0" rIns="0" bIns="0" rtlCol="0" anchor="ctr"/>
          <a:lstStyle/>
          <a:p>
            <a:pPr algn="ctr" indent="0" marL="0">
              <a:buNone/>
            </a:pPr>
            <a:r>
              <a:rPr lang="en-US" sz="1950" b="1" dirty="0">
                <a:solidFill>
                  <a:srgbClr val="FFFFFF"/>
                </a:solidFill>
                <a:latin typeface="Pretendard" pitchFamily="34" charset="0"/>
                <a:ea typeface="Pretendard" pitchFamily="34" charset="-122"/>
                <a:cs typeface="Pretendard" pitchFamily="34" charset="-120"/>
              </a:rPr>
              <a:t>건설</a:t>
            </a:r>
            <a:endParaRPr lang="en-US" sz="1950" dirty="0"/>
          </a:p>
        </p:txBody>
      </p:sp>
      <p:sp>
        <p:nvSpPr>
          <p:cNvPr id="19" name="Text 12"/>
          <p:cNvSpPr txBox="1"/>
          <p:nvPr/>
        </p:nvSpPr>
        <p:spPr>
          <a:xfrm>
            <a:off x="8039405" y="7619695"/>
            <a:ext cx="1143000" cy="295351"/>
          </a:xfrm>
          <a:prstGeom prst="rect">
            <a:avLst/>
          </a:prstGeom>
          <a:noFill/>
          <a:ln/>
        </p:spPr>
        <p:txBody>
          <a:bodyPr wrap="none" lIns="0" tIns="0" rIns="0" bIns="0" rtlCol="0" anchor="ctr"/>
          <a:lstStyle/>
          <a:p>
            <a:pPr algn="ctr" indent="0" marL="0">
              <a:buNone/>
            </a:pPr>
            <a:r>
              <a:rPr lang="en-US" sz="1950" b="1" dirty="0">
                <a:solidFill>
                  <a:srgbClr val="B8C7DE"/>
                </a:solidFill>
                <a:latin typeface="Pretendard" pitchFamily="34" charset="0"/>
                <a:ea typeface="Pretendard" pitchFamily="34" charset="-122"/>
                <a:cs typeface="Pretendard" pitchFamily="34" charset="-120"/>
              </a:rPr>
              <a:t>공급</a:t>
            </a:r>
            <a:endParaRPr lang="en-US" sz="1950" dirty="0"/>
          </a:p>
        </p:txBody>
      </p:sp>
      <p:sp>
        <p:nvSpPr>
          <p:cNvPr id="20" name="Text 13"/>
          <p:cNvSpPr txBox="1"/>
          <p:nvPr/>
        </p:nvSpPr>
        <p:spPr>
          <a:xfrm>
            <a:off x="9715500" y="7619695"/>
            <a:ext cx="1143000" cy="295351"/>
          </a:xfrm>
          <a:prstGeom prst="rect">
            <a:avLst/>
          </a:prstGeom>
          <a:noFill/>
          <a:ln/>
        </p:spPr>
        <p:txBody>
          <a:bodyPr wrap="none" lIns="0" tIns="0" rIns="0" bIns="0" rtlCol="0" anchor="ctr"/>
          <a:lstStyle/>
          <a:p>
            <a:pPr algn="ctr" indent="0" marL="0">
              <a:buNone/>
            </a:pPr>
            <a:r>
              <a:rPr lang="en-US" sz="1950" b="1" dirty="0">
                <a:solidFill>
                  <a:srgbClr val="B8C7DE"/>
                </a:solidFill>
                <a:latin typeface="Pretendard" pitchFamily="34" charset="0"/>
                <a:ea typeface="Pretendard" pitchFamily="34" charset="-122"/>
                <a:cs typeface="Pretendard" pitchFamily="34" charset="-120"/>
              </a:rPr>
              <a:t>입주</a:t>
            </a:r>
            <a:endParaRPr lang="en-US" sz="1950" dirty="0"/>
          </a:p>
        </p:txBody>
      </p:sp>
      <p:sp>
        <p:nvSpPr>
          <p:cNvPr id="21" name="Text 14"/>
          <p:cNvSpPr txBox="1"/>
          <p:nvPr/>
        </p:nvSpPr>
        <p:spPr>
          <a:xfrm>
            <a:off x="1333195" y="8953805"/>
            <a:ext cx="7620610"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팀 </a:t>
            </a:r>
            <a:pPr algn="l" indent="0" marL="0">
              <a:buNone/>
            </a:pPr>
            <a:r>
              <a:rPr lang="en-US" sz="2550" b="1" dirty="0">
                <a:solidFill>
                  <a:srgbClr val="12B5A6"/>
                </a:solidFill>
                <a:latin typeface="Pretendard" pitchFamily="34" charset="0"/>
                <a:ea typeface="Pretendard" pitchFamily="34" charset="-122"/>
                <a:cs typeface="Pretendard" pitchFamily="34" charset="-120"/>
              </a:rPr>
              <a:t>전파 도파민</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3" name="Shape 0"/>
          <p:cNvSpPr/>
          <p:nvPr/>
        </p:nvSpPr>
        <p:spPr>
          <a:xfrm>
            <a:off x="1143000" y="3333902"/>
            <a:ext cx="4572000" cy="3810305"/>
          </a:xfrm>
          <a:prstGeom prst="roundRect">
            <a:avLst>
              <a:gd name="adj" fmla="val 4992"/>
            </a:avLst>
          </a:prstGeom>
          <a:solidFill>
            <a:srgbClr val="0A1F44"/>
          </a:solidFill>
          <a:ln w="12700">
            <a:solidFill>
              <a:srgbClr val="FFFFFF">
                <a:alpha val="0"/>
              </a:srgbClr>
            </a:solidFill>
            <a:prstDash val="solid"/>
          </a:ln>
        </p:spPr>
      </p:sp>
      <p:sp>
        <p:nvSpPr>
          <p:cNvPr id="4" name="Shape 1"/>
          <p:cNvSpPr/>
          <p:nvPr/>
        </p:nvSpPr>
        <p:spPr>
          <a:xfrm>
            <a:off x="6858000" y="3333902"/>
            <a:ext cx="4610405" cy="3847795"/>
          </a:xfrm>
          <a:prstGeom prst="roundRect">
            <a:avLst>
              <a:gd name="adj" fmla="val 4943"/>
            </a:avLst>
          </a:prstGeom>
          <a:solidFill>
            <a:srgbClr val="FFFFFF"/>
          </a:solidFill>
          <a:ln w="25400">
            <a:solidFill>
              <a:srgbClr val="D5DEEA"/>
            </a:solidFill>
            <a:prstDash val="solid"/>
          </a:ln>
        </p:spPr>
      </p:sp>
      <p:sp>
        <p:nvSpPr>
          <p:cNvPr id="5" name="Shape 2"/>
          <p:cNvSpPr/>
          <p:nvPr/>
        </p:nvSpPr>
        <p:spPr>
          <a:xfrm>
            <a:off x="12573000" y="3333902"/>
            <a:ext cx="4629607" cy="3866998"/>
          </a:xfrm>
          <a:prstGeom prst="roundRect">
            <a:avLst>
              <a:gd name="adj" fmla="val 4918"/>
            </a:avLst>
          </a:prstGeom>
          <a:solidFill>
            <a:srgbClr val="FFFFFF"/>
          </a:solidFill>
          <a:ln w="38100">
            <a:solidFill>
              <a:srgbClr val="9FB0C8"/>
            </a:solidFill>
            <a:prstDash val="solid"/>
          </a:ln>
        </p:spPr>
      </p:sp>
      <p:sp>
        <p:nvSpPr>
          <p:cNvPr id="6" name="Text 3"/>
          <p:cNvSpPr txBox="1"/>
          <p:nvPr/>
        </p:nvSpPr>
        <p:spPr>
          <a:xfrm>
            <a:off x="1143000" y="761695"/>
            <a:ext cx="142875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01 문제 제기</a:t>
            </a:r>
            <a:endParaRPr lang="en-US" sz="2100" dirty="0"/>
          </a:p>
        </p:txBody>
      </p:sp>
      <p:sp>
        <p:nvSpPr>
          <p:cNvPr id="7" name="Text 4"/>
          <p:cNvSpPr txBox="1"/>
          <p:nvPr/>
        </p:nvSpPr>
        <p:spPr>
          <a:xfrm>
            <a:off x="1143000" y="1218895"/>
            <a:ext cx="14287500" cy="724205"/>
          </a:xfrm>
          <a:prstGeom prst="rect">
            <a:avLst/>
          </a:prstGeom>
          <a:noFill/>
          <a:ln/>
        </p:spPr>
        <p:txBody>
          <a:bodyPr wrap="none" lIns="0" tIns="0" rIns="0" bIns="0" rtlCol="0" anchor="ctr"/>
          <a:lstStyle/>
          <a:p>
            <a:pPr algn="l" indent="0" marL="0">
              <a:buNone/>
            </a:pPr>
            <a:r>
              <a:rPr lang="en-US" sz="4800" b="1" spc="-112" kern="0" dirty="0">
                <a:solidFill>
                  <a:srgbClr val="0A1F44"/>
                </a:solidFill>
                <a:latin typeface="Pretendard" pitchFamily="34" charset="0"/>
                <a:ea typeface="Pretendard" pitchFamily="34" charset="-122"/>
                <a:cs typeface="Pretendard" pitchFamily="34" charset="-120"/>
              </a:rPr>
              <a:t>주택공급, 지금 어디까지 왔을까?</a:t>
            </a:r>
            <a:endParaRPr lang="en-US" sz="4800" dirty="0"/>
          </a:p>
        </p:txBody>
      </p:sp>
      <p:sp>
        <p:nvSpPr>
          <p:cNvPr id="8" name="Text 5"/>
          <p:cNvSpPr txBox="1"/>
          <p:nvPr/>
        </p:nvSpPr>
        <p:spPr>
          <a:xfrm>
            <a:off x="1143000" y="2381098"/>
            <a:ext cx="16002000" cy="381305"/>
          </a:xfrm>
          <a:prstGeom prst="rect">
            <a:avLst/>
          </a:prstGeom>
          <a:noFill/>
          <a:ln/>
        </p:spPr>
        <p:txBody>
          <a:bodyPr wrap="none" lIns="0" tIns="0" rIns="0" bIns="0" rtlCol="0" anchor="ctr"/>
          <a:lstStyle/>
          <a:p>
            <a:pPr algn="l" indent="0" marL="0">
              <a:buNone/>
            </a:pPr>
            <a:r>
              <a:rPr lang="en-US" sz="2550" dirty="0">
                <a:solidFill>
                  <a:srgbClr val="5B6B82"/>
                </a:solidFill>
                <a:latin typeface="Pretendard" pitchFamily="34" charset="0"/>
                <a:ea typeface="Pretendard" pitchFamily="34" charset="-122"/>
                <a:cs typeface="Pretendard" pitchFamily="34" charset="-120"/>
              </a:rPr>
              <a:t>공급계획은 발표되지만, </a:t>
            </a:r>
            <a:pPr algn="l" indent="0" marL="0">
              <a:buNone/>
            </a:pPr>
            <a:r>
              <a:rPr lang="en-US" sz="2550" b="1" dirty="0">
                <a:solidFill>
                  <a:srgbClr val="1F6FEB"/>
                </a:solidFill>
                <a:latin typeface="Pretendard" pitchFamily="34" charset="0"/>
                <a:ea typeface="Pretendard" pitchFamily="34" charset="-122"/>
                <a:cs typeface="Pretendard" pitchFamily="34" charset="-120"/>
              </a:rPr>
              <a:t>실제 진행 상황</a:t>
            </a:r>
            <a:pPr algn="l" indent="0" marL="0">
              <a:buNone/>
            </a:pPr>
            <a:r>
              <a:rPr lang="en-US" sz="2550" dirty="0">
                <a:solidFill>
                  <a:srgbClr val="5B6B82"/>
                </a:solidFill>
                <a:latin typeface="Pretendard" pitchFamily="34" charset="0"/>
                <a:ea typeface="Pretendard" pitchFamily="34" charset="-122"/>
                <a:cs typeface="Pretendard" pitchFamily="34" charset="-120"/>
              </a:rPr>
              <a:t>을 한눈에 파악하기는 어렵습니다.</a:t>
            </a:r>
            <a:endParaRPr lang="en-US" sz="2550" dirty="0"/>
          </a:p>
        </p:txBody>
      </p:sp>
      <p:sp>
        <p:nvSpPr>
          <p:cNvPr id="9" name="Text 6"/>
          <p:cNvSpPr txBox="1"/>
          <p:nvPr/>
        </p:nvSpPr>
        <p:spPr>
          <a:xfrm>
            <a:off x="1524305" y="3666744"/>
            <a:ext cx="3810305" cy="295351"/>
          </a:xfrm>
          <a:prstGeom prst="rect">
            <a:avLst/>
          </a:prstGeom>
          <a:noFill/>
          <a:ln/>
        </p:spPr>
        <p:txBody>
          <a:bodyPr wrap="none" lIns="0" tIns="0" rIns="0" bIns="0" rtlCol="0" anchor="ctr"/>
          <a:lstStyle/>
          <a:p>
            <a:pPr algn="l" indent="0" marL="0">
              <a:buNone/>
            </a:pPr>
            <a:r>
              <a:rPr lang="en-US" sz="1950" b="1" dirty="0">
                <a:solidFill>
                  <a:srgbClr val="12B5A6"/>
                </a:solidFill>
                <a:latin typeface="Pretendard" pitchFamily="34" charset="0"/>
                <a:ea typeface="Pretendard" pitchFamily="34" charset="-122"/>
                <a:cs typeface="Pretendard" pitchFamily="34" charset="-120"/>
              </a:rPr>
              <a:t>정책 발표</a:t>
            </a:r>
            <a:endParaRPr lang="en-US" sz="1950" dirty="0"/>
          </a:p>
        </p:txBody>
      </p:sp>
      <p:sp>
        <p:nvSpPr>
          <p:cNvPr id="10" name="Text 7"/>
          <p:cNvSpPr txBox="1"/>
          <p:nvPr/>
        </p:nvSpPr>
        <p:spPr>
          <a:xfrm>
            <a:off x="1524305" y="4153205"/>
            <a:ext cx="3810305" cy="1095451"/>
          </a:xfrm>
          <a:prstGeom prst="rect">
            <a:avLst/>
          </a:prstGeom>
          <a:noFill/>
          <a:ln/>
        </p:spPr>
        <p:txBody>
          <a:bodyPr wrap="square" lIns="0" tIns="0" rIns="0" bIns="0" rtlCol="0" anchor="t"/>
          <a:lstStyle/>
          <a:p>
            <a:pPr algn="l" indent="0" marL="0">
              <a:lnSpc>
                <a:spcPct val="130000"/>
              </a:lnSpc>
              <a:buNone/>
            </a:pPr>
            <a:r>
              <a:rPr lang="en-US" sz="3300" b="1" dirty="0">
                <a:solidFill>
                  <a:srgbClr val="FFFFFF"/>
                </a:solidFill>
                <a:latin typeface="Pretendard" pitchFamily="34" charset="0"/>
                <a:ea typeface="Pretendard" pitchFamily="34" charset="-122"/>
                <a:cs typeface="Pretendard" pitchFamily="34" charset="-120"/>
              </a:rPr>
              <a:t>"수도권</a:t>
            </a:r>
            <a:pPr algn="l" indent="0" marL="0">
              <a:lnSpc>
                <a:spcPct val="130000"/>
              </a:lnSpc>
              <a:buNone/>
            </a:pPr>
            <a:endParaRPr lang="en-US" sz="3300" dirty="0"/>
          </a:p>
          <a:p>
            <a:pPr algn="l" indent="0" marL="0">
              <a:lnSpc>
                <a:spcPct val="130000"/>
              </a:lnSpc>
              <a:buNone/>
            </a:pPr>
            <a:r>
              <a:rPr lang="en-US" sz="3300" b="1" dirty="0">
                <a:solidFill>
                  <a:srgbClr val="FFFFFF"/>
                </a:solidFill>
                <a:latin typeface="Pretendard" pitchFamily="34" charset="0"/>
                <a:ea typeface="Pretendard" pitchFamily="34" charset="-122"/>
                <a:cs typeface="Pretendard" pitchFamily="34" charset="-120"/>
              </a:rPr>
              <a:t>○○만 호 공급"</a:t>
            </a:r>
            <a:endParaRPr lang="en-US" sz="3300" dirty="0"/>
          </a:p>
        </p:txBody>
      </p:sp>
      <p:sp>
        <p:nvSpPr>
          <p:cNvPr id="11" name="Text 8"/>
          <p:cNvSpPr txBox="1"/>
          <p:nvPr/>
        </p:nvSpPr>
        <p:spPr>
          <a:xfrm>
            <a:off x="1524305" y="5471770"/>
            <a:ext cx="3810305" cy="780898"/>
          </a:xfrm>
          <a:prstGeom prst="rect">
            <a:avLst/>
          </a:prstGeom>
          <a:noFill/>
          <a:ln/>
        </p:spPr>
        <p:txBody>
          <a:bodyPr wrap="square" lIns="0" tIns="0" rIns="0" bIns="0" rtlCol="0" anchor="t"/>
          <a:lstStyle/>
          <a:p>
            <a:pPr algn="l" indent="0" marL="0">
              <a:lnSpc>
                <a:spcPts val="2925"/>
              </a:lnSpc>
              <a:buNone/>
            </a:pPr>
            <a:r>
              <a:rPr lang="en-US" sz="1950" dirty="0">
                <a:solidFill>
                  <a:srgbClr val="B8C7DE"/>
                </a:solidFill>
                <a:latin typeface="Pretendard" pitchFamily="34" charset="0"/>
                <a:ea typeface="Pretendard" pitchFamily="34" charset="-122"/>
                <a:cs typeface="Pretendard" pitchFamily="34" charset="-120"/>
              </a:rPr>
              <a:t>큰 목표 물량은</a:t>
            </a:r>
            <a:pPr algn="l" indent="0" marL="0">
              <a:lnSpc>
                <a:spcPts val="2925"/>
              </a:lnSpc>
              <a:buNone/>
            </a:pPr>
            <a:endParaRPr lang="en-US" sz="1950" dirty="0"/>
          </a:p>
          <a:p>
            <a:pPr algn="l" indent="0" marL="0">
              <a:lnSpc>
                <a:spcPts val="2925"/>
              </a:lnSpc>
              <a:buNone/>
            </a:pPr>
            <a:r>
              <a:rPr lang="en-US" sz="1950" dirty="0">
                <a:solidFill>
                  <a:srgbClr val="B8C7DE"/>
                </a:solidFill>
                <a:latin typeface="Pretendard" pitchFamily="34" charset="0"/>
                <a:ea typeface="Pretendard" pitchFamily="34" charset="-122"/>
                <a:cs typeface="Pretendard" pitchFamily="34" charset="-120"/>
              </a:rPr>
              <a:t>명확하게 공개됨</a:t>
            </a:r>
            <a:endParaRPr lang="en-US" sz="1950" dirty="0"/>
          </a:p>
        </p:txBody>
      </p:sp>
      <p:sp>
        <p:nvSpPr>
          <p:cNvPr id="12" name="Text 9"/>
          <p:cNvSpPr txBox="1"/>
          <p:nvPr/>
        </p:nvSpPr>
        <p:spPr>
          <a:xfrm>
            <a:off x="7239305" y="3666744"/>
            <a:ext cx="3810305" cy="295351"/>
          </a:xfrm>
          <a:prstGeom prst="rect">
            <a:avLst/>
          </a:prstGeom>
          <a:noFill/>
          <a:ln/>
        </p:spPr>
        <p:txBody>
          <a:bodyPr wrap="none" lIns="0" tIns="0" rIns="0" bIns="0" rtlCol="0" anchor="ctr"/>
          <a:lstStyle/>
          <a:p>
            <a:pPr algn="l" indent="0" marL="0">
              <a:buNone/>
            </a:pPr>
            <a:r>
              <a:rPr lang="en-US" sz="1950" b="1" dirty="0">
                <a:solidFill>
                  <a:srgbClr val="1F6FEB"/>
                </a:solidFill>
                <a:latin typeface="Pretendard" pitchFamily="34" charset="0"/>
                <a:ea typeface="Pretendard" pitchFamily="34" charset="-122"/>
                <a:cs typeface="Pretendard" pitchFamily="34" charset="-120"/>
              </a:rPr>
              <a:t>여러 기관의 정보</a:t>
            </a:r>
            <a:endParaRPr lang="en-US" sz="1950" dirty="0"/>
          </a:p>
        </p:txBody>
      </p:sp>
      <p:sp>
        <p:nvSpPr>
          <p:cNvPr id="13" name="Shape 10"/>
          <p:cNvSpPr/>
          <p:nvPr/>
        </p:nvSpPr>
        <p:spPr>
          <a:xfrm>
            <a:off x="7239305" y="4209898"/>
            <a:ext cx="990295" cy="485546"/>
          </a:xfrm>
          <a:prstGeom prst="roundRect">
            <a:avLst>
              <a:gd name="adj" fmla="val 19586"/>
            </a:avLst>
          </a:prstGeom>
          <a:solidFill>
            <a:srgbClr val="E8F0FE"/>
          </a:solidFill>
          <a:ln w="12700">
            <a:solidFill>
              <a:srgbClr val="FFFFFF">
                <a:alpha val="0"/>
              </a:srgbClr>
            </a:solidFill>
            <a:prstDash val="solid"/>
          </a:ln>
        </p:spPr>
      </p:sp>
      <p:sp>
        <p:nvSpPr>
          <p:cNvPr id="14" name="Text 11"/>
          <p:cNvSpPr txBox="1"/>
          <p:nvPr/>
        </p:nvSpPr>
        <p:spPr>
          <a:xfrm>
            <a:off x="7239305" y="4209898"/>
            <a:ext cx="991210"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국토부</a:t>
            </a:r>
            <a:endParaRPr lang="en-US" sz="1950" dirty="0"/>
          </a:p>
        </p:txBody>
      </p:sp>
      <p:sp>
        <p:nvSpPr>
          <p:cNvPr id="15" name="Shape 12"/>
          <p:cNvSpPr/>
          <p:nvPr/>
        </p:nvSpPr>
        <p:spPr>
          <a:xfrm>
            <a:off x="9952330" y="4209898"/>
            <a:ext cx="705002" cy="485546"/>
          </a:xfrm>
          <a:prstGeom prst="roundRect">
            <a:avLst>
              <a:gd name="adj" fmla="val 19586"/>
            </a:avLst>
          </a:prstGeom>
          <a:solidFill>
            <a:srgbClr val="E0F7F4"/>
          </a:solidFill>
          <a:ln w="12700">
            <a:solidFill>
              <a:srgbClr val="FFFFFF">
                <a:alpha val="0"/>
              </a:srgbClr>
            </a:solidFill>
            <a:prstDash val="solid"/>
          </a:ln>
        </p:spPr>
      </p:sp>
      <p:sp>
        <p:nvSpPr>
          <p:cNvPr id="16" name="Text 13"/>
          <p:cNvSpPr txBox="1"/>
          <p:nvPr/>
        </p:nvSpPr>
        <p:spPr>
          <a:xfrm>
            <a:off x="9952330" y="4209898"/>
            <a:ext cx="705002"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GH</a:t>
            </a:r>
            <a:endParaRPr lang="en-US" sz="1950" dirty="0"/>
          </a:p>
        </p:txBody>
      </p:sp>
      <p:sp>
        <p:nvSpPr>
          <p:cNvPr id="17" name="Shape 14"/>
          <p:cNvSpPr/>
          <p:nvPr/>
        </p:nvSpPr>
        <p:spPr>
          <a:xfrm>
            <a:off x="8357616" y="4828946"/>
            <a:ext cx="1476756" cy="485546"/>
          </a:xfrm>
          <a:prstGeom prst="roundRect">
            <a:avLst>
              <a:gd name="adj" fmla="val 19586"/>
            </a:avLst>
          </a:prstGeom>
          <a:solidFill>
            <a:srgbClr val="E0F7F4"/>
          </a:solidFill>
          <a:ln w="12700">
            <a:solidFill>
              <a:srgbClr val="FFFFFF">
                <a:alpha val="0"/>
              </a:srgbClr>
            </a:solidFill>
            <a:prstDash val="solid"/>
          </a:ln>
        </p:spPr>
      </p:sp>
      <p:sp>
        <p:nvSpPr>
          <p:cNvPr id="18" name="Text 15"/>
          <p:cNvSpPr txBox="1"/>
          <p:nvPr/>
        </p:nvSpPr>
        <p:spPr>
          <a:xfrm>
            <a:off x="8357616" y="4828946"/>
            <a:ext cx="1476756"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건축 인허가</a:t>
            </a:r>
            <a:endParaRPr lang="en-US" sz="1950" dirty="0"/>
          </a:p>
        </p:txBody>
      </p:sp>
      <p:sp>
        <p:nvSpPr>
          <p:cNvPr id="19" name="Shape 16"/>
          <p:cNvSpPr/>
          <p:nvPr/>
        </p:nvSpPr>
        <p:spPr>
          <a:xfrm>
            <a:off x="7239305" y="5447995"/>
            <a:ext cx="990295" cy="485546"/>
          </a:xfrm>
          <a:prstGeom prst="roundRect">
            <a:avLst>
              <a:gd name="adj" fmla="val 19586"/>
            </a:avLst>
          </a:prstGeom>
          <a:solidFill>
            <a:srgbClr val="E0F7F4"/>
          </a:solidFill>
          <a:ln w="12700">
            <a:solidFill>
              <a:srgbClr val="FFFFFF">
                <a:alpha val="0"/>
              </a:srgbClr>
            </a:solidFill>
            <a:prstDash val="solid"/>
          </a:ln>
        </p:spPr>
      </p:sp>
      <p:sp>
        <p:nvSpPr>
          <p:cNvPr id="20" name="Text 17"/>
          <p:cNvSpPr txBox="1"/>
          <p:nvPr/>
        </p:nvSpPr>
        <p:spPr>
          <a:xfrm>
            <a:off x="7239305" y="5447995"/>
            <a:ext cx="991210"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지자체</a:t>
            </a:r>
            <a:endParaRPr lang="en-US" sz="1950" dirty="0"/>
          </a:p>
        </p:txBody>
      </p:sp>
      <p:sp>
        <p:nvSpPr>
          <p:cNvPr id="21" name="Text 18"/>
          <p:cNvSpPr txBox="1"/>
          <p:nvPr/>
        </p:nvSpPr>
        <p:spPr>
          <a:xfrm>
            <a:off x="7239305" y="6181344"/>
            <a:ext cx="3810305" cy="295351"/>
          </a:xfrm>
          <a:prstGeom prst="rect">
            <a:avLst/>
          </a:prstGeom>
          <a:noFill/>
          <a:ln/>
        </p:spPr>
        <p:txBody>
          <a:bodyPr wrap="none" lIns="0" tIns="0" rIns="0" bIns="0" rtlCol="0" anchor="ctr"/>
          <a:lstStyle/>
          <a:p>
            <a:pPr algn="l" indent="0" marL="0">
              <a:buNone/>
            </a:pPr>
            <a:r>
              <a:rPr lang="en-US" sz="1950" dirty="0">
                <a:solidFill>
                  <a:srgbClr val="5B6B82"/>
                </a:solidFill>
                <a:latin typeface="Pretendard" pitchFamily="34" charset="0"/>
                <a:ea typeface="Pretendard" pitchFamily="34" charset="-122"/>
                <a:cs typeface="Pretendard" pitchFamily="34" charset="-120"/>
              </a:rPr>
              <a:t>기준도, 형식도 제각각</a:t>
            </a:r>
            <a:endParaRPr lang="en-US" sz="1950" dirty="0"/>
          </a:p>
        </p:txBody>
      </p:sp>
      <p:sp>
        <p:nvSpPr>
          <p:cNvPr id="22" name="Shape 19"/>
          <p:cNvSpPr/>
          <p:nvPr/>
        </p:nvSpPr>
        <p:spPr>
          <a:xfrm rot="21420000">
            <a:off x="8357616" y="4209898"/>
            <a:ext cx="657454" cy="485546"/>
          </a:xfrm>
          <a:prstGeom prst="roundRect">
            <a:avLst>
              <a:gd name="adj" fmla="val 19586"/>
            </a:avLst>
          </a:prstGeom>
          <a:solidFill>
            <a:srgbClr val="E0F7F4"/>
          </a:solidFill>
          <a:ln w="12700">
            <a:solidFill>
              <a:srgbClr val="FFFFFF">
                <a:alpha val="0"/>
              </a:srgbClr>
            </a:solidFill>
            <a:prstDash val="solid"/>
          </a:ln>
        </p:spPr>
      </p:sp>
      <p:sp>
        <p:nvSpPr>
          <p:cNvPr id="23" name="Text 20"/>
          <p:cNvSpPr txBox="1"/>
          <p:nvPr/>
        </p:nvSpPr>
        <p:spPr>
          <a:xfrm rot="21420000">
            <a:off x="8357616" y="4209898"/>
            <a:ext cx="657454"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LH</a:t>
            </a:r>
            <a:endParaRPr lang="en-US" sz="1950" dirty="0"/>
          </a:p>
        </p:txBody>
      </p:sp>
      <p:sp>
        <p:nvSpPr>
          <p:cNvPr id="24" name="Shape 21"/>
          <p:cNvSpPr/>
          <p:nvPr/>
        </p:nvSpPr>
        <p:spPr>
          <a:xfrm rot="120000">
            <a:off x="9144914" y="4209898"/>
            <a:ext cx="676656" cy="485546"/>
          </a:xfrm>
          <a:prstGeom prst="roundRect">
            <a:avLst>
              <a:gd name="adj" fmla="val 19586"/>
            </a:avLst>
          </a:prstGeom>
          <a:solidFill>
            <a:srgbClr val="E8F0FE"/>
          </a:solidFill>
          <a:ln w="12700">
            <a:solidFill>
              <a:srgbClr val="FFFFFF">
                <a:alpha val="0"/>
              </a:srgbClr>
            </a:solidFill>
            <a:prstDash val="solid"/>
          </a:ln>
        </p:spPr>
      </p:sp>
      <p:sp>
        <p:nvSpPr>
          <p:cNvPr id="25" name="Text 22"/>
          <p:cNvSpPr txBox="1"/>
          <p:nvPr/>
        </p:nvSpPr>
        <p:spPr>
          <a:xfrm rot="120000">
            <a:off x="9144914" y="4209898"/>
            <a:ext cx="676656"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SH</a:t>
            </a:r>
            <a:endParaRPr lang="en-US" sz="1950" dirty="0"/>
          </a:p>
        </p:txBody>
      </p:sp>
      <p:sp>
        <p:nvSpPr>
          <p:cNvPr id="26" name="Shape 23"/>
          <p:cNvSpPr/>
          <p:nvPr/>
        </p:nvSpPr>
        <p:spPr>
          <a:xfrm rot="21480000">
            <a:off x="7239305" y="4828946"/>
            <a:ext cx="990295" cy="485546"/>
          </a:xfrm>
          <a:prstGeom prst="roundRect">
            <a:avLst>
              <a:gd name="adj" fmla="val 19586"/>
            </a:avLst>
          </a:prstGeom>
          <a:solidFill>
            <a:srgbClr val="E8F0FE"/>
          </a:solidFill>
          <a:ln w="12700">
            <a:solidFill>
              <a:srgbClr val="FFFFFF">
                <a:alpha val="0"/>
              </a:srgbClr>
            </a:solidFill>
            <a:prstDash val="solid"/>
          </a:ln>
        </p:spPr>
      </p:sp>
      <p:sp>
        <p:nvSpPr>
          <p:cNvPr id="27" name="Text 24"/>
          <p:cNvSpPr txBox="1"/>
          <p:nvPr/>
        </p:nvSpPr>
        <p:spPr>
          <a:xfrm rot="21480000">
            <a:off x="7239305" y="4828946"/>
            <a:ext cx="991210"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청약홈</a:t>
            </a:r>
            <a:endParaRPr lang="en-US" sz="1950" dirty="0"/>
          </a:p>
        </p:txBody>
      </p:sp>
      <p:sp>
        <p:nvSpPr>
          <p:cNvPr id="28" name="Shape 25"/>
          <p:cNvSpPr/>
          <p:nvPr/>
        </p:nvSpPr>
        <p:spPr>
          <a:xfrm rot="180000">
            <a:off x="9962388" y="4828946"/>
            <a:ext cx="771754" cy="485546"/>
          </a:xfrm>
          <a:prstGeom prst="roundRect">
            <a:avLst>
              <a:gd name="adj" fmla="val 19586"/>
            </a:avLst>
          </a:prstGeom>
          <a:solidFill>
            <a:srgbClr val="E8F0FE"/>
          </a:solidFill>
          <a:ln w="12700">
            <a:solidFill>
              <a:srgbClr val="FFFFFF">
                <a:alpha val="0"/>
              </a:srgbClr>
            </a:solidFill>
            <a:prstDash val="solid"/>
          </a:ln>
        </p:spPr>
      </p:sp>
      <p:sp>
        <p:nvSpPr>
          <p:cNvPr id="29" name="Text 26"/>
          <p:cNvSpPr txBox="1"/>
          <p:nvPr/>
        </p:nvSpPr>
        <p:spPr>
          <a:xfrm rot="180000">
            <a:off x="9962388" y="4828946"/>
            <a:ext cx="771754" cy="486461"/>
          </a:xfrm>
          <a:prstGeom prst="rect">
            <a:avLst/>
          </a:prstGeom>
          <a:solidFill>
            <a:srgbClr val="FFFFFF">
              <a:alpha val="0"/>
            </a:srgbClr>
          </a:solidFill>
          <a:ln>
            <a:solidFill>
              <a:srgbClr val="FFFFFF">
                <a:alpha val="0"/>
              </a:srgbClr>
            </a:solidFill>
          </a:ln>
        </p:spPr>
        <p:txBody>
          <a:bodyPr wrap="none" lIns="177800" tIns="101600" rIns="177800" bIns="1016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통계</a:t>
            </a:r>
            <a:endParaRPr lang="en-US" sz="1950" dirty="0"/>
          </a:p>
        </p:txBody>
      </p:sp>
      <p:sp>
        <p:nvSpPr>
          <p:cNvPr id="30" name="Text 27"/>
          <p:cNvSpPr txBox="1"/>
          <p:nvPr/>
        </p:nvSpPr>
        <p:spPr>
          <a:xfrm>
            <a:off x="12954305" y="3666744"/>
            <a:ext cx="3810305" cy="295351"/>
          </a:xfrm>
          <a:prstGeom prst="rect">
            <a:avLst/>
          </a:prstGeom>
          <a:noFill/>
          <a:ln/>
        </p:spPr>
        <p:txBody>
          <a:bodyPr wrap="none" lIns="0" tIns="0" rIns="0" bIns="0" rtlCol="0" anchor="ctr"/>
          <a:lstStyle/>
          <a:p>
            <a:pPr algn="l" indent="0" marL="0">
              <a:buNone/>
            </a:pPr>
            <a:r>
              <a:rPr lang="en-US" sz="1950" b="1" dirty="0">
                <a:solidFill>
                  <a:srgbClr val="E8A317"/>
                </a:solidFill>
                <a:latin typeface="Pretendard" pitchFamily="34" charset="0"/>
                <a:ea typeface="Pretendard" pitchFamily="34" charset="-122"/>
                <a:cs typeface="Pretendard" pitchFamily="34" charset="-120"/>
              </a:rPr>
              <a:t>실제 사업 진행</a:t>
            </a:r>
            <a:endParaRPr lang="en-US" sz="1950" dirty="0"/>
          </a:p>
        </p:txBody>
      </p:sp>
      <p:sp>
        <p:nvSpPr>
          <p:cNvPr id="31" name="Text 28"/>
          <p:cNvSpPr txBox="1"/>
          <p:nvPr/>
        </p:nvSpPr>
        <p:spPr>
          <a:xfrm>
            <a:off x="12954305" y="4000500"/>
            <a:ext cx="3810305" cy="1257300"/>
          </a:xfrm>
          <a:prstGeom prst="rect">
            <a:avLst/>
          </a:prstGeom>
          <a:noFill/>
          <a:ln/>
        </p:spPr>
        <p:txBody>
          <a:bodyPr wrap="none" lIns="0" tIns="0" rIns="0" bIns="0" rtlCol="0" anchor="ctr"/>
          <a:lstStyle/>
          <a:p>
            <a:pPr algn="l" indent="0" marL="0">
              <a:buNone/>
            </a:pPr>
            <a:r>
              <a:rPr lang="en-US" sz="9000" b="1" dirty="0">
                <a:solidFill>
                  <a:srgbClr val="C9D4E3"/>
                </a:solidFill>
                <a:latin typeface="Pretendard" pitchFamily="34" charset="0"/>
                <a:ea typeface="Pretendard" pitchFamily="34" charset="-122"/>
                <a:cs typeface="Pretendard" pitchFamily="34" charset="-120"/>
              </a:rPr>
              <a:t>?</a:t>
            </a:r>
            <a:endParaRPr lang="en-US" sz="9000" dirty="0"/>
          </a:p>
        </p:txBody>
      </p:sp>
      <p:sp>
        <p:nvSpPr>
          <p:cNvPr id="32" name="Text 29"/>
          <p:cNvSpPr txBox="1"/>
          <p:nvPr/>
        </p:nvSpPr>
        <p:spPr>
          <a:xfrm>
            <a:off x="12954305" y="5324551"/>
            <a:ext cx="3810305" cy="828446"/>
          </a:xfrm>
          <a:prstGeom prst="rect">
            <a:avLst/>
          </a:prstGeom>
          <a:noFill/>
          <a:ln/>
        </p:spPr>
        <p:txBody>
          <a:bodyPr wrap="square" lIns="0" tIns="0" rIns="0" bIns="0" rtlCol="0" anchor="t"/>
          <a:lstStyle/>
          <a:p>
            <a:pPr algn="l" indent="0" marL="0">
              <a:lnSpc>
                <a:spcPts val="3150"/>
              </a:lnSpc>
              <a:buNone/>
            </a:pPr>
            <a:r>
              <a:rPr lang="en-US" sz="2250" b="1" dirty="0">
                <a:solidFill>
                  <a:srgbClr val="0A1F44"/>
                </a:solidFill>
                <a:latin typeface="Pretendard" pitchFamily="34" charset="0"/>
                <a:ea typeface="Pretendard" pitchFamily="34" charset="-122"/>
                <a:cs typeface="Pretendard" pitchFamily="34" charset="-120"/>
              </a:rPr>
              <a:t>착공했나? 분양했나?</a:t>
            </a:r>
            <a:pPr algn="l" indent="0" marL="0">
              <a:lnSpc>
                <a:spcPts val="3150"/>
              </a:lnSpc>
              <a:buNone/>
            </a:pPr>
            <a:endParaRPr lang="en-US" sz="2250" dirty="0"/>
          </a:p>
          <a:p>
            <a:pPr algn="l" indent="0" marL="0">
              <a:lnSpc>
                <a:spcPts val="3150"/>
              </a:lnSpc>
              <a:buNone/>
            </a:pPr>
            <a:r>
              <a:rPr lang="en-US" sz="2250" b="1" dirty="0">
                <a:solidFill>
                  <a:srgbClr val="0A1F44"/>
                </a:solidFill>
                <a:latin typeface="Pretendard" pitchFamily="34" charset="0"/>
                <a:ea typeface="Pretendard" pitchFamily="34" charset="-122"/>
                <a:cs typeface="Pretendard" pitchFamily="34" charset="-120"/>
              </a:rPr>
              <a:t>언제 입주하나?</a:t>
            </a:r>
            <a:endParaRPr lang="en-US" sz="2250" dirty="0"/>
          </a:p>
        </p:txBody>
      </p:sp>
      <p:sp>
        <p:nvSpPr>
          <p:cNvPr id="33" name="Text 30"/>
          <p:cNvSpPr txBox="1"/>
          <p:nvPr/>
        </p:nvSpPr>
        <p:spPr>
          <a:xfrm>
            <a:off x="5829300" y="4953305"/>
            <a:ext cx="914400" cy="553212"/>
          </a:xfrm>
          <a:prstGeom prst="rect">
            <a:avLst/>
          </a:prstGeom>
          <a:noFill/>
          <a:ln/>
        </p:spPr>
        <p:txBody>
          <a:bodyPr wrap="none" lIns="0" tIns="0" rIns="0" bIns="0" rtlCol="0" anchor="ctr"/>
          <a:lstStyle/>
          <a:p>
            <a:pPr algn="ctr" indent="0" marL="0">
              <a:buNone/>
            </a:pPr>
            <a:r>
              <a:rPr lang="en-US" sz="3600" b="1" dirty="0">
                <a:solidFill>
                  <a:srgbClr val="9FB0C8"/>
                </a:solidFill>
                <a:latin typeface="Pretendard" pitchFamily="34" charset="0"/>
                <a:ea typeface="Pretendard" pitchFamily="34" charset="-122"/>
                <a:cs typeface="Pretendard" pitchFamily="34" charset="-120"/>
              </a:rPr>
              <a:t>→</a:t>
            </a:r>
            <a:endParaRPr lang="en-US" sz="3600" dirty="0"/>
          </a:p>
        </p:txBody>
      </p:sp>
      <p:sp>
        <p:nvSpPr>
          <p:cNvPr id="34" name="Text 31"/>
          <p:cNvSpPr txBox="1"/>
          <p:nvPr/>
        </p:nvSpPr>
        <p:spPr>
          <a:xfrm>
            <a:off x="11544300" y="4953305"/>
            <a:ext cx="914400" cy="553212"/>
          </a:xfrm>
          <a:prstGeom prst="rect">
            <a:avLst/>
          </a:prstGeom>
          <a:noFill/>
          <a:ln/>
        </p:spPr>
        <p:txBody>
          <a:bodyPr wrap="none" lIns="0" tIns="0" rIns="0" bIns="0" rtlCol="0" anchor="ctr"/>
          <a:lstStyle/>
          <a:p>
            <a:pPr algn="ctr" indent="0" marL="0">
              <a:buNone/>
            </a:pPr>
            <a:r>
              <a:rPr lang="en-US" sz="3600" b="1" dirty="0">
                <a:solidFill>
                  <a:srgbClr val="E8A317"/>
                </a:solidFill>
                <a:latin typeface="Pretendard" pitchFamily="34" charset="0"/>
                <a:ea typeface="Pretendard" pitchFamily="34" charset="-122"/>
                <a:cs typeface="Pretendard" pitchFamily="34" charset="-120"/>
              </a:rPr>
              <a:t>⇢</a:t>
            </a:r>
            <a:endParaRPr lang="en-US" sz="3600" dirty="0"/>
          </a:p>
        </p:txBody>
      </p:sp>
      <p:sp>
        <p:nvSpPr>
          <p:cNvPr id="35" name="Text 32"/>
          <p:cNvSpPr txBox="1"/>
          <p:nvPr/>
        </p:nvSpPr>
        <p:spPr>
          <a:xfrm>
            <a:off x="1143000" y="7619695"/>
            <a:ext cx="7715707" cy="400507"/>
          </a:xfrm>
          <a:prstGeom prst="rect">
            <a:avLst/>
          </a:prstGeom>
          <a:noFill/>
          <a:ln/>
        </p:spPr>
        <p:txBody>
          <a:bodyPr wrap="none" lIns="0" tIns="0" rIns="0" bIns="0" rtlCol="0" anchor="ctr"/>
          <a:lstStyle/>
          <a:p>
            <a:pPr algn="l" indent="0" marL="0">
              <a:buNone/>
            </a:pPr>
            <a:r>
              <a:rPr lang="en-US" sz="2250" b="1" dirty="0">
                <a:solidFill>
                  <a:srgbClr val="1F6FEB"/>
                </a:solidFill>
                <a:latin typeface="Pretendard" pitchFamily="34" charset="0"/>
                <a:ea typeface="Pretendard" pitchFamily="34" charset="-122"/>
                <a:cs typeface="Pretendard" pitchFamily="34" charset="-120"/>
              </a:rPr>
              <a:t>①</a:t>
            </a:r>
            <a:pPr algn="l" indent="0" marL="0">
              <a:buNone/>
            </a:pPr>
            <a:r>
              <a:rPr lang="en-US" sz="2250" dirty="0">
                <a:solidFill>
                  <a:srgbClr val="0A1F44"/>
                </a:solidFill>
                <a:latin typeface="Pretendard" pitchFamily="34" charset="0"/>
                <a:ea typeface="Pretendard" pitchFamily="34" charset="-122"/>
                <a:cs typeface="Pretendard" pitchFamily="34" charset="-120"/>
              </a:rPr>
              <a:t> 정책·사업정보가 여러 기관에 분산</a:t>
            </a:r>
            <a:endParaRPr lang="en-US" sz="2250" dirty="0"/>
          </a:p>
        </p:txBody>
      </p:sp>
      <p:sp>
        <p:nvSpPr>
          <p:cNvPr id="36" name="Text 33"/>
          <p:cNvSpPr txBox="1"/>
          <p:nvPr/>
        </p:nvSpPr>
        <p:spPr>
          <a:xfrm>
            <a:off x="9430207" y="7619695"/>
            <a:ext cx="7715707" cy="400507"/>
          </a:xfrm>
          <a:prstGeom prst="rect">
            <a:avLst/>
          </a:prstGeom>
          <a:noFill/>
          <a:ln/>
        </p:spPr>
        <p:txBody>
          <a:bodyPr wrap="none" lIns="0" tIns="0" rIns="0" bIns="0" rtlCol="0" anchor="ctr"/>
          <a:lstStyle/>
          <a:p>
            <a:pPr algn="l" indent="0" marL="0">
              <a:buNone/>
            </a:pPr>
            <a:r>
              <a:rPr lang="en-US" sz="2250" b="1" dirty="0">
                <a:solidFill>
                  <a:srgbClr val="1F6FEB"/>
                </a:solidFill>
                <a:latin typeface="Pretendard" pitchFamily="34" charset="0"/>
                <a:ea typeface="Pretendard" pitchFamily="34" charset="-122"/>
                <a:cs typeface="Pretendard" pitchFamily="34" charset="-120"/>
              </a:rPr>
              <a:t>②</a:t>
            </a:r>
            <a:pPr algn="l" indent="0" marL="0">
              <a:buNone/>
            </a:pPr>
            <a:r>
              <a:rPr lang="en-US" sz="2250" dirty="0">
                <a:solidFill>
                  <a:srgbClr val="0A1F44"/>
                </a:solidFill>
                <a:latin typeface="Pretendard" pitchFamily="34" charset="0"/>
                <a:ea typeface="Pretendard" pitchFamily="34" charset="-122"/>
                <a:cs typeface="Pretendard" pitchFamily="34" charset="-120"/>
              </a:rPr>
              <a:t> 계획 물량과 실제 진행을 연결해 보기 어려움</a:t>
            </a:r>
            <a:endParaRPr lang="en-US" sz="2250" dirty="0"/>
          </a:p>
        </p:txBody>
      </p:sp>
      <p:sp>
        <p:nvSpPr>
          <p:cNvPr id="37" name="Text 34"/>
          <p:cNvSpPr txBox="1"/>
          <p:nvPr/>
        </p:nvSpPr>
        <p:spPr>
          <a:xfrm>
            <a:off x="1143000" y="8191195"/>
            <a:ext cx="7715707" cy="400507"/>
          </a:xfrm>
          <a:prstGeom prst="rect">
            <a:avLst/>
          </a:prstGeom>
          <a:noFill/>
          <a:ln/>
        </p:spPr>
        <p:txBody>
          <a:bodyPr wrap="none" lIns="0" tIns="0" rIns="0" bIns="0" rtlCol="0" anchor="ctr"/>
          <a:lstStyle/>
          <a:p>
            <a:pPr algn="l" indent="0" marL="0">
              <a:buNone/>
            </a:pPr>
            <a:r>
              <a:rPr lang="en-US" sz="2250" b="1" dirty="0">
                <a:solidFill>
                  <a:srgbClr val="1F6FEB"/>
                </a:solidFill>
                <a:latin typeface="Pretendard" pitchFamily="34" charset="0"/>
                <a:ea typeface="Pretendard" pitchFamily="34" charset="-122"/>
                <a:cs typeface="Pretendard" pitchFamily="34" charset="-120"/>
              </a:rPr>
              <a:t>③</a:t>
            </a:r>
            <a:pPr algn="l" indent="0" marL="0">
              <a:buNone/>
            </a:pPr>
            <a:r>
              <a:rPr lang="en-US" sz="2250" dirty="0">
                <a:solidFill>
                  <a:srgbClr val="0A1F44"/>
                </a:solidFill>
                <a:latin typeface="Pretendard" pitchFamily="34" charset="0"/>
                <a:ea typeface="Pretendard" pitchFamily="34" charset="-122"/>
                <a:cs typeface="Pretendard" pitchFamily="34" charset="-120"/>
              </a:rPr>
              <a:t> 정책 발표부터 입주까지 여러 단계가 존재</a:t>
            </a:r>
            <a:endParaRPr lang="en-US" sz="2250" dirty="0"/>
          </a:p>
        </p:txBody>
      </p:sp>
      <p:sp>
        <p:nvSpPr>
          <p:cNvPr id="38" name="Text 35"/>
          <p:cNvSpPr txBox="1"/>
          <p:nvPr/>
        </p:nvSpPr>
        <p:spPr>
          <a:xfrm>
            <a:off x="9430207" y="8191195"/>
            <a:ext cx="7715707" cy="400507"/>
          </a:xfrm>
          <a:prstGeom prst="rect">
            <a:avLst/>
          </a:prstGeom>
          <a:noFill/>
          <a:ln/>
        </p:spPr>
        <p:txBody>
          <a:bodyPr wrap="none" lIns="0" tIns="0" rIns="0" bIns="0" rtlCol="0" anchor="ctr"/>
          <a:lstStyle/>
          <a:p>
            <a:pPr algn="l" indent="0" marL="0">
              <a:buNone/>
            </a:pPr>
            <a:r>
              <a:rPr lang="en-US" sz="2250" b="1" dirty="0">
                <a:solidFill>
                  <a:srgbClr val="1F6FEB"/>
                </a:solidFill>
                <a:latin typeface="Pretendard" pitchFamily="34" charset="0"/>
                <a:ea typeface="Pretendard" pitchFamily="34" charset="-122"/>
                <a:cs typeface="Pretendard" pitchFamily="34" charset="-120"/>
              </a:rPr>
              <a:t>④</a:t>
            </a:r>
            <a:pPr algn="l" indent="0" marL="0">
              <a:buNone/>
            </a:pPr>
            <a:r>
              <a:rPr lang="en-US" sz="2250" dirty="0">
                <a:solidFill>
                  <a:srgbClr val="0A1F44"/>
                </a:solidFill>
                <a:latin typeface="Pretendard" pitchFamily="34" charset="0"/>
                <a:ea typeface="Pretendard" pitchFamily="34" charset="-122"/>
                <a:cs typeface="Pretendard" pitchFamily="34" charset="-120"/>
              </a:rPr>
              <a:t> 지역·사업마다 정보 공개 수준이 다름</a:t>
            </a:r>
            <a:endParaRPr lang="en-US" sz="2250" dirty="0"/>
          </a:p>
        </p:txBody>
      </p:sp>
      <p:sp>
        <p:nvSpPr>
          <p:cNvPr id="39" name="Text 36"/>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40" name="Text 37"/>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pic>
        <p:nvPicPr>
          <p:cNvPr id="3" name="Image 0" descr="gen-dedup-32dda6cc10c22965c0b164835f684d91.png">    </p:cNvPr>
          <p:cNvPicPr>
            <a:picLocks noChangeAspect="1"/>
          </p:cNvPicPr>
          <p:nvPr/>
        </p:nvPicPr>
        <p:blipFill>
          <a:blip r:embed="rId1"/>
          <a:srcRect l="0" r="0" t="0" b="0"/>
          <a:stretch/>
        </p:blipFill>
        <p:spPr>
          <a:xfrm>
            <a:off x="7715707" y="4953305"/>
            <a:ext cx="2857500" cy="2857500"/>
          </a:xfrm>
          <a:prstGeom prst="rect">
            <a:avLst/>
          </a:prstGeom>
        </p:spPr>
      </p:pic>
      <p:pic>
        <p:nvPicPr>
          <p:cNvPr id="4" name="Image 1" descr="gen-dedup-0a37b1674161c925e0eabdbac279f8d0.png">    </p:cNvPr>
          <p:cNvPicPr>
            <a:picLocks noChangeAspect="1"/>
          </p:cNvPicPr>
          <p:nvPr/>
        </p:nvPicPr>
        <p:blipFill>
          <a:blip r:embed="rId2"/>
          <a:srcRect l="-4" r="-4" t="0" b="0"/>
          <a:stretch/>
        </p:blipFill>
        <p:spPr>
          <a:xfrm>
            <a:off x="1143000" y="3810305"/>
            <a:ext cx="6096305" cy="5238598"/>
          </a:xfrm>
          <a:prstGeom prst="rect">
            <a:avLst/>
          </a:prstGeom>
        </p:spPr>
      </p:pic>
      <p:pic>
        <p:nvPicPr>
          <p:cNvPr id="5" name="Image 2" descr="gen-dedup-59254098b6020ec88861b1f91f740b8e.png">    </p:cNvPr>
          <p:cNvPicPr>
            <a:picLocks noChangeAspect="1"/>
          </p:cNvPicPr>
          <p:nvPr/>
        </p:nvPicPr>
        <p:blipFill>
          <a:blip r:embed="rId3"/>
          <a:srcRect l="-4" r="-4" t="0" b="0"/>
          <a:stretch/>
        </p:blipFill>
        <p:spPr>
          <a:xfrm>
            <a:off x="11048695" y="3810305"/>
            <a:ext cx="6096305" cy="5238598"/>
          </a:xfrm>
          <a:prstGeom prst="rect">
            <a:avLst/>
          </a:prstGeom>
        </p:spPr>
      </p:pic>
      <p:sp>
        <p:nvSpPr>
          <p:cNvPr id="6" name="Text 0"/>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02 프로젝트 목표</a:t>
            </a:r>
            <a:endParaRPr lang="en-US" sz="2100" dirty="0"/>
          </a:p>
        </p:txBody>
      </p:sp>
      <p:sp>
        <p:nvSpPr>
          <p:cNvPr id="7" name="Text 1"/>
          <p:cNvSpPr txBox="1"/>
          <p:nvPr/>
        </p:nvSpPr>
        <p:spPr>
          <a:xfrm>
            <a:off x="1143000" y="1218895"/>
            <a:ext cx="16002000" cy="1429207"/>
          </a:xfrm>
          <a:prstGeom prst="rect">
            <a:avLst/>
          </a:prstGeom>
          <a:noFill/>
          <a:ln/>
        </p:spPr>
        <p:txBody>
          <a:bodyPr wrap="square" lIns="0" tIns="0" rIns="0" bIns="0" rtlCol="0" anchor="t"/>
          <a:lstStyle/>
          <a:p>
            <a:pPr algn="l" indent="0" marL="0">
              <a:lnSpc>
                <a:spcPct val="125000"/>
              </a:lnSpc>
              <a:buNone/>
            </a:pPr>
            <a:r>
              <a:rPr lang="en-US" sz="4500" b="1" spc="-112" kern="0" dirty="0">
                <a:solidFill>
                  <a:srgbClr val="0A1F44"/>
                </a:solidFill>
                <a:latin typeface="Pretendard" pitchFamily="34" charset="0"/>
                <a:ea typeface="Pretendard" pitchFamily="34" charset="-122"/>
                <a:cs typeface="Pretendard" pitchFamily="34" charset="-120"/>
              </a:rPr>
              <a:t>정책과 사업을 연결하고,</a:t>
            </a:r>
            <a:pPr algn="l" indent="0" marL="0">
              <a:lnSpc>
                <a:spcPct val="125000"/>
              </a:lnSpc>
              <a:buNone/>
            </a:pPr>
            <a:endParaRPr lang="en-US" sz="4500" dirty="0"/>
          </a:p>
          <a:p>
            <a:pPr algn="l" indent="0" marL="0">
              <a:lnSpc>
                <a:spcPct val="125000"/>
              </a:lnSpc>
              <a:buNone/>
            </a:pPr>
            <a:r>
              <a:rPr lang="en-US" sz="4500" b="1" spc="-112" kern="0" dirty="0">
                <a:solidFill>
                  <a:srgbClr val="1F6FEB"/>
                </a:solidFill>
                <a:latin typeface="Pretendard" pitchFamily="34" charset="0"/>
                <a:ea typeface="Pretendard" pitchFamily="34" charset="-122"/>
                <a:cs typeface="Pretendard" pitchFamily="34" charset="-120"/>
              </a:rPr>
              <a:t>현재 진행 상황</a:t>
            </a:r>
            <a:pPr algn="l" indent="0" marL="0">
              <a:lnSpc>
                <a:spcPct val="125000"/>
              </a:lnSpc>
              <a:buNone/>
            </a:pPr>
            <a:r>
              <a:rPr lang="en-US" sz="4500" b="1" spc="-112" kern="0" dirty="0">
                <a:solidFill>
                  <a:srgbClr val="0A1F44"/>
                </a:solidFill>
                <a:latin typeface="Pretendard" pitchFamily="34" charset="0"/>
                <a:ea typeface="Pretendard" pitchFamily="34" charset="-122"/>
                <a:cs typeface="Pretendard" pitchFamily="34" charset="-120"/>
              </a:rPr>
              <a:t>을 보여주는 서비스</a:t>
            </a:r>
            <a:endParaRPr lang="en-US" sz="4500" dirty="0"/>
          </a:p>
        </p:txBody>
      </p:sp>
      <p:sp>
        <p:nvSpPr>
          <p:cNvPr id="8" name="Text 2"/>
          <p:cNvSpPr txBox="1"/>
          <p:nvPr/>
        </p:nvSpPr>
        <p:spPr>
          <a:xfrm>
            <a:off x="7905902" y="5715000"/>
            <a:ext cx="2477110" cy="324612"/>
          </a:xfrm>
          <a:prstGeom prst="rect">
            <a:avLst/>
          </a:prstGeom>
          <a:noFill/>
          <a:ln/>
        </p:spPr>
        <p:txBody>
          <a:bodyPr wrap="none" lIns="0" tIns="0" rIns="0" bIns="0" rtlCol="0" anchor="ctr"/>
          <a:lstStyle/>
          <a:p>
            <a:pPr algn="ctr" indent="0" marL="0">
              <a:buNone/>
            </a:pPr>
            <a:r>
              <a:rPr lang="en-US" sz="2100" b="1" dirty="0">
                <a:solidFill>
                  <a:srgbClr val="12B5A6"/>
                </a:solidFill>
                <a:latin typeface="Pretendard" pitchFamily="34" charset="0"/>
                <a:ea typeface="Pretendard" pitchFamily="34" charset="-122"/>
                <a:cs typeface="Pretendard" pitchFamily="34" charset="-120"/>
              </a:rPr>
              <a:t>하나의 화면</a:t>
            </a:r>
            <a:endParaRPr lang="en-US" sz="2100" dirty="0"/>
          </a:p>
        </p:txBody>
      </p:sp>
      <p:sp>
        <p:nvSpPr>
          <p:cNvPr id="9" name="Text 3"/>
          <p:cNvSpPr txBox="1"/>
          <p:nvPr/>
        </p:nvSpPr>
        <p:spPr>
          <a:xfrm>
            <a:off x="7905902" y="6115507"/>
            <a:ext cx="2477110" cy="914400"/>
          </a:xfrm>
          <a:prstGeom prst="rect">
            <a:avLst/>
          </a:prstGeom>
          <a:noFill/>
          <a:ln/>
        </p:spPr>
        <p:txBody>
          <a:bodyPr wrap="square" lIns="0" tIns="0" rIns="0" bIns="0" rtlCol="0" anchor="t"/>
          <a:lstStyle/>
          <a:p>
            <a:pPr algn="ct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주택공급</a:t>
            </a:r>
            <a:pPr algn="ctr" indent="0" marL="0">
              <a:lnSpc>
                <a:spcPct val="120000"/>
              </a:lnSpc>
              <a:buNone/>
            </a:pPr>
            <a:endParaRPr lang="en-US" sz="3000" dirty="0"/>
          </a:p>
          <a:p>
            <a:pPr algn="ctr" indent="0" marL="0">
              <a:lnSpc>
                <a:spcPct val="120000"/>
              </a:lnSpc>
              <a:buNone/>
            </a:pPr>
            <a:r>
              <a:rPr lang="en-US" sz="3000" b="1" dirty="0">
                <a:solidFill>
                  <a:srgbClr val="FFFFFF"/>
                </a:solidFill>
                <a:latin typeface="Pretendard" pitchFamily="34" charset="0"/>
                <a:ea typeface="Pretendard" pitchFamily="34" charset="-122"/>
                <a:cs typeface="Pretendard" pitchFamily="34" charset="-120"/>
              </a:rPr>
              <a:t>상황판</a:t>
            </a:r>
            <a:endParaRPr lang="en-US" sz="3000" dirty="0"/>
          </a:p>
        </p:txBody>
      </p:sp>
      <p:sp>
        <p:nvSpPr>
          <p:cNvPr id="10" name="Text 4"/>
          <p:cNvSpPr txBox="1"/>
          <p:nvPr/>
        </p:nvSpPr>
        <p:spPr>
          <a:xfrm>
            <a:off x="1619402" y="4286707"/>
            <a:ext cx="5334610" cy="295351"/>
          </a:xfrm>
          <a:prstGeom prst="rect">
            <a:avLst/>
          </a:prstGeom>
          <a:noFill/>
          <a:ln/>
        </p:spPr>
        <p:txBody>
          <a:bodyPr wrap="none" lIns="0" tIns="0" rIns="0" bIns="0" rtlCol="0" anchor="ctr"/>
          <a:lstStyle/>
          <a:p>
            <a:pPr algn="l" indent="0" marL="0">
              <a:buNone/>
            </a:pPr>
            <a:r>
              <a:rPr lang="en-US" sz="1950" b="1" dirty="0">
                <a:solidFill>
                  <a:srgbClr val="1F6FEB"/>
                </a:solidFill>
                <a:latin typeface="Pretendard" pitchFamily="34" charset="0"/>
                <a:ea typeface="Pretendard" pitchFamily="34" charset="-122"/>
                <a:cs typeface="Pretendard" pitchFamily="34" charset="-120"/>
              </a:rPr>
              <a:t>관점 1</a:t>
            </a:r>
            <a:endParaRPr lang="en-US" sz="1950" dirty="0"/>
          </a:p>
        </p:txBody>
      </p:sp>
      <p:sp>
        <p:nvSpPr>
          <p:cNvPr id="11" name="Text 5"/>
          <p:cNvSpPr txBox="1"/>
          <p:nvPr/>
        </p:nvSpPr>
        <p:spPr>
          <a:xfrm>
            <a:off x="1619402" y="4638751"/>
            <a:ext cx="5334610" cy="505663"/>
          </a:xfrm>
          <a:prstGeom prst="rect">
            <a:avLst/>
          </a:prstGeom>
          <a:noFill/>
          <a:ln/>
        </p:spPr>
        <p:txBody>
          <a:bodyPr wrap="none" lIns="0" tIns="0" rIns="0" bIns="0" rtlCol="0" anchor="ctr"/>
          <a:lstStyle/>
          <a:p>
            <a:pPr algn="l" indent="0" marL="0">
              <a:buNone/>
            </a:pPr>
            <a:r>
              <a:rPr lang="en-US" sz="3300" b="1" dirty="0">
                <a:solidFill>
                  <a:srgbClr val="0A1F44"/>
                </a:solidFill>
                <a:latin typeface="Pretendard" pitchFamily="34" charset="0"/>
                <a:ea typeface="Pretendard" pitchFamily="34" charset="-122"/>
                <a:cs typeface="Pretendard" pitchFamily="34" charset="-120"/>
              </a:rPr>
              <a:t>정책 담당자</a:t>
            </a:r>
            <a:endParaRPr lang="en-US" sz="3300" dirty="0"/>
          </a:p>
        </p:txBody>
      </p:sp>
      <p:sp>
        <p:nvSpPr>
          <p:cNvPr id="12" name="Text 6"/>
          <p:cNvSpPr txBox="1"/>
          <p:nvPr/>
        </p:nvSpPr>
        <p:spPr>
          <a:xfrm>
            <a:off x="1619402" y="5431536"/>
            <a:ext cx="5334610" cy="1702613"/>
          </a:xfrm>
          <a:prstGeom prst="rect">
            <a:avLst/>
          </a:prstGeom>
          <a:noFill/>
          <a:ln/>
        </p:spPr>
        <p:txBody>
          <a:bodyPr wrap="square" lIns="0" tIns="0" rIns="0" bIns="0" rtlCol="0" anchor="t"/>
          <a:lstStyle/>
          <a:p>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b="1" dirty="0">
                <a:solidFill>
                  <a:srgbClr val="1F6FEB"/>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정책별·지역별 추진현황 확인</a:t>
            </a:r>
            <a:pPr algn="l" indent="0" marL="0">
              <a:lnSpc>
                <a:spcPts val="3263"/>
              </a:lnSpc>
              <a:spcAft>
                <a:spcPts val="1650"/>
              </a:spcAft>
              <a:buNone/>
            </a:pPr>
            <a:endParaRPr lang="en-US" sz="2250" dirty="0"/>
          </a:p>
          <a:p>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b="1" dirty="0">
                <a:solidFill>
                  <a:srgbClr val="1F6FEB"/>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사업 진행 단계와 지연 요인 파악 지원</a:t>
            </a:r>
            <a:pPr algn="l" indent="0" marL="0">
              <a:lnSpc>
                <a:spcPts val="3263"/>
              </a:lnSpc>
              <a:spcAft>
                <a:spcPts val="1650"/>
              </a:spcAft>
              <a:buNone/>
            </a:pPr>
            <a:endParaRPr lang="en-US" sz="2250" dirty="0"/>
          </a:p>
          <a:p>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b="1" dirty="0">
                <a:solidFill>
                  <a:srgbClr val="1F6FEB"/>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공급계획과 사업정보의 연결 상태 확인</a:t>
            </a:r>
            <a:endParaRPr lang="en-US" sz="2250" dirty="0"/>
          </a:p>
        </p:txBody>
      </p:sp>
      <p:sp>
        <p:nvSpPr>
          <p:cNvPr id="13" name="Text 7"/>
          <p:cNvSpPr txBox="1"/>
          <p:nvPr/>
        </p:nvSpPr>
        <p:spPr>
          <a:xfrm>
            <a:off x="11525098" y="4286707"/>
            <a:ext cx="5334610" cy="295351"/>
          </a:xfrm>
          <a:prstGeom prst="rect">
            <a:avLst/>
          </a:prstGeom>
          <a:noFill/>
          <a:ln/>
        </p:spPr>
        <p:txBody>
          <a:bodyPr wrap="none" lIns="0" tIns="0" rIns="0" bIns="0" rtlCol="0" anchor="ctr"/>
          <a:lstStyle/>
          <a:p>
            <a:pPr algn="l" indent="0" marL="0">
              <a:buNone/>
            </a:pPr>
            <a:r>
              <a:rPr lang="en-US" sz="1950" b="1" dirty="0">
                <a:solidFill>
                  <a:srgbClr val="12B5A6"/>
                </a:solidFill>
                <a:latin typeface="Pretendard" pitchFamily="34" charset="0"/>
                <a:ea typeface="Pretendard" pitchFamily="34" charset="-122"/>
                <a:cs typeface="Pretendard" pitchFamily="34" charset="-120"/>
              </a:rPr>
              <a:t>관점 2</a:t>
            </a:r>
            <a:endParaRPr lang="en-US" sz="1950" dirty="0"/>
          </a:p>
        </p:txBody>
      </p:sp>
      <p:sp>
        <p:nvSpPr>
          <p:cNvPr id="14" name="Text 8"/>
          <p:cNvSpPr txBox="1"/>
          <p:nvPr/>
        </p:nvSpPr>
        <p:spPr>
          <a:xfrm>
            <a:off x="11525098" y="4638751"/>
            <a:ext cx="5334610" cy="505663"/>
          </a:xfrm>
          <a:prstGeom prst="rect">
            <a:avLst/>
          </a:prstGeom>
          <a:noFill/>
          <a:ln/>
        </p:spPr>
        <p:txBody>
          <a:bodyPr wrap="none" lIns="0" tIns="0" rIns="0" bIns="0" rtlCol="0" anchor="ctr"/>
          <a:lstStyle/>
          <a:p>
            <a:pPr algn="l" indent="0" marL="0">
              <a:buNone/>
            </a:pPr>
            <a:r>
              <a:rPr lang="en-US" sz="3300" b="1" dirty="0">
                <a:solidFill>
                  <a:srgbClr val="0A1F44"/>
                </a:solidFill>
                <a:latin typeface="Pretendard" pitchFamily="34" charset="0"/>
                <a:ea typeface="Pretendard" pitchFamily="34" charset="-122"/>
                <a:cs typeface="Pretendard" pitchFamily="34" charset="-120"/>
              </a:rPr>
              <a:t>국민</a:t>
            </a:r>
            <a:endParaRPr lang="en-US" sz="3300" dirty="0"/>
          </a:p>
        </p:txBody>
      </p:sp>
      <p:sp>
        <p:nvSpPr>
          <p:cNvPr id="15" name="Text 9"/>
          <p:cNvSpPr txBox="1"/>
          <p:nvPr/>
        </p:nvSpPr>
        <p:spPr>
          <a:xfrm>
            <a:off x="11525098" y="5431536"/>
            <a:ext cx="5334610" cy="1702613"/>
          </a:xfrm>
          <a:prstGeom prst="rect">
            <a:avLst/>
          </a:prstGeom>
          <a:noFill/>
          <a:ln/>
        </p:spPr>
        <p:txBody>
          <a:bodyPr wrap="square" lIns="0" tIns="0" rIns="0" bIns="0" rtlCol="0" anchor="t"/>
          <a:lstStyle/>
          <a:p>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b="1" dirty="0">
                <a:solidFill>
                  <a:srgbClr val="12B5A6"/>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관심 지역의 공급계획·관련 정보 확인</a:t>
            </a:r>
            <a:pPr algn="l" indent="0" marL="0">
              <a:lnSpc>
                <a:spcPts val="3263"/>
              </a:lnSpc>
              <a:spcAft>
                <a:spcPts val="1650"/>
              </a:spcAft>
              <a:buNone/>
            </a:pPr>
            <a:endParaRPr lang="en-US" sz="2250" dirty="0"/>
          </a:p>
          <a:p>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b="1" dirty="0">
                <a:solidFill>
                  <a:srgbClr val="12B5A6"/>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사업별 진행 단계 확인</a:t>
            </a:r>
            <a:pPr algn="l" indent="0" marL="0">
              <a:lnSpc>
                <a:spcPts val="3263"/>
              </a:lnSpc>
              <a:spcAft>
                <a:spcPts val="1650"/>
              </a:spcAft>
              <a:buNone/>
            </a:pPr>
            <a:endParaRPr lang="en-US" sz="2250" dirty="0"/>
          </a:p>
          <a:p>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b="1" dirty="0">
                <a:solidFill>
                  <a:srgbClr val="12B5A6"/>
                </a:solidFill>
                <a:latin typeface="Pretendard" pitchFamily="34" charset="0"/>
                <a:ea typeface="Pretendard" pitchFamily="34" charset="-122"/>
                <a:cs typeface="Pretendard" pitchFamily="34" charset="-120"/>
              </a:rPr>
              <a:t>✓</a:t>
            </a:r>
            <a:pPr algn="l" indent="0" marL="0">
              <a:lnSpc>
                <a:spcPts val="3263"/>
              </a:lnSpc>
              <a:spcAft>
                <a:spcPts val="1650"/>
              </a:spcAft>
              <a:buNone/>
            </a:pPr>
            <a:r>
              <a:rPr lang="en-US" sz="2250" dirty="0">
                <a:solidFill>
                  <a:srgbClr val="0A1F44"/>
                </a:solidFill>
                <a:latin typeface="Pretendard" pitchFamily="34" charset="0"/>
                <a:ea typeface="Pretendard" pitchFamily="34" charset="-122"/>
                <a:cs typeface="Pretendard" pitchFamily="34" charset="-120"/>
              </a:rPr>
              <a:t>공급·입주 정보를 쉽게 이해</a:t>
            </a:r>
            <a:endParaRPr lang="en-US" sz="2250" dirty="0"/>
          </a:p>
        </p:txBody>
      </p:sp>
      <p:sp>
        <p:nvSpPr>
          <p:cNvPr id="16" name="Text 10"/>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17" name="Text 11"/>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3" name="Image 0" descr="gen-dedup-828429d165501194b25e2a69723baf09.png">    </p:cNvPr>
          <p:cNvPicPr>
            <a:picLocks noChangeAspect="1"/>
          </p:cNvPicPr>
          <p:nvPr/>
        </p:nvPicPr>
        <p:blipFill>
          <a:blip r:embed="rId1"/>
          <a:srcRect l="0" r="0" t="-399" b="-399"/>
          <a:stretch/>
        </p:blipFill>
        <p:spPr>
          <a:xfrm>
            <a:off x="2381098" y="3696005"/>
            <a:ext cx="13525805" cy="57607"/>
          </a:xfrm>
          <a:prstGeom prst="rect">
            <a:avLst/>
          </a:prstGeom>
        </p:spPr>
      </p:pic>
      <p:sp>
        <p:nvSpPr>
          <p:cNvPr id="4" name="Shape 0"/>
          <p:cNvSpPr/>
          <p:nvPr/>
        </p:nvSpPr>
        <p:spPr>
          <a:xfrm>
            <a:off x="1143000" y="6572707"/>
            <a:ext cx="16002000" cy="2572207"/>
          </a:xfrm>
          <a:prstGeom prst="roundRect">
            <a:avLst>
              <a:gd name="adj" fmla="val 7394"/>
            </a:avLst>
          </a:prstGeom>
          <a:solidFill>
            <a:srgbClr val="F5F8FC"/>
          </a:solidFill>
          <a:ln w="12700">
            <a:solidFill>
              <a:srgbClr val="FFFFFF">
                <a:alpha val="0"/>
              </a:srgbClr>
            </a:solidFill>
            <a:prstDash val="solid"/>
          </a:ln>
        </p:spPr>
      </p:sp>
      <p:sp>
        <p:nvSpPr>
          <p:cNvPr id="5" name="Text 1"/>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03 핵심 아이디어</a:t>
            </a:r>
            <a:endParaRPr lang="en-US" sz="2100" dirty="0"/>
          </a:p>
        </p:txBody>
      </p:sp>
      <p:sp>
        <p:nvSpPr>
          <p:cNvPr id="6" name="Text 2"/>
          <p:cNvSpPr txBox="1"/>
          <p:nvPr/>
        </p:nvSpPr>
        <p:spPr>
          <a:xfrm>
            <a:off x="1143000" y="1218895"/>
            <a:ext cx="16002000" cy="676656"/>
          </a:xfrm>
          <a:prstGeom prst="rect">
            <a:avLst/>
          </a:prstGeom>
          <a:noFill/>
          <a:ln/>
        </p:spPr>
        <p:txBody>
          <a:bodyPr wrap="none" lIns="0" tIns="0" rIns="0" bIns="0" rtlCol="0" anchor="ctr"/>
          <a:lstStyle/>
          <a:p>
            <a:pPr algn="l" indent="0" marL="0">
              <a:buNone/>
            </a:pPr>
            <a:r>
              <a:rPr lang="en-US" sz="4500" b="1" spc="-112" kern="0" dirty="0">
                <a:solidFill>
                  <a:srgbClr val="0A1F44"/>
                </a:solidFill>
                <a:latin typeface="Pretendard" pitchFamily="34" charset="0"/>
                <a:ea typeface="Pretendard" pitchFamily="34" charset="-122"/>
                <a:cs typeface="Pretendard" pitchFamily="34" charset="-120"/>
              </a:rPr>
              <a:t>물량이 아니라 </a:t>
            </a:r>
            <a:pPr algn="l" indent="0" marL="0">
              <a:buNone/>
            </a:pPr>
            <a:r>
              <a:rPr lang="en-US" sz="4500" b="1" spc="-112" kern="0" dirty="0">
                <a:solidFill>
                  <a:srgbClr val="1F6FEB"/>
                </a:solidFill>
                <a:latin typeface="Pretendard" pitchFamily="34" charset="0"/>
                <a:ea typeface="Pretendard" pitchFamily="34" charset="-122"/>
                <a:cs typeface="Pretendard" pitchFamily="34" charset="-120"/>
              </a:rPr>
              <a:t>단계</a:t>
            </a:r>
            <a:pPr algn="l" indent="0" marL="0">
              <a:buNone/>
            </a:pPr>
            <a:r>
              <a:rPr lang="en-US" sz="4500" b="1" spc="-112" kern="0" dirty="0">
                <a:solidFill>
                  <a:srgbClr val="0A1F44"/>
                </a:solidFill>
                <a:latin typeface="Pretendard" pitchFamily="34" charset="0"/>
                <a:ea typeface="Pretendard" pitchFamily="34" charset="-122"/>
                <a:cs typeface="Pretendard" pitchFamily="34" charset="-120"/>
              </a:rPr>
              <a:t>로 본다 — 주택공급 6단계</a:t>
            </a:r>
            <a:endParaRPr lang="en-US" sz="4500" dirty="0"/>
          </a:p>
        </p:txBody>
      </p:sp>
      <p:sp>
        <p:nvSpPr>
          <p:cNvPr id="7" name="Shape 3"/>
          <p:cNvSpPr/>
          <p:nvPr/>
        </p:nvSpPr>
        <p:spPr>
          <a:xfrm>
            <a:off x="1447495" y="2762402"/>
            <a:ext cx="1867205" cy="1867205"/>
          </a:xfrm>
          <a:prstGeom prst="ellipse">
            <a:avLst/>
          </a:prstGeom>
          <a:solidFill>
            <a:srgbClr val="0A1F44"/>
          </a:solidFill>
          <a:ln w="12700">
            <a:solidFill>
              <a:srgbClr val="FFFFFF">
                <a:alpha val="0"/>
              </a:srgbClr>
            </a:solidFill>
            <a:prstDash val="solid"/>
          </a:ln>
        </p:spPr>
      </p:sp>
      <p:pic>
        <p:nvPicPr>
          <p:cNvPr id="8" name="Image 1" descr="gen-dedup-4a04864c611eb4349aa25d2c4b683d3e.png">    </p:cNvPr>
          <p:cNvPicPr>
            <a:picLocks noChangeAspect="1"/>
          </p:cNvPicPr>
          <p:nvPr/>
        </p:nvPicPr>
        <p:blipFill>
          <a:blip r:embed="rId2"/>
          <a:srcRect l="0" r="0" t="0" b="0"/>
          <a:stretch/>
        </p:blipFill>
        <p:spPr>
          <a:xfrm>
            <a:off x="1981505" y="3295498"/>
            <a:ext cx="800100" cy="800100"/>
          </a:xfrm>
          <a:prstGeom prst="rect">
            <a:avLst/>
          </a:prstGeom>
        </p:spPr>
      </p:pic>
      <p:sp>
        <p:nvSpPr>
          <p:cNvPr id="9" name="Shape 4"/>
          <p:cNvSpPr/>
          <p:nvPr/>
        </p:nvSpPr>
        <p:spPr>
          <a:xfrm>
            <a:off x="4153205" y="2762402"/>
            <a:ext cx="1867205" cy="1867205"/>
          </a:xfrm>
          <a:prstGeom prst="ellipse">
            <a:avLst/>
          </a:prstGeom>
          <a:solidFill>
            <a:srgbClr val="12306A"/>
          </a:solidFill>
          <a:ln w="12700">
            <a:solidFill>
              <a:srgbClr val="FFFFFF">
                <a:alpha val="0"/>
              </a:srgbClr>
            </a:solidFill>
            <a:prstDash val="solid"/>
          </a:ln>
        </p:spPr>
      </p:sp>
      <p:pic>
        <p:nvPicPr>
          <p:cNvPr id="10" name="Image 2" descr="gen-dedup-0c56e6716b3dcf18d854e547d44ff441.png">    </p:cNvPr>
          <p:cNvPicPr>
            <a:picLocks noChangeAspect="1"/>
          </p:cNvPicPr>
          <p:nvPr/>
        </p:nvPicPr>
        <p:blipFill>
          <a:blip r:embed="rId3"/>
          <a:srcRect l="0" r="0" t="0" b="0"/>
          <a:stretch/>
        </p:blipFill>
        <p:spPr>
          <a:xfrm>
            <a:off x="4686300" y="3295498"/>
            <a:ext cx="800100" cy="800100"/>
          </a:xfrm>
          <a:prstGeom prst="rect">
            <a:avLst/>
          </a:prstGeom>
        </p:spPr>
      </p:pic>
      <p:sp>
        <p:nvSpPr>
          <p:cNvPr id="11" name="Shape 5"/>
          <p:cNvSpPr/>
          <p:nvPr/>
        </p:nvSpPr>
        <p:spPr>
          <a:xfrm>
            <a:off x="6858000" y="2762402"/>
            <a:ext cx="1867205" cy="1867205"/>
          </a:xfrm>
          <a:prstGeom prst="ellipse">
            <a:avLst/>
          </a:prstGeom>
          <a:solidFill>
            <a:srgbClr val="1A4F9C"/>
          </a:solidFill>
          <a:ln w="12700">
            <a:solidFill>
              <a:srgbClr val="FFFFFF">
                <a:alpha val="0"/>
              </a:srgbClr>
            </a:solidFill>
            <a:prstDash val="solid"/>
          </a:ln>
        </p:spPr>
      </p:sp>
      <p:pic>
        <p:nvPicPr>
          <p:cNvPr id="12" name="Image 3" descr="gen-dedup-5ea682f95e1ef51f0913e48ef9be565b.png">    </p:cNvPr>
          <p:cNvPicPr>
            <a:picLocks noChangeAspect="1"/>
          </p:cNvPicPr>
          <p:nvPr/>
        </p:nvPicPr>
        <p:blipFill>
          <a:blip r:embed="rId4"/>
          <a:srcRect l="0" r="0" t="0" b="0"/>
          <a:stretch/>
        </p:blipFill>
        <p:spPr>
          <a:xfrm>
            <a:off x="7391095" y="3295498"/>
            <a:ext cx="800100" cy="800100"/>
          </a:xfrm>
          <a:prstGeom prst="rect">
            <a:avLst/>
          </a:prstGeom>
        </p:spPr>
      </p:pic>
      <p:sp>
        <p:nvSpPr>
          <p:cNvPr id="13" name="Shape 6"/>
          <p:cNvSpPr/>
          <p:nvPr/>
        </p:nvSpPr>
        <p:spPr>
          <a:xfrm>
            <a:off x="9562795" y="2762402"/>
            <a:ext cx="1867205" cy="1867205"/>
          </a:xfrm>
          <a:prstGeom prst="ellipse">
            <a:avLst/>
          </a:prstGeom>
          <a:solidFill>
            <a:srgbClr val="1F6FEB"/>
          </a:solidFill>
          <a:ln w="12700">
            <a:solidFill>
              <a:srgbClr val="FFFFFF">
                <a:alpha val="0"/>
              </a:srgbClr>
            </a:solidFill>
            <a:prstDash val="solid"/>
          </a:ln>
        </p:spPr>
      </p:sp>
      <p:pic>
        <p:nvPicPr>
          <p:cNvPr id="14" name="Image 4" descr="gen-dedup-54459e97f7c864fcf8d7cd9324b1b34e.png">    </p:cNvPr>
          <p:cNvPicPr>
            <a:picLocks noChangeAspect="1"/>
          </p:cNvPicPr>
          <p:nvPr/>
        </p:nvPicPr>
        <p:blipFill>
          <a:blip r:embed="rId5"/>
          <a:srcRect l="0" r="0" t="0" b="0"/>
          <a:stretch/>
        </p:blipFill>
        <p:spPr>
          <a:xfrm>
            <a:off x="10096805" y="3295498"/>
            <a:ext cx="800100" cy="800100"/>
          </a:xfrm>
          <a:prstGeom prst="rect">
            <a:avLst/>
          </a:prstGeom>
        </p:spPr>
      </p:pic>
      <p:sp>
        <p:nvSpPr>
          <p:cNvPr id="15" name="Shape 7"/>
          <p:cNvSpPr/>
          <p:nvPr/>
        </p:nvSpPr>
        <p:spPr>
          <a:xfrm>
            <a:off x="12268505" y="2762402"/>
            <a:ext cx="1867205" cy="1867205"/>
          </a:xfrm>
          <a:prstGeom prst="ellipse">
            <a:avLst/>
          </a:prstGeom>
          <a:solidFill>
            <a:srgbClr val="1592B8"/>
          </a:solidFill>
          <a:ln w="12700">
            <a:solidFill>
              <a:srgbClr val="FFFFFF">
                <a:alpha val="0"/>
              </a:srgbClr>
            </a:solidFill>
            <a:prstDash val="solid"/>
          </a:ln>
        </p:spPr>
      </p:sp>
      <p:pic>
        <p:nvPicPr>
          <p:cNvPr id="16" name="Image 5" descr="gen-dedup-db7131da6442ebdb8c71c39eb4eb2fe2.png">    </p:cNvPr>
          <p:cNvPicPr>
            <a:picLocks noChangeAspect="1"/>
          </p:cNvPicPr>
          <p:nvPr/>
        </p:nvPicPr>
        <p:blipFill>
          <a:blip r:embed="rId6"/>
          <a:srcRect l="0" r="0" t="0" b="0"/>
          <a:stretch/>
        </p:blipFill>
        <p:spPr>
          <a:xfrm>
            <a:off x="12801600" y="3295498"/>
            <a:ext cx="800100" cy="800100"/>
          </a:xfrm>
          <a:prstGeom prst="rect">
            <a:avLst/>
          </a:prstGeom>
        </p:spPr>
      </p:pic>
      <p:sp>
        <p:nvSpPr>
          <p:cNvPr id="17" name="Shape 8"/>
          <p:cNvSpPr/>
          <p:nvPr/>
        </p:nvSpPr>
        <p:spPr>
          <a:xfrm>
            <a:off x="14973300" y="2762402"/>
            <a:ext cx="1867205" cy="1867205"/>
          </a:xfrm>
          <a:prstGeom prst="ellipse">
            <a:avLst/>
          </a:prstGeom>
          <a:solidFill>
            <a:srgbClr val="12B5A6"/>
          </a:solidFill>
          <a:ln w="12700">
            <a:solidFill>
              <a:srgbClr val="FFFFFF">
                <a:alpha val="0"/>
              </a:srgbClr>
            </a:solidFill>
            <a:prstDash val="solid"/>
          </a:ln>
        </p:spPr>
      </p:sp>
      <p:pic>
        <p:nvPicPr>
          <p:cNvPr id="18" name="Image 6" descr="gen-dedup-bee9efde90bb5d65ec8efe7631894a11.png">    </p:cNvPr>
          <p:cNvPicPr>
            <a:picLocks noChangeAspect="1"/>
          </p:cNvPicPr>
          <p:nvPr/>
        </p:nvPicPr>
        <p:blipFill>
          <a:blip r:embed="rId7"/>
          <a:srcRect l="0" r="0" t="0" b="0"/>
          <a:stretch/>
        </p:blipFill>
        <p:spPr>
          <a:xfrm>
            <a:off x="15506395" y="3295498"/>
            <a:ext cx="800100" cy="800100"/>
          </a:xfrm>
          <a:prstGeom prst="rect">
            <a:avLst/>
          </a:prstGeom>
        </p:spPr>
      </p:pic>
      <p:sp>
        <p:nvSpPr>
          <p:cNvPr id="19" name="Text 9"/>
          <p:cNvSpPr txBox="1"/>
          <p:nvPr/>
        </p:nvSpPr>
        <p:spPr>
          <a:xfrm>
            <a:off x="1143000" y="4905756"/>
            <a:ext cx="2477110" cy="277063"/>
          </a:xfrm>
          <a:prstGeom prst="rect">
            <a:avLst/>
          </a:prstGeom>
          <a:noFill/>
          <a:ln/>
        </p:spPr>
        <p:txBody>
          <a:bodyPr wrap="none" lIns="0" tIns="0" rIns="0" bIns="0" rtlCol="0" anchor="ctr"/>
          <a:lstStyle/>
          <a:p>
            <a:pPr algn="ctr" indent="0" marL="0">
              <a:buNone/>
            </a:pPr>
            <a:r>
              <a:rPr lang="en-US" sz="1800" b="1" dirty="0">
                <a:solidFill>
                  <a:srgbClr val="8A99B0"/>
                </a:solidFill>
                <a:latin typeface="Pretendard" pitchFamily="34" charset="0"/>
                <a:ea typeface="Pretendard" pitchFamily="34" charset="-122"/>
                <a:cs typeface="Pretendard" pitchFamily="34" charset="-120"/>
              </a:rPr>
              <a:t>STEP 1</a:t>
            </a:r>
            <a:endParaRPr lang="en-US" sz="1800" dirty="0"/>
          </a:p>
        </p:txBody>
      </p:sp>
      <p:sp>
        <p:nvSpPr>
          <p:cNvPr id="20" name="Text 10"/>
          <p:cNvSpPr txBox="1"/>
          <p:nvPr/>
        </p:nvSpPr>
        <p:spPr>
          <a:xfrm>
            <a:off x="1143000" y="5181905"/>
            <a:ext cx="2477110" cy="476402"/>
          </a:xfrm>
          <a:prstGeom prst="rect">
            <a:avLst/>
          </a:prstGeom>
          <a:noFill/>
          <a:ln/>
        </p:spPr>
        <p:txBody>
          <a:bodyPr wrap="none" lIns="0" tIns="0" rIns="0" bIns="0" rtlCol="0" anchor="ctr"/>
          <a:lstStyle/>
          <a:p>
            <a:pPr algn="ctr" indent="0" marL="0">
              <a:buNone/>
            </a:pPr>
            <a:r>
              <a:rPr lang="en-US" sz="3150" b="1" dirty="0">
                <a:solidFill>
                  <a:srgbClr val="0A1F44"/>
                </a:solidFill>
                <a:latin typeface="Pretendard" pitchFamily="34" charset="0"/>
                <a:ea typeface="Pretendard" pitchFamily="34" charset="-122"/>
                <a:cs typeface="Pretendard" pitchFamily="34" charset="-120"/>
              </a:rPr>
              <a:t>정책</a:t>
            </a:r>
            <a:endParaRPr lang="en-US" sz="3150" dirty="0"/>
          </a:p>
        </p:txBody>
      </p:sp>
      <p:sp>
        <p:nvSpPr>
          <p:cNvPr id="21" name="Text 11"/>
          <p:cNvSpPr txBox="1"/>
          <p:nvPr/>
        </p:nvSpPr>
        <p:spPr>
          <a:xfrm>
            <a:off x="3847795" y="4905756"/>
            <a:ext cx="2477110" cy="277063"/>
          </a:xfrm>
          <a:prstGeom prst="rect">
            <a:avLst/>
          </a:prstGeom>
          <a:noFill/>
          <a:ln/>
        </p:spPr>
        <p:txBody>
          <a:bodyPr wrap="none" lIns="0" tIns="0" rIns="0" bIns="0" rtlCol="0" anchor="ctr"/>
          <a:lstStyle/>
          <a:p>
            <a:pPr algn="ctr" indent="0" marL="0">
              <a:buNone/>
            </a:pPr>
            <a:r>
              <a:rPr lang="en-US" sz="1800" b="1" dirty="0">
                <a:solidFill>
                  <a:srgbClr val="8A99B0"/>
                </a:solidFill>
                <a:latin typeface="Pretendard" pitchFamily="34" charset="0"/>
                <a:ea typeface="Pretendard" pitchFamily="34" charset="-122"/>
                <a:cs typeface="Pretendard" pitchFamily="34" charset="-120"/>
              </a:rPr>
              <a:t>STEP 2</a:t>
            </a:r>
            <a:endParaRPr lang="en-US" sz="1800" dirty="0"/>
          </a:p>
        </p:txBody>
      </p:sp>
      <p:sp>
        <p:nvSpPr>
          <p:cNvPr id="22" name="Text 12"/>
          <p:cNvSpPr txBox="1"/>
          <p:nvPr/>
        </p:nvSpPr>
        <p:spPr>
          <a:xfrm>
            <a:off x="3847795" y="5181905"/>
            <a:ext cx="2477110" cy="476402"/>
          </a:xfrm>
          <a:prstGeom prst="rect">
            <a:avLst/>
          </a:prstGeom>
          <a:noFill/>
          <a:ln/>
        </p:spPr>
        <p:txBody>
          <a:bodyPr wrap="none" lIns="0" tIns="0" rIns="0" bIns="0" rtlCol="0" anchor="ctr"/>
          <a:lstStyle/>
          <a:p>
            <a:pPr algn="ctr" indent="0" marL="0">
              <a:buNone/>
            </a:pPr>
            <a:r>
              <a:rPr lang="en-US" sz="3150" b="1" dirty="0">
                <a:solidFill>
                  <a:srgbClr val="0A1F44"/>
                </a:solidFill>
                <a:latin typeface="Pretendard" pitchFamily="34" charset="0"/>
                <a:ea typeface="Pretendard" pitchFamily="34" charset="-122"/>
                <a:cs typeface="Pretendard" pitchFamily="34" charset="-120"/>
              </a:rPr>
              <a:t>사업화</a:t>
            </a:r>
            <a:endParaRPr lang="en-US" sz="3150" dirty="0"/>
          </a:p>
        </p:txBody>
      </p:sp>
      <p:sp>
        <p:nvSpPr>
          <p:cNvPr id="23" name="Text 13"/>
          <p:cNvSpPr txBox="1"/>
          <p:nvPr/>
        </p:nvSpPr>
        <p:spPr>
          <a:xfrm>
            <a:off x="6553505" y="4905756"/>
            <a:ext cx="2477110" cy="277063"/>
          </a:xfrm>
          <a:prstGeom prst="rect">
            <a:avLst/>
          </a:prstGeom>
          <a:noFill/>
          <a:ln/>
        </p:spPr>
        <p:txBody>
          <a:bodyPr wrap="none" lIns="0" tIns="0" rIns="0" bIns="0" rtlCol="0" anchor="ctr"/>
          <a:lstStyle/>
          <a:p>
            <a:pPr algn="ctr" indent="0" marL="0">
              <a:buNone/>
            </a:pPr>
            <a:r>
              <a:rPr lang="en-US" sz="1800" b="1" dirty="0">
                <a:solidFill>
                  <a:srgbClr val="8A99B0"/>
                </a:solidFill>
                <a:latin typeface="Pretendard" pitchFamily="34" charset="0"/>
                <a:ea typeface="Pretendard" pitchFamily="34" charset="-122"/>
                <a:cs typeface="Pretendard" pitchFamily="34" charset="-120"/>
              </a:rPr>
              <a:t>STEP 3</a:t>
            </a:r>
            <a:endParaRPr lang="en-US" sz="1800" dirty="0"/>
          </a:p>
        </p:txBody>
      </p:sp>
      <p:sp>
        <p:nvSpPr>
          <p:cNvPr id="24" name="Text 14"/>
          <p:cNvSpPr txBox="1"/>
          <p:nvPr/>
        </p:nvSpPr>
        <p:spPr>
          <a:xfrm>
            <a:off x="6553505" y="5181905"/>
            <a:ext cx="2477110" cy="476402"/>
          </a:xfrm>
          <a:prstGeom prst="rect">
            <a:avLst/>
          </a:prstGeom>
          <a:noFill/>
          <a:ln/>
        </p:spPr>
        <p:txBody>
          <a:bodyPr wrap="none" lIns="0" tIns="0" rIns="0" bIns="0" rtlCol="0" anchor="ctr"/>
          <a:lstStyle/>
          <a:p>
            <a:pPr algn="ctr" indent="0" marL="0">
              <a:buNone/>
            </a:pPr>
            <a:r>
              <a:rPr lang="en-US" sz="3150" b="1" dirty="0">
                <a:solidFill>
                  <a:srgbClr val="0A1F44"/>
                </a:solidFill>
                <a:latin typeface="Pretendard" pitchFamily="34" charset="0"/>
                <a:ea typeface="Pretendard" pitchFamily="34" charset="-122"/>
                <a:cs typeface="Pretendard" pitchFamily="34" charset="-120"/>
              </a:rPr>
              <a:t>인허가</a:t>
            </a:r>
            <a:endParaRPr lang="en-US" sz="3150" dirty="0"/>
          </a:p>
        </p:txBody>
      </p:sp>
      <p:sp>
        <p:nvSpPr>
          <p:cNvPr id="25" name="Text 15"/>
          <p:cNvSpPr txBox="1"/>
          <p:nvPr/>
        </p:nvSpPr>
        <p:spPr>
          <a:xfrm>
            <a:off x="9258300" y="4905756"/>
            <a:ext cx="2477110" cy="277063"/>
          </a:xfrm>
          <a:prstGeom prst="rect">
            <a:avLst/>
          </a:prstGeom>
          <a:noFill/>
          <a:ln/>
        </p:spPr>
        <p:txBody>
          <a:bodyPr wrap="none" lIns="0" tIns="0" rIns="0" bIns="0" rtlCol="0" anchor="ctr"/>
          <a:lstStyle/>
          <a:p>
            <a:pPr algn="ctr" indent="0" marL="0">
              <a:buNone/>
            </a:pPr>
            <a:r>
              <a:rPr lang="en-US" sz="1800" b="1" dirty="0">
                <a:solidFill>
                  <a:srgbClr val="8A99B0"/>
                </a:solidFill>
                <a:latin typeface="Pretendard" pitchFamily="34" charset="0"/>
                <a:ea typeface="Pretendard" pitchFamily="34" charset="-122"/>
                <a:cs typeface="Pretendard" pitchFamily="34" charset="-120"/>
              </a:rPr>
              <a:t>STEP 4</a:t>
            </a:r>
            <a:endParaRPr lang="en-US" sz="1800" dirty="0"/>
          </a:p>
        </p:txBody>
      </p:sp>
      <p:sp>
        <p:nvSpPr>
          <p:cNvPr id="26" name="Text 16"/>
          <p:cNvSpPr txBox="1"/>
          <p:nvPr/>
        </p:nvSpPr>
        <p:spPr>
          <a:xfrm>
            <a:off x="9258300" y="5181905"/>
            <a:ext cx="2477110" cy="476402"/>
          </a:xfrm>
          <a:prstGeom prst="rect">
            <a:avLst/>
          </a:prstGeom>
          <a:noFill/>
          <a:ln/>
        </p:spPr>
        <p:txBody>
          <a:bodyPr wrap="none" lIns="0" tIns="0" rIns="0" bIns="0" rtlCol="0" anchor="ctr"/>
          <a:lstStyle/>
          <a:p>
            <a:pPr algn="ctr" indent="0" marL="0">
              <a:buNone/>
            </a:pPr>
            <a:r>
              <a:rPr lang="en-US" sz="3150" b="1" dirty="0">
                <a:solidFill>
                  <a:srgbClr val="0A1F44"/>
                </a:solidFill>
                <a:latin typeface="Pretendard" pitchFamily="34" charset="0"/>
                <a:ea typeface="Pretendard" pitchFamily="34" charset="-122"/>
                <a:cs typeface="Pretendard" pitchFamily="34" charset="-120"/>
              </a:rPr>
              <a:t>건설</a:t>
            </a:r>
            <a:endParaRPr lang="en-US" sz="3150" dirty="0"/>
          </a:p>
        </p:txBody>
      </p:sp>
      <p:sp>
        <p:nvSpPr>
          <p:cNvPr id="27" name="Text 17"/>
          <p:cNvSpPr txBox="1"/>
          <p:nvPr/>
        </p:nvSpPr>
        <p:spPr>
          <a:xfrm>
            <a:off x="11963095" y="4905756"/>
            <a:ext cx="2477110" cy="277063"/>
          </a:xfrm>
          <a:prstGeom prst="rect">
            <a:avLst/>
          </a:prstGeom>
          <a:noFill/>
          <a:ln/>
        </p:spPr>
        <p:txBody>
          <a:bodyPr wrap="none" lIns="0" tIns="0" rIns="0" bIns="0" rtlCol="0" anchor="ctr"/>
          <a:lstStyle/>
          <a:p>
            <a:pPr algn="ctr" indent="0" marL="0">
              <a:buNone/>
            </a:pPr>
            <a:r>
              <a:rPr lang="en-US" sz="1800" b="1" dirty="0">
                <a:solidFill>
                  <a:srgbClr val="8A99B0"/>
                </a:solidFill>
                <a:latin typeface="Pretendard" pitchFamily="34" charset="0"/>
                <a:ea typeface="Pretendard" pitchFamily="34" charset="-122"/>
                <a:cs typeface="Pretendard" pitchFamily="34" charset="-120"/>
              </a:rPr>
              <a:t>STEP 5</a:t>
            </a:r>
            <a:endParaRPr lang="en-US" sz="1800" dirty="0"/>
          </a:p>
        </p:txBody>
      </p:sp>
      <p:sp>
        <p:nvSpPr>
          <p:cNvPr id="28" name="Text 18"/>
          <p:cNvSpPr txBox="1"/>
          <p:nvPr/>
        </p:nvSpPr>
        <p:spPr>
          <a:xfrm>
            <a:off x="11963095" y="5181905"/>
            <a:ext cx="2477110" cy="476402"/>
          </a:xfrm>
          <a:prstGeom prst="rect">
            <a:avLst/>
          </a:prstGeom>
          <a:noFill/>
          <a:ln/>
        </p:spPr>
        <p:txBody>
          <a:bodyPr wrap="none" lIns="0" tIns="0" rIns="0" bIns="0" rtlCol="0" anchor="ctr"/>
          <a:lstStyle/>
          <a:p>
            <a:pPr algn="ctr" indent="0" marL="0">
              <a:buNone/>
            </a:pPr>
            <a:r>
              <a:rPr lang="en-US" sz="3150" b="1" dirty="0">
                <a:solidFill>
                  <a:srgbClr val="0A1F44"/>
                </a:solidFill>
                <a:latin typeface="Pretendard" pitchFamily="34" charset="0"/>
                <a:ea typeface="Pretendard" pitchFamily="34" charset="-122"/>
                <a:cs typeface="Pretendard" pitchFamily="34" charset="-120"/>
              </a:rPr>
              <a:t>공급</a:t>
            </a:r>
            <a:endParaRPr lang="en-US" sz="3150" dirty="0"/>
          </a:p>
        </p:txBody>
      </p:sp>
      <p:sp>
        <p:nvSpPr>
          <p:cNvPr id="29" name="Text 19"/>
          <p:cNvSpPr txBox="1"/>
          <p:nvPr/>
        </p:nvSpPr>
        <p:spPr>
          <a:xfrm>
            <a:off x="14668805" y="4905756"/>
            <a:ext cx="2477110" cy="277063"/>
          </a:xfrm>
          <a:prstGeom prst="rect">
            <a:avLst/>
          </a:prstGeom>
          <a:noFill/>
          <a:ln/>
        </p:spPr>
        <p:txBody>
          <a:bodyPr wrap="none" lIns="0" tIns="0" rIns="0" bIns="0" rtlCol="0" anchor="ctr"/>
          <a:lstStyle/>
          <a:p>
            <a:pPr algn="ctr" indent="0" marL="0">
              <a:buNone/>
            </a:pPr>
            <a:r>
              <a:rPr lang="en-US" sz="1800" b="1" dirty="0">
                <a:solidFill>
                  <a:srgbClr val="8A99B0"/>
                </a:solidFill>
                <a:latin typeface="Pretendard" pitchFamily="34" charset="0"/>
                <a:ea typeface="Pretendard" pitchFamily="34" charset="-122"/>
                <a:cs typeface="Pretendard" pitchFamily="34" charset="-120"/>
              </a:rPr>
              <a:t>STEP 6</a:t>
            </a:r>
            <a:endParaRPr lang="en-US" sz="1800" dirty="0"/>
          </a:p>
        </p:txBody>
      </p:sp>
      <p:sp>
        <p:nvSpPr>
          <p:cNvPr id="30" name="Text 20"/>
          <p:cNvSpPr txBox="1"/>
          <p:nvPr/>
        </p:nvSpPr>
        <p:spPr>
          <a:xfrm>
            <a:off x="14668805" y="5181905"/>
            <a:ext cx="2477110" cy="476402"/>
          </a:xfrm>
          <a:prstGeom prst="rect">
            <a:avLst/>
          </a:prstGeom>
          <a:noFill/>
          <a:ln/>
        </p:spPr>
        <p:txBody>
          <a:bodyPr wrap="none" lIns="0" tIns="0" rIns="0" bIns="0" rtlCol="0" anchor="ctr"/>
          <a:lstStyle/>
          <a:p>
            <a:pPr algn="ctr" indent="0" marL="0">
              <a:buNone/>
            </a:pPr>
            <a:r>
              <a:rPr lang="en-US" sz="3150" b="1" dirty="0">
                <a:solidFill>
                  <a:srgbClr val="0A1F44"/>
                </a:solidFill>
                <a:latin typeface="Pretendard" pitchFamily="34" charset="0"/>
                <a:ea typeface="Pretendard" pitchFamily="34" charset="-122"/>
                <a:cs typeface="Pretendard" pitchFamily="34" charset="-120"/>
              </a:rPr>
              <a:t>입주</a:t>
            </a:r>
            <a:endParaRPr lang="en-US" sz="3150" dirty="0"/>
          </a:p>
        </p:txBody>
      </p:sp>
      <p:sp>
        <p:nvSpPr>
          <p:cNvPr id="31" name="Text 21"/>
          <p:cNvSpPr txBox="1"/>
          <p:nvPr/>
        </p:nvSpPr>
        <p:spPr>
          <a:xfrm>
            <a:off x="1619402" y="6858000"/>
            <a:ext cx="15050110" cy="295351"/>
          </a:xfrm>
          <a:prstGeom prst="rect">
            <a:avLst/>
          </a:prstGeom>
          <a:noFill/>
          <a:ln/>
        </p:spPr>
        <p:txBody>
          <a:bodyPr wrap="none" lIns="0" tIns="0" rIns="0" bIns="0" rtlCol="0" anchor="ctr"/>
          <a:lstStyle/>
          <a:p>
            <a:pPr algn="l" indent="0" marL="0">
              <a:buNone/>
            </a:pPr>
            <a:r>
              <a:rPr lang="en-US" sz="1950" b="1" dirty="0">
                <a:solidFill>
                  <a:srgbClr val="5B6B82"/>
                </a:solidFill>
                <a:latin typeface="Pretendard" pitchFamily="34" charset="0"/>
                <a:ea typeface="Pretendard" pitchFamily="34" charset="-122"/>
                <a:cs typeface="Pretendard" pitchFamily="34" charset="-120"/>
              </a:rPr>
              <a:t>한 사업을 단계별로 추적하면 </a:t>
            </a:r>
            <a:pPr algn="l" indent="0" marL="0">
              <a:buNone/>
            </a:pPr>
            <a:r>
              <a:rPr lang="en-US" sz="1950" b="1" dirty="0">
                <a:solidFill>
                  <a:srgbClr val="8A99B0"/>
                </a:solidFill>
                <a:latin typeface="Pretendard" pitchFamily="34" charset="0"/>
                <a:ea typeface="Pretendard" pitchFamily="34" charset="-122"/>
                <a:cs typeface="Pretendard" pitchFamily="34" charset="-120"/>
              </a:rPr>
              <a:t>(개념 예시)</a:t>
            </a:r>
            <a:endParaRPr lang="en-US" sz="1950" dirty="0"/>
          </a:p>
        </p:txBody>
      </p:sp>
      <p:sp>
        <p:nvSpPr>
          <p:cNvPr id="32" name="Text 22"/>
          <p:cNvSpPr txBox="1"/>
          <p:nvPr/>
        </p:nvSpPr>
        <p:spPr>
          <a:xfrm>
            <a:off x="1619402" y="7420356"/>
            <a:ext cx="1905610"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 사업</a:t>
            </a:r>
            <a:endParaRPr lang="en-US" sz="2250" dirty="0"/>
          </a:p>
        </p:txBody>
      </p:sp>
      <p:sp>
        <p:nvSpPr>
          <p:cNvPr id="33" name="Shape 23"/>
          <p:cNvSpPr/>
          <p:nvPr/>
        </p:nvSpPr>
        <p:spPr>
          <a:xfrm>
            <a:off x="3524098" y="7448702"/>
            <a:ext cx="286207" cy="286207"/>
          </a:xfrm>
          <a:prstGeom prst="ellipse">
            <a:avLst/>
          </a:prstGeom>
          <a:solidFill>
            <a:srgbClr val="1F6FEB"/>
          </a:solidFill>
          <a:ln w="12700">
            <a:solidFill>
              <a:srgbClr val="FFFFFF">
                <a:alpha val="0"/>
              </a:srgbClr>
            </a:solidFill>
            <a:prstDash val="solid"/>
          </a:ln>
        </p:spPr>
      </p:sp>
      <p:pic>
        <p:nvPicPr>
          <p:cNvPr id="34" name="Image 7" descr="gen-dedup-bdce38d15388dd4adc16c2162cb1f20f.png">    </p:cNvPr>
          <p:cNvPicPr>
            <a:picLocks noChangeAspect="1"/>
          </p:cNvPicPr>
          <p:nvPr/>
        </p:nvPicPr>
        <p:blipFill>
          <a:blip r:embed="rId8"/>
          <a:srcRect l="0" r="0" t="-405" b="-405"/>
          <a:stretch/>
        </p:blipFill>
        <p:spPr>
          <a:xfrm>
            <a:off x="3810305" y="7563002"/>
            <a:ext cx="2270455" cy="57607"/>
          </a:xfrm>
          <a:prstGeom prst="rect">
            <a:avLst/>
          </a:prstGeom>
        </p:spPr>
      </p:pic>
      <p:sp>
        <p:nvSpPr>
          <p:cNvPr id="35" name="Shape 24"/>
          <p:cNvSpPr/>
          <p:nvPr/>
        </p:nvSpPr>
        <p:spPr>
          <a:xfrm>
            <a:off x="6080760" y="7448702"/>
            <a:ext cx="286207" cy="286207"/>
          </a:xfrm>
          <a:prstGeom prst="ellipse">
            <a:avLst/>
          </a:prstGeom>
          <a:solidFill>
            <a:srgbClr val="1F6FEB"/>
          </a:solidFill>
          <a:ln w="12700">
            <a:solidFill>
              <a:srgbClr val="FFFFFF">
                <a:alpha val="0"/>
              </a:srgbClr>
            </a:solidFill>
            <a:prstDash val="solid"/>
          </a:ln>
        </p:spPr>
      </p:sp>
      <p:pic>
        <p:nvPicPr>
          <p:cNvPr id="36" name="Image 8" descr="gen-dedup-bdce38d15388dd4adc16c2162cb1f20f.png">    </p:cNvPr>
          <p:cNvPicPr>
            <a:picLocks noChangeAspect="1"/>
          </p:cNvPicPr>
          <p:nvPr/>
        </p:nvPicPr>
        <p:blipFill>
          <a:blip r:embed="rId9"/>
          <a:srcRect l="0" r="0" t="-408" b="-408"/>
          <a:stretch/>
        </p:blipFill>
        <p:spPr>
          <a:xfrm>
            <a:off x="6366053" y="7563002"/>
            <a:ext cx="2270455" cy="57607"/>
          </a:xfrm>
          <a:prstGeom prst="rect">
            <a:avLst/>
          </a:prstGeom>
        </p:spPr>
      </p:pic>
      <p:sp>
        <p:nvSpPr>
          <p:cNvPr id="37" name="Shape 25"/>
          <p:cNvSpPr/>
          <p:nvPr/>
        </p:nvSpPr>
        <p:spPr>
          <a:xfrm>
            <a:off x="8637422" y="7448702"/>
            <a:ext cx="286207" cy="286207"/>
          </a:xfrm>
          <a:prstGeom prst="ellipse">
            <a:avLst/>
          </a:prstGeom>
          <a:solidFill>
            <a:srgbClr val="1F6FEB"/>
          </a:solidFill>
          <a:ln w="12700">
            <a:solidFill>
              <a:srgbClr val="FFFFFF">
                <a:alpha val="0"/>
              </a:srgbClr>
            </a:solidFill>
            <a:prstDash val="solid"/>
          </a:ln>
        </p:spPr>
      </p:sp>
      <p:pic>
        <p:nvPicPr>
          <p:cNvPr id="38" name="Image 9" descr="gen-dedup-bdce38d15388dd4adc16c2162cb1f20f.png">    </p:cNvPr>
          <p:cNvPicPr>
            <a:picLocks noChangeAspect="1"/>
          </p:cNvPicPr>
          <p:nvPr/>
        </p:nvPicPr>
        <p:blipFill>
          <a:blip r:embed="rId10"/>
          <a:srcRect l="0" r="0" t="-405" b="-405"/>
          <a:stretch/>
        </p:blipFill>
        <p:spPr>
          <a:xfrm>
            <a:off x="8922715" y="7563002"/>
            <a:ext cx="2270455" cy="57607"/>
          </a:xfrm>
          <a:prstGeom prst="rect">
            <a:avLst/>
          </a:prstGeom>
        </p:spPr>
      </p:pic>
      <p:pic>
        <p:nvPicPr>
          <p:cNvPr id="39" name="Image 10" descr="gen-dedup-c7411ad6beed9ba42249e5d14059fb59.png">    </p:cNvPr>
          <p:cNvPicPr>
            <a:picLocks noChangeAspect="1"/>
          </p:cNvPicPr>
          <p:nvPr/>
        </p:nvPicPr>
        <p:blipFill>
          <a:blip r:embed="rId11"/>
          <a:srcRect l="0" r="0" t="0" b="0"/>
          <a:stretch/>
        </p:blipFill>
        <p:spPr>
          <a:xfrm>
            <a:off x="11194085" y="7448702"/>
            <a:ext cx="286207" cy="286207"/>
          </a:xfrm>
          <a:prstGeom prst="rect">
            <a:avLst/>
          </a:prstGeom>
        </p:spPr>
      </p:pic>
      <p:sp>
        <p:nvSpPr>
          <p:cNvPr id="40" name="Shape 26"/>
          <p:cNvSpPr/>
          <p:nvPr/>
        </p:nvSpPr>
        <p:spPr>
          <a:xfrm>
            <a:off x="11479378" y="7567574"/>
            <a:ext cx="2276856" cy="47549"/>
          </a:xfrm>
          <a:prstGeom prst="rect">
            <a:avLst/>
          </a:prstGeom>
          <a:solidFill>
            <a:srgbClr val="E8A317"/>
          </a:solidFill>
          <a:ln w="12700">
            <a:solidFill>
              <a:srgbClr val="E8A317">
                <a:alpha val="0"/>
              </a:srgbClr>
            </a:solidFill>
            <a:prstDash val="solid"/>
          </a:ln>
        </p:spPr>
      </p:sp>
      <p:sp>
        <p:nvSpPr>
          <p:cNvPr id="41" name="Shape 27"/>
          <p:cNvSpPr/>
          <p:nvPr/>
        </p:nvSpPr>
        <p:spPr>
          <a:xfrm>
            <a:off x="13749833" y="7429500"/>
            <a:ext cx="323698" cy="323698"/>
          </a:xfrm>
          <a:prstGeom prst="ellipse">
            <a:avLst/>
          </a:prstGeom>
          <a:noFill/>
          <a:ln w="50800">
            <a:solidFill>
              <a:srgbClr val="E8A317"/>
            </a:solidFill>
            <a:prstDash val="solid"/>
          </a:ln>
        </p:spPr>
      </p:sp>
      <p:sp>
        <p:nvSpPr>
          <p:cNvPr id="42" name="Shape 28"/>
          <p:cNvSpPr/>
          <p:nvPr/>
        </p:nvSpPr>
        <p:spPr>
          <a:xfrm>
            <a:off x="14074445" y="7567574"/>
            <a:ext cx="2276856" cy="47549"/>
          </a:xfrm>
          <a:prstGeom prst="rect">
            <a:avLst/>
          </a:prstGeom>
          <a:solidFill>
            <a:srgbClr val="C9D4E3"/>
          </a:solidFill>
          <a:ln w="12700">
            <a:solidFill>
              <a:srgbClr val="C9D4E3">
                <a:alpha val="0"/>
              </a:srgbClr>
            </a:solidFill>
            <a:prstDash val="solid"/>
          </a:ln>
        </p:spPr>
      </p:sp>
      <p:sp>
        <p:nvSpPr>
          <p:cNvPr id="43" name="Shape 29"/>
          <p:cNvSpPr/>
          <p:nvPr/>
        </p:nvSpPr>
        <p:spPr>
          <a:xfrm>
            <a:off x="16344900" y="7429500"/>
            <a:ext cx="323698" cy="323698"/>
          </a:xfrm>
          <a:prstGeom prst="ellipse">
            <a:avLst/>
          </a:prstGeom>
          <a:noFill/>
          <a:ln w="50800">
            <a:solidFill>
              <a:srgbClr val="C9D4E3"/>
            </a:solidFill>
            <a:prstDash val="solid"/>
          </a:ln>
        </p:spPr>
      </p:sp>
      <p:sp>
        <p:nvSpPr>
          <p:cNvPr id="44" name="Text 30"/>
          <p:cNvSpPr txBox="1"/>
          <p:nvPr/>
        </p:nvSpPr>
        <p:spPr>
          <a:xfrm>
            <a:off x="1619402" y="8086954"/>
            <a:ext cx="2771546" cy="372161"/>
          </a:xfrm>
          <a:prstGeom prst="rect">
            <a:avLst/>
          </a:prstGeom>
          <a:noFill/>
          <a:ln/>
        </p:spPr>
        <p:txBody>
          <a:bodyPr wrap="none" lIns="0" tIns="0" rIns="0" bIns="0" rtlCol="0" anchor="ctr"/>
          <a:lstStyle/>
          <a:p>
            <a:pPr algn="l" indent="0" marL="0">
              <a:buNone/>
            </a:pPr>
            <a:r>
              <a:rPr lang="en-US" sz="2025" b="1" dirty="0">
                <a:solidFill>
                  <a:srgbClr val="1F6FEB"/>
                </a:solidFill>
                <a:latin typeface="Pretendard" pitchFamily="34" charset="0"/>
                <a:ea typeface="Pretendard" pitchFamily="34" charset="-122"/>
                <a:cs typeface="Pretendard" pitchFamily="34" charset="-120"/>
              </a:rPr>
              <a:t>━</a:t>
            </a:r>
            <a:pPr algn="l" indent="0" marL="0">
              <a:buNone/>
            </a:pPr>
            <a:r>
              <a:rPr lang="en-US" sz="2025" dirty="0">
                <a:solidFill>
                  <a:srgbClr val="0A1F44"/>
                </a:solidFill>
                <a:latin typeface="Pretendard" pitchFamily="34" charset="0"/>
                <a:ea typeface="Pretendard" pitchFamily="34" charset="-122"/>
                <a:cs typeface="Pretendard" pitchFamily="34" charset="-120"/>
              </a:rPr>
              <a:t> 근거로 확인된 연결</a:t>
            </a:r>
            <a:endParaRPr lang="en-US" sz="2025" dirty="0"/>
          </a:p>
        </p:txBody>
      </p:sp>
      <p:sp>
        <p:nvSpPr>
          <p:cNvPr id="45" name="Text 31"/>
          <p:cNvSpPr txBox="1"/>
          <p:nvPr/>
        </p:nvSpPr>
        <p:spPr>
          <a:xfrm>
            <a:off x="4381805" y="8086954"/>
            <a:ext cx="1552651" cy="372161"/>
          </a:xfrm>
          <a:prstGeom prst="rect">
            <a:avLst/>
          </a:prstGeom>
          <a:noFill/>
          <a:ln/>
        </p:spPr>
        <p:txBody>
          <a:bodyPr wrap="none" lIns="0" tIns="0" rIns="0" bIns="0" rtlCol="0" anchor="ctr"/>
          <a:lstStyle/>
          <a:p>
            <a:pPr algn="l" indent="0" marL="0">
              <a:buNone/>
            </a:pPr>
            <a:r>
              <a:rPr lang="en-US" sz="2025" b="1" dirty="0">
                <a:solidFill>
                  <a:srgbClr val="E8A317"/>
                </a:solidFill>
                <a:latin typeface="Pretendard" pitchFamily="34" charset="0"/>
                <a:ea typeface="Pretendard" pitchFamily="34" charset="-122"/>
                <a:cs typeface="Pretendard" pitchFamily="34" charset="-120"/>
              </a:rPr>
              <a:t>┅</a:t>
            </a:r>
            <a:pPr algn="l" indent="0" marL="0">
              <a:buNone/>
            </a:pPr>
            <a:r>
              <a:rPr lang="en-US" sz="2025" dirty="0">
                <a:solidFill>
                  <a:srgbClr val="0A1F44"/>
                </a:solidFill>
                <a:latin typeface="Pretendard" pitchFamily="34" charset="0"/>
                <a:ea typeface="Pretendard" pitchFamily="34" charset="-122"/>
                <a:cs typeface="Pretendard" pitchFamily="34" charset="-120"/>
              </a:rPr>
              <a:t> 확인 필요</a:t>
            </a:r>
            <a:endParaRPr lang="en-US" sz="2025" dirty="0"/>
          </a:p>
        </p:txBody>
      </p:sp>
      <p:sp>
        <p:nvSpPr>
          <p:cNvPr id="46" name="Text 32"/>
          <p:cNvSpPr txBox="1"/>
          <p:nvPr/>
        </p:nvSpPr>
        <p:spPr>
          <a:xfrm>
            <a:off x="6190488" y="8086954"/>
            <a:ext cx="3739896" cy="372161"/>
          </a:xfrm>
          <a:prstGeom prst="rect">
            <a:avLst/>
          </a:prstGeom>
          <a:noFill/>
          <a:ln/>
        </p:spPr>
        <p:txBody>
          <a:bodyPr wrap="none" lIns="0" tIns="0" rIns="0" bIns="0" rtlCol="0" anchor="ctr"/>
          <a:lstStyle/>
          <a:p>
            <a:pPr algn="l" indent="0" marL="0">
              <a:buNone/>
            </a:pPr>
            <a:r>
              <a:rPr lang="en-US" sz="2025" b="1" dirty="0">
                <a:solidFill>
                  <a:srgbClr val="9FB0C8"/>
                </a:solidFill>
                <a:latin typeface="Pretendard" pitchFamily="34" charset="0"/>
                <a:ea typeface="Pretendard" pitchFamily="34" charset="-122"/>
                <a:cs typeface="Pretendard" pitchFamily="34" charset="-120"/>
              </a:rPr>
              <a:t>┅</a:t>
            </a:r>
            <a:pPr algn="l" indent="0" marL="0">
              <a:buNone/>
            </a:pPr>
            <a:r>
              <a:rPr lang="en-US" sz="2025" dirty="0">
                <a:solidFill>
                  <a:srgbClr val="0A1F44"/>
                </a:solidFill>
                <a:latin typeface="Pretendard" pitchFamily="34" charset="0"/>
                <a:ea typeface="Pretendard" pitchFamily="34" charset="-122"/>
                <a:cs typeface="Pretendard" pitchFamily="34" charset="-120"/>
              </a:rPr>
              <a:t> 미연결 · 임의로 잇지 않음</a:t>
            </a:r>
            <a:endParaRPr lang="en-US" sz="2025" dirty="0"/>
          </a:p>
        </p:txBody>
      </p:sp>
      <p:sp>
        <p:nvSpPr>
          <p:cNvPr id="47" name="Text 33"/>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48" name="Text 34"/>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44"/>
        </a:solidFill>
      </p:bgPr>
    </p:bg>
    <p:spTree>
      <p:nvGrpSpPr>
        <p:cNvPr id="1" name=""/>
        <p:cNvGrpSpPr/>
        <p:nvPr/>
      </p:nvGrpSpPr>
      <p:grpSpPr>
        <a:xfrm>
          <a:off x="0" y="0"/>
          <a:ext cx="0" cy="0"/>
          <a:chOff x="0" y="0"/>
          <a:chExt cx="0" cy="0"/>
        </a:xfrm>
      </p:grpSpPr>
      <p:sp>
        <p:nvSpPr>
          <p:cNvPr id="3" name="Shape 0"/>
          <p:cNvSpPr/>
          <p:nvPr/>
        </p:nvSpPr>
        <p:spPr>
          <a:xfrm>
            <a:off x="1143000" y="3619195"/>
            <a:ext cx="6096305" cy="5524805"/>
          </a:xfrm>
          <a:prstGeom prst="roundRect">
            <a:avLst>
              <a:gd name="adj" fmla="val 4138"/>
            </a:avLst>
          </a:prstGeom>
          <a:solidFill>
            <a:srgbClr val="12306A"/>
          </a:solidFill>
          <a:ln w="12700">
            <a:solidFill>
              <a:srgbClr val="FFFFFF">
                <a:alpha val="0"/>
              </a:srgbClr>
            </a:solidFill>
            <a:prstDash val="solid"/>
          </a:ln>
        </p:spPr>
      </p:sp>
      <p:sp>
        <p:nvSpPr>
          <p:cNvPr id="4" name="Text 1"/>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04 가장 큰 과제</a:t>
            </a:r>
            <a:endParaRPr lang="en-US" sz="2100" dirty="0"/>
          </a:p>
        </p:txBody>
      </p:sp>
      <p:sp>
        <p:nvSpPr>
          <p:cNvPr id="5" name="Text 2"/>
          <p:cNvSpPr txBox="1"/>
          <p:nvPr/>
        </p:nvSpPr>
        <p:spPr>
          <a:xfrm>
            <a:off x="1143000" y="1218895"/>
            <a:ext cx="16002000" cy="1390802"/>
          </a:xfrm>
          <a:prstGeom prst="rect">
            <a:avLst/>
          </a:prstGeom>
          <a:noFill/>
          <a:ln/>
        </p:spPr>
        <p:txBody>
          <a:bodyPr wrap="square" lIns="0" tIns="0" rIns="0" bIns="0" rtlCol="0" anchor="t"/>
          <a:lstStyle/>
          <a:p>
            <a:pPr algn="l" indent="0" marL="0">
              <a:lnSpc>
                <a:spcPct val="130000"/>
              </a:lnSpc>
              <a:buNone/>
            </a:pPr>
            <a:r>
              <a:rPr lang="en-US" sz="4200" b="1" spc="-112" kern="0" dirty="0">
                <a:solidFill>
                  <a:srgbClr val="FFFFFF"/>
                </a:solidFill>
                <a:latin typeface="Pretendard" pitchFamily="34" charset="0"/>
                <a:ea typeface="Pretendard" pitchFamily="34" charset="-122"/>
                <a:cs typeface="Pretendard" pitchFamily="34" charset="-120"/>
              </a:rPr>
              <a:t>데이터를 </a:t>
            </a:r>
            <a:pPr algn="l" indent="0" marL="0">
              <a:lnSpc>
                <a:spcPct val="130000"/>
              </a:lnSpc>
              <a:buNone/>
            </a:pPr>
            <a:r>
              <a:rPr lang="en-US" sz="4200" b="1" spc="-112" kern="0" dirty="0">
                <a:solidFill>
                  <a:srgbClr val="7FB2FF"/>
                </a:solidFill>
                <a:latin typeface="Pretendard" pitchFamily="34" charset="0"/>
                <a:ea typeface="Pretendard" pitchFamily="34" charset="-122"/>
                <a:cs typeface="Pretendard" pitchFamily="34" charset="-120"/>
              </a:rPr>
              <a:t>확보하는 것</a:t>
            </a:r>
            <a:pPr algn="l" indent="0" marL="0">
              <a:lnSpc>
                <a:spcPct val="130000"/>
              </a:lnSpc>
              <a:buNone/>
            </a:pPr>
            <a:r>
              <a:rPr lang="en-US" sz="4200" b="1" spc="-112" kern="0" dirty="0">
                <a:solidFill>
                  <a:srgbClr val="FFFFFF"/>
                </a:solidFill>
                <a:latin typeface="Pretendard" pitchFamily="34" charset="0"/>
                <a:ea typeface="Pretendard" pitchFamily="34" charset="-122"/>
                <a:cs typeface="Pretendard" pitchFamily="34" charset="-120"/>
              </a:rPr>
              <a:t>과</a:t>
            </a:r>
            <a:pPr algn="l" indent="0" marL="0">
              <a:lnSpc>
                <a:spcPct val="130000"/>
              </a:lnSpc>
              <a:buNone/>
            </a:pPr>
            <a:endParaRPr lang="en-US" sz="4200" dirty="0"/>
          </a:p>
          <a:p>
            <a:pPr algn="l" indent="0" marL="0">
              <a:lnSpc>
                <a:spcPct val="130000"/>
              </a:lnSpc>
              <a:buNone/>
            </a:pPr>
            <a:r>
              <a:rPr lang="en-US" sz="4200" b="1" spc="-112" kern="0" dirty="0">
                <a:solidFill>
                  <a:srgbClr val="12B5A6"/>
                </a:solidFill>
                <a:latin typeface="Pretendard" pitchFamily="34" charset="0"/>
                <a:ea typeface="Pretendard" pitchFamily="34" charset="-122"/>
                <a:cs typeface="Pretendard" pitchFamily="34" charset="-120"/>
              </a:rPr>
              <a:t>연결해서 활용하는 것</a:t>
            </a:r>
            <a:pPr algn="l" indent="0" marL="0">
              <a:lnSpc>
                <a:spcPct val="130000"/>
              </a:lnSpc>
              <a:buNone/>
            </a:pPr>
            <a:r>
              <a:rPr lang="en-US" sz="4200" b="1" spc="-112" kern="0" dirty="0">
                <a:solidFill>
                  <a:srgbClr val="FFFFFF"/>
                </a:solidFill>
                <a:latin typeface="Pretendard" pitchFamily="34" charset="0"/>
                <a:ea typeface="Pretendard" pitchFamily="34" charset="-122"/>
                <a:cs typeface="Pretendard" pitchFamily="34" charset="-120"/>
              </a:rPr>
              <a:t>은 다른 문제였습니다</a:t>
            </a:r>
            <a:endParaRPr lang="en-US" sz="4200" dirty="0"/>
          </a:p>
        </p:txBody>
      </p:sp>
      <p:sp>
        <p:nvSpPr>
          <p:cNvPr id="6" name="Text 3"/>
          <p:cNvSpPr txBox="1"/>
          <p:nvPr/>
        </p:nvSpPr>
        <p:spPr>
          <a:xfrm>
            <a:off x="1571854" y="3952951"/>
            <a:ext cx="5239512" cy="295351"/>
          </a:xfrm>
          <a:prstGeom prst="rect">
            <a:avLst/>
          </a:prstGeom>
          <a:noFill/>
          <a:ln/>
        </p:spPr>
        <p:txBody>
          <a:bodyPr wrap="none" lIns="0" tIns="0" rIns="0" bIns="0" rtlCol="0" anchor="ctr"/>
          <a:lstStyle/>
          <a:p>
            <a:pPr algn="l" indent="0" marL="0">
              <a:buNone/>
            </a:pPr>
            <a:r>
              <a:rPr lang="en-US" sz="1950" b="1" dirty="0">
                <a:solidFill>
                  <a:srgbClr val="7FB2FF"/>
                </a:solidFill>
                <a:latin typeface="Pretendard" pitchFamily="34" charset="0"/>
                <a:ea typeface="Pretendard" pitchFamily="34" charset="-122"/>
                <a:cs typeface="Pretendard" pitchFamily="34" charset="-120"/>
              </a:rPr>
              <a:t>같은 사업, 다른 이름 </a:t>
            </a:r>
            <a:pPr algn="l" indent="0" marL="0">
              <a:buNone/>
            </a:pPr>
            <a:r>
              <a:rPr lang="en-US" sz="1800" b="1" dirty="0">
                <a:solidFill>
                  <a:srgbClr val="8FA6C8"/>
                </a:solidFill>
                <a:latin typeface="Pretendard" pitchFamily="34" charset="0"/>
                <a:ea typeface="Pretendard" pitchFamily="34" charset="-122"/>
                <a:cs typeface="Pretendard" pitchFamily="34" charset="-120"/>
              </a:rPr>
              <a:t>(개념 예시)</a:t>
            </a:r>
            <a:endParaRPr lang="en-US" sz="1950" dirty="0"/>
          </a:p>
        </p:txBody>
      </p:sp>
      <p:sp>
        <p:nvSpPr>
          <p:cNvPr id="7" name="Shape 4"/>
          <p:cNvSpPr/>
          <p:nvPr/>
        </p:nvSpPr>
        <p:spPr>
          <a:xfrm>
            <a:off x="1571854" y="4533595"/>
            <a:ext cx="5238598" cy="647395"/>
          </a:xfrm>
          <a:prstGeom prst="roundRect">
            <a:avLst>
              <a:gd name="adj" fmla="val 17655"/>
            </a:avLst>
          </a:prstGeom>
          <a:solidFill>
            <a:srgbClr val="FFFFFF">
              <a:alpha val="8000"/>
            </a:srgbClr>
          </a:solidFill>
          <a:ln w="12700">
            <a:solidFill>
              <a:srgbClr val="FFFFFF">
                <a:alpha val="0"/>
              </a:srgbClr>
            </a:solidFill>
            <a:prstDash val="solid"/>
          </a:ln>
        </p:spPr>
      </p:sp>
      <p:sp>
        <p:nvSpPr>
          <p:cNvPr id="8" name="Text 5"/>
          <p:cNvSpPr txBox="1"/>
          <p:nvPr/>
        </p:nvSpPr>
        <p:spPr>
          <a:xfrm>
            <a:off x="1781251" y="4719218"/>
            <a:ext cx="1083564"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정책 자료</a:t>
            </a:r>
            <a:endParaRPr lang="en-US" sz="1800" dirty="0"/>
          </a:p>
        </p:txBody>
      </p:sp>
      <p:sp>
        <p:nvSpPr>
          <p:cNvPr id="9" name="Text 6"/>
          <p:cNvSpPr txBox="1"/>
          <p:nvPr/>
        </p:nvSpPr>
        <p:spPr>
          <a:xfrm>
            <a:off x="5035601" y="4686300"/>
            <a:ext cx="1791310"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 공공택지</a:t>
            </a:r>
            <a:endParaRPr lang="en-US" sz="2250" dirty="0"/>
          </a:p>
        </p:txBody>
      </p:sp>
      <p:sp>
        <p:nvSpPr>
          <p:cNvPr id="10" name="Shape 7"/>
          <p:cNvSpPr/>
          <p:nvPr/>
        </p:nvSpPr>
        <p:spPr>
          <a:xfrm>
            <a:off x="1571854" y="5352898"/>
            <a:ext cx="5238598" cy="647395"/>
          </a:xfrm>
          <a:prstGeom prst="roundRect">
            <a:avLst>
              <a:gd name="adj" fmla="val 17655"/>
            </a:avLst>
          </a:prstGeom>
          <a:solidFill>
            <a:srgbClr val="FFFFFF">
              <a:alpha val="8000"/>
            </a:srgbClr>
          </a:solidFill>
          <a:ln w="12700">
            <a:solidFill>
              <a:srgbClr val="FFFFFF">
                <a:alpha val="0"/>
              </a:srgbClr>
            </a:solidFill>
            <a:prstDash val="solid"/>
          </a:ln>
        </p:spPr>
      </p:sp>
      <p:sp>
        <p:nvSpPr>
          <p:cNvPr id="11" name="Text 8"/>
          <p:cNvSpPr txBox="1"/>
          <p:nvPr/>
        </p:nvSpPr>
        <p:spPr>
          <a:xfrm>
            <a:off x="1781251" y="5538521"/>
            <a:ext cx="706831"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인허가</a:t>
            </a:r>
            <a:endParaRPr lang="en-US" sz="1800" dirty="0"/>
          </a:p>
        </p:txBody>
      </p:sp>
      <p:sp>
        <p:nvSpPr>
          <p:cNvPr id="12" name="Text 9"/>
          <p:cNvSpPr txBox="1"/>
          <p:nvPr/>
        </p:nvSpPr>
        <p:spPr>
          <a:xfrm>
            <a:off x="4792370" y="5505602"/>
            <a:ext cx="1986077"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○○동 123번지</a:t>
            </a:r>
            <a:endParaRPr lang="en-US" sz="2250" dirty="0"/>
          </a:p>
        </p:txBody>
      </p:sp>
      <p:sp>
        <p:nvSpPr>
          <p:cNvPr id="13" name="Shape 10"/>
          <p:cNvSpPr/>
          <p:nvPr/>
        </p:nvSpPr>
        <p:spPr>
          <a:xfrm>
            <a:off x="1571854" y="6172200"/>
            <a:ext cx="5238598" cy="647395"/>
          </a:xfrm>
          <a:prstGeom prst="roundRect">
            <a:avLst>
              <a:gd name="adj" fmla="val 17655"/>
            </a:avLst>
          </a:prstGeom>
          <a:solidFill>
            <a:srgbClr val="FFFFFF">
              <a:alpha val="8000"/>
            </a:srgbClr>
          </a:solidFill>
          <a:ln w="12700">
            <a:solidFill>
              <a:srgbClr val="FFFFFF">
                <a:alpha val="0"/>
              </a:srgbClr>
            </a:solidFill>
            <a:prstDash val="solid"/>
          </a:ln>
        </p:spPr>
      </p:sp>
      <p:sp>
        <p:nvSpPr>
          <p:cNvPr id="14" name="Text 11"/>
          <p:cNvSpPr txBox="1"/>
          <p:nvPr/>
        </p:nvSpPr>
        <p:spPr>
          <a:xfrm>
            <a:off x="1781251" y="6357823"/>
            <a:ext cx="941832"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건설현황</a:t>
            </a:r>
            <a:endParaRPr lang="en-US" sz="1800" dirty="0"/>
          </a:p>
        </p:txBody>
      </p:sp>
      <p:sp>
        <p:nvSpPr>
          <p:cNvPr id="15" name="Text 12"/>
          <p:cNvSpPr txBox="1"/>
          <p:nvPr/>
        </p:nvSpPr>
        <p:spPr>
          <a:xfrm>
            <a:off x="5015484" y="6324905"/>
            <a:ext cx="1694383"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 A-3블록</a:t>
            </a:r>
            <a:endParaRPr lang="en-US" sz="2250" dirty="0"/>
          </a:p>
        </p:txBody>
      </p:sp>
      <p:sp>
        <p:nvSpPr>
          <p:cNvPr id="16" name="Shape 13"/>
          <p:cNvSpPr/>
          <p:nvPr/>
        </p:nvSpPr>
        <p:spPr>
          <a:xfrm>
            <a:off x="1571854" y="6991502"/>
            <a:ext cx="5238598" cy="647395"/>
          </a:xfrm>
          <a:prstGeom prst="roundRect">
            <a:avLst>
              <a:gd name="adj" fmla="val 17655"/>
            </a:avLst>
          </a:prstGeom>
          <a:solidFill>
            <a:srgbClr val="FFFFFF">
              <a:alpha val="8000"/>
            </a:srgbClr>
          </a:solidFill>
          <a:ln w="12700">
            <a:solidFill>
              <a:srgbClr val="FFFFFF">
                <a:alpha val="0"/>
              </a:srgbClr>
            </a:solidFill>
            <a:prstDash val="solid"/>
          </a:ln>
        </p:spPr>
      </p:sp>
      <p:sp>
        <p:nvSpPr>
          <p:cNvPr id="17" name="Text 14"/>
          <p:cNvSpPr txBox="1"/>
          <p:nvPr/>
        </p:nvSpPr>
        <p:spPr>
          <a:xfrm>
            <a:off x="1781251" y="7177126"/>
            <a:ext cx="941832"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모집공고</a:t>
            </a:r>
            <a:endParaRPr lang="en-US" sz="1800" dirty="0"/>
          </a:p>
        </p:txBody>
      </p:sp>
      <p:sp>
        <p:nvSpPr>
          <p:cNvPr id="18" name="Text 15"/>
          <p:cNvSpPr txBox="1"/>
          <p:nvPr/>
        </p:nvSpPr>
        <p:spPr>
          <a:xfrm>
            <a:off x="5035601" y="7144207"/>
            <a:ext cx="1791310"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 행복주택</a:t>
            </a:r>
            <a:endParaRPr lang="en-US" sz="2250" dirty="0"/>
          </a:p>
        </p:txBody>
      </p:sp>
      <p:sp>
        <p:nvSpPr>
          <p:cNvPr id="19" name="Text 16"/>
          <p:cNvSpPr txBox="1"/>
          <p:nvPr/>
        </p:nvSpPr>
        <p:spPr>
          <a:xfrm>
            <a:off x="1571854" y="7925105"/>
            <a:ext cx="5239512"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 공통 사업 ID가 없다</a:t>
            </a:r>
            <a:endParaRPr lang="en-US" sz="2250" dirty="0"/>
          </a:p>
        </p:txBody>
      </p:sp>
      <p:sp>
        <p:nvSpPr>
          <p:cNvPr id="20" name="Text 17"/>
          <p:cNvSpPr txBox="1"/>
          <p:nvPr/>
        </p:nvSpPr>
        <p:spPr>
          <a:xfrm>
            <a:off x="8191195" y="3666744"/>
            <a:ext cx="571500" cy="457200"/>
          </a:xfrm>
          <a:prstGeom prst="rect">
            <a:avLst/>
          </a:prstGeom>
          <a:noFill/>
          <a:ln/>
        </p:spPr>
        <p:txBody>
          <a:bodyPr wrap="none" lIns="0" tIns="0" rIns="0" bIns="0" rtlCol="0" anchor="ctr"/>
          <a:lstStyle/>
          <a:p>
            <a:pPr algn="l" indent="0" marL="0">
              <a:buNone/>
            </a:pPr>
            <a:r>
              <a:rPr lang="en-US" sz="3000" b="1" dirty="0">
                <a:solidFill>
                  <a:srgbClr val="12B5A6"/>
                </a:solidFill>
                <a:latin typeface="Pretendard" pitchFamily="34" charset="0"/>
                <a:ea typeface="Pretendard" pitchFamily="34" charset="-122"/>
                <a:cs typeface="Pretendard" pitchFamily="34" charset="-120"/>
              </a:rPr>
              <a:t>01</a:t>
            </a:r>
            <a:endParaRPr lang="en-US" sz="3000" dirty="0"/>
          </a:p>
        </p:txBody>
      </p:sp>
      <p:sp>
        <p:nvSpPr>
          <p:cNvPr id="21" name="Text 18"/>
          <p:cNvSpPr txBox="1"/>
          <p:nvPr/>
        </p:nvSpPr>
        <p:spPr>
          <a:xfrm>
            <a:off x="9010498" y="3666744"/>
            <a:ext cx="5170018"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기관마다 제공 방식·기준이 다름</a:t>
            </a:r>
            <a:endParaRPr lang="en-US" sz="2550" dirty="0"/>
          </a:p>
        </p:txBody>
      </p:sp>
      <p:sp>
        <p:nvSpPr>
          <p:cNvPr id="22" name="Text 19"/>
          <p:cNvSpPr txBox="1"/>
          <p:nvPr/>
        </p:nvSpPr>
        <p:spPr>
          <a:xfrm>
            <a:off x="9010498" y="4086454"/>
            <a:ext cx="4292194" cy="295351"/>
          </a:xfrm>
          <a:prstGeom prst="rect">
            <a:avLst/>
          </a:prstGeom>
          <a:noFill/>
          <a:ln/>
        </p:spPr>
        <p:txBody>
          <a:bodyPr wrap="none" lIns="0" tIns="0" rIns="0" bIns="0" rtlCol="0" anchor="ctr"/>
          <a:lstStyle/>
          <a:p>
            <a:pPr algn="l" indent="0" marL="0">
              <a:buNone/>
            </a:pPr>
            <a:r>
              <a:rPr lang="en-US" sz="1950" dirty="0">
                <a:solidFill>
                  <a:srgbClr val="8FA6C8"/>
                </a:solidFill>
                <a:latin typeface="Pretendard" pitchFamily="34" charset="0"/>
                <a:ea typeface="Pretendard" pitchFamily="34" charset="-122"/>
                <a:cs typeface="Pretendard" pitchFamily="34" charset="-120"/>
              </a:rPr>
              <a:t>웹 게시물, 파일, API가 섞여 있음</a:t>
            </a:r>
            <a:endParaRPr lang="en-US" sz="1950" dirty="0"/>
          </a:p>
        </p:txBody>
      </p:sp>
      <p:sp>
        <p:nvSpPr>
          <p:cNvPr id="23" name="Text 20"/>
          <p:cNvSpPr txBox="1"/>
          <p:nvPr/>
        </p:nvSpPr>
        <p:spPr>
          <a:xfrm>
            <a:off x="8191195" y="4629607"/>
            <a:ext cx="571500" cy="457200"/>
          </a:xfrm>
          <a:prstGeom prst="rect">
            <a:avLst/>
          </a:prstGeom>
          <a:noFill/>
          <a:ln/>
        </p:spPr>
        <p:txBody>
          <a:bodyPr wrap="none" lIns="0" tIns="0" rIns="0" bIns="0" rtlCol="0" anchor="ctr"/>
          <a:lstStyle/>
          <a:p>
            <a:pPr algn="l" indent="0" marL="0">
              <a:buNone/>
            </a:pPr>
            <a:r>
              <a:rPr lang="en-US" sz="3000" b="1" dirty="0">
                <a:solidFill>
                  <a:srgbClr val="12B5A6"/>
                </a:solidFill>
                <a:latin typeface="Pretendard" pitchFamily="34" charset="0"/>
                <a:ea typeface="Pretendard" pitchFamily="34" charset="-122"/>
                <a:cs typeface="Pretendard" pitchFamily="34" charset="-120"/>
              </a:rPr>
              <a:t>02</a:t>
            </a:r>
            <a:endParaRPr lang="en-US" sz="3000" dirty="0"/>
          </a:p>
        </p:txBody>
      </p:sp>
      <p:sp>
        <p:nvSpPr>
          <p:cNvPr id="24" name="Text 21"/>
          <p:cNvSpPr txBox="1"/>
          <p:nvPr/>
        </p:nvSpPr>
        <p:spPr>
          <a:xfrm>
            <a:off x="9010498" y="4629607"/>
            <a:ext cx="3525012"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공통 사업 식별자 부족</a:t>
            </a:r>
            <a:endParaRPr lang="en-US" sz="2550" dirty="0"/>
          </a:p>
        </p:txBody>
      </p:sp>
      <p:sp>
        <p:nvSpPr>
          <p:cNvPr id="25" name="Text 22"/>
          <p:cNvSpPr txBox="1"/>
          <p:nvPr/>
        </p:nvSpPr>
        <p:spPr>
          <a:xfrm>
            <a:off x="9010498" y="5048402"/>
            <a:ext cx="4499762" cy="295351"/>
          </a:xfrm>
          <a:prstGeom prst="rect">
            <a:avLst/>
          </a:prstGeom>
          <a:noFill/>
          <a:ln/>
        </p:spPr>
        <p:txBody>
          <a:bodyPr wrap="none" lIns="0" tIns="0" rIns="0" bIns="0" rtlCol="0" anchor="ctr"/>
          <a:lstStyle/>
          <a:p>
            <a:pPr algn="l" indent="0" marL="0">
              <a:buNone/>
            </a:pPr>
            <a:r>
              <a:rPr lang="en-US" sz="1950" dirty="0">
                <a:solidFill>
                  <a:srgbClr val="8FA6C8"/>
                </a:solidFill>
                <a:latin typeface="Pretendard" pitchFamily="34" charset="0"/>
                <a:ea typeface="Pretendard" pitchFamily="34" charset="-122"/>
                <a:cs typeface="Pretendard" pitchFamily="34" charset="-120"/>
              </a:rPr>
              <a:t>같은 사업도 명칭·관리 단위가 제각각</a:t>
            </a:r>
            <a:endParaRPr lang="en-US" sz="1950" dirty="0"/>
          </a:p>
        </p:txBody>
      </p:sp>
      <p:sp>
        <p:nvSpPr>
          <p:cNvPr id="26" name="Text 23"/>
          <p:cNvSpPr txBox="1"/>
          <p:nvPr/>
        </p:nvSpPr>
        <p:spPr>
          <a:xfrm>
            <a:off x="8191195" y="5591556"/>
            <a:ext cx="571500" cy="457200"/>
          </a:xfrm>
          <a:prstGeom prst="rect">
            <a:avLst/>
          </a:prstGeom>
          <a:noFill/>
          <a:ln/>
        </p:spPr>
        <p:txBody>
          <a:bodyPr wrap="none" lIns="0" tIns="0" rIns="0" bIns="0" rtlCol="0" anchor="ctr"/>
          <a:lstStyle/>
          <a:p>
            <a:pPr algn="l" indent="0" marL="0">
              <a:buNone/>
            </a:pPr>
            <a:r>
              <a:rPr lang="en-US" sz="3000" b="1" dirty="0">
                <a:solidFill>
                  <a:srgbClr val="12B5A6"/>
                </a:solidFill>
                <a:latin typeface="Pretendard" pitchFamily="34" charset="0"/>
                <a:ea typeface="Pretendard" pitchFamily="34" charset="-122"/>
                <a:cs typeface="Pretendard" pitchFamily="34" charset="-120"/>
              </a:rPr>
              <a:t>03</a:t>
            </a:r>
            <a:endParaRPr lang="en-US" sz="3000" dirty="0"/>
          </a:p>
        </p:txBody>
      </p:sp>
      <p:sp>
        <p:nvSpPr>
          <p:cNvPr id="27" name="Text 24"/>
          <p:cNvSpPr txBox="1"/>
          <p:nvPr/>
        </p:nvSpPr>
        <p:spPr>
          <a:xfrm>
            <a:off x="9010498" y="5591556"/>
            <a:ext cx="5130698"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API가 있어도 쓰기 어려운 경우</a:t>
            </a:r>
            <a:endParaRPr lang="en-US" sz="2550" dirty="0"/>
          </a:p>
        </p:txBody>
      </p:sp>
      <p:sp>
        <p:nvSpPr>
          <p:cNvPr id="28" name="Text 25"/>
          <p:cNvSpPr txBox="1"/>
          <p:nvPr/>
        </p:nvSpPr>
        <p:spPr>
          <a:xfrm>
            <a:off x="9010498" y="6010351"/>
            <a:ext cx="5747918" cy="295351"/>
          </a:xfrm>
          <a:prstGeom prst="rect">
            <a:avLst/>
          </a:prstGeom>
          <a:noFill/>
          <a:ln/>
        </p:spPr>
        <p:txBody>
          <a:bodyPr wrap="none" lIns="0" tIns="0" rIns="0" bIns="0" rtlCol="0" anchor="ctr"/>
          <a:lstStyle/>
          <a:p>
            <a:pPr algn="l" indent="0" marL="0">
              <a:buNone/>
            </a:pPr>
            <a:r>
              <a:rPr lang="en-US" sz="1950" dirty="0">
                <a:solidFill>
                  <a:srgbClr val="8FA6C8"/>
                </a:solidFill>
                <a:latin typeface="Pretendard" pitchFamily="34" charset="0"/>
                <a:ea typeface="Pretendard" pitchFamily="34" charset="-122"/>
                <a:cs typeface="Pretendard" pitchFamily="34" charset="-120"/>
              </a:rPr>
              <a:t>필요한 항목이 없거나 정상 이용이 안 되는 사례</a:t>
            </a:r>
            <a:endParaRPr lang="en-US" sz="1950" dirty="0"/>
          </a:p>
        </p:txBody>
      </p:sp>
      <p:sp>
        <p:nvSpPr>
          <p:cNvPr id="29" name="Text 26"/>
          <p:cNvSpPr txBox="1"/>
          <p:nvPr/>
        </p:nvSpPr>
        <p:spPr>
          <a:xfrm>
            <a:off x="8191195" y="6553505"/>
            <a:ext cx="571500" cy="457200"/>
          </a:xfrm>
          <a:prstGeom prst="rect">
            <a:avLst/>
          </a:prstGeom>
          <a:noFill/>
          <a:ln/>
        </p:spPr>
        <p:txBody>
          <a:bodyPr wrap="none" lIns="0" tIns="0" rIns="0" bIns="0" rtlCol="0" anchor="ctr"/>
          <a:lstStyle/>
          <a:p>
            <a:pPr algn="l" indent="0" marL="0">
              <a:buNone/>
            </a:pPr>
            <a:r>
              <a:rPr lang="en-US" sz="3000" b="1" dirty="0">
                <a:solidFill>
                  <a:srgbClr val="12B5A6"/>
                </a:solidFill>
                <a:latin typeface="Pretendard" pitchFamily="34" charset="0"/>
                <a:ea typeface="Pretendard" pitchFamily="34" charset="-122"/>
                <a:cs typeface="Pretendard" pitchFamily="34" charset="-120"/>
              </a:rPr>
              <a:t>04</a:t>
            </a:r>
            <a:endParaRPr lang="en-US" sz="3000" dirty="0"/>
          </a:p>
        </p:txBody>
      </p:sp>
      <p:sp>
        <p:nvSpPr>
          <p:cNvPr id="30" name="Text 27"/>
          <p:cNvSpPr txBox="1"/>
          <p:nvPr/>
        </p:nvSpPr>
        <p:spPr>
          <a:xfrm>
            <a:off x="9010498" y="6553505"/>
            <a:ext cx="5010912"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단계 간 직접 연결이 어려움</a:t>
            </a:r>
            <a:endParaRPr lang="en-US" sz="2550" dirty="0"/>
          </a:p>
        </p:txBody>
      </p:sp>
      <p:sp>
        <p:nvSpPr>
          <p:cNvPr id="31" name="Text 28"/>
          <p:cNvSpPr txBox="1"/>
          <p:nvPr/>
        </p:nvSpPr>
        <p:spPr>
          <a:xfrm>
            <a:off x="9010498" y="6972300"/>
            <a:ext cx="6936638" cy="295351"/>
          </a:xfrm>
          <a:prstGeom prst="rect">
            <a:avLst/>
          </a:prstGeom>
          <a:noFill/>
          <a:ln/>
        </p:spPr>
        <p:txBody>
          <a:bodyPr wrap="none" lIns="0" tIns="0" rIns="0" bIns="0" rtlCol="0" anchor="ctr"/>
          <a:lstStyle/>
          <a:p>
            <a:pPr algn="l" indent="0" marL="0">
              <a:buNone/>
            </a:pPr>
            <a:r>
              <a:rPr lang="en-US" sz="1950" dirty="0">
                <a:solidFill>
                  <a:srgbClr val="8FA6C8"/>
                </a:solidFill>
                <a:latin typeface="Pretendard" pitchFamily="34" charset="0"/>
                <a:ea typeface="Pretendard" pitchFamily="34" charset="-122"/>
                <a:cs typeface="Pretendard" pitchFamily="34" charset="-120"/>
              </a:rPr>
              <a:t>정책 · 사업 · 인허가 · 공급 · 입주 데이터가 따로 존재</a:t>
            </a:r>
            <a:endParaRPr lang="en-US" sz="1950" dirty="0"/>
          </a:p>
        </p:txBody>
      </p:sp>
      <p:sp>
        <p:nvSpPr>
          <p:cNvPr id="32" name="Text 29"/>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6F84A6"/>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33" name="Text 30"/>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6F84A6"/>
                </a:solidFill>
                <a:latin typeface="Pretendard" pitchFamily="34" charset="0"/>
                <a:ea typeface="Pretendard" pitchFamily="34" charset="-122"/>
                <a:cs typeface="Pretendard"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3" name="Shape 0"/>
          <p:cNvSpPr/>
          <p:nvPr/>
        </p:nvSpPr>
        <p:spPr>
          <a:xfrm>
            <a:off x="1143000" y="4667098"/>
            <a:ext cx="8572500" cy="4286707"/>
          </a:xfrm>
          <a:prstGeom prst="roundRect">
            <a:avLst>
              <a:gd name="adj" fmla="val 4437"/>
            </a:avLst>
          </a:prstGeom>
          <a:solidFill>
            <a:srgbClr val="FFFFFF"/>
          </a:solidFill>
          <a:ln w="12700">
            <a:solidFill>
              <a:srgbClr val="FFFFFF">
                <a:alpha val="0"/>
              </a:srgbClr>
            </a:solidFill>
            <a:prstDash val="solid"/>
          </a:ln>
        </p:spPr>
      </p:sp>
      <p:sp>
        <p:nvSpPr>
          <p:cNvPr id="4" name="Shape 1"/>
          <p:cNvSpPr/>
          <p:nvPr/>
        </p:nvSpPr>
        <p:spPr>
          <a:xfrm>
            <a:off x="10096805" y="4667098"/>
            <a:ext cx="7048195" cy="4286707"/>
          </a:xfrm>
          <a:prstGeom prst="roundRect">
            <a:avLst>
              <a:gd name="adj" fmla="val 4437"/>
            </a:avLst>
          </a:prstGeom>
          <a:solidFill>
            <a:srgbClr val="0A1F44"/>
          </a:solidFill>
          <a:ln w="12700">
            <a:solidFill>
              <a:srgbClr val="FFFFFF">
                <a:alpha val="0"/>
              </a:srgbClr>
            </a:solidFill>
            <a:prstDash val="solid"/>
          </a:ln>
        </p:spPr>
      </p:sp>
      <p:sp>
        <p:nvSpPr>
          <p:cNvPr id="5" name="Text 2"/>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05 데이터 확보 및 통합</a:t>
            </a:r>
            <a:endParaRPr lang="en-US" sz="2100" dirty="0"/>
          </a:p>
        </p:txBody>
      </p:sp>
      <p:sp>
        <p:nvSpPr>
          <p:cNvPr id="6" name="Text 3"/>
          <p:cNvSpPr txBox="1"/>
          <p:nvPr/>
        </p:nvSpPr>
        <p:spPr>
          <a:xfrm>
            <a:off x="1143000" y="1218895"/>
            <a:ext cx="16002000" cy="657454"/>
          </a:xfrm>
          <a:prstGeom prst="rect">
            <a:avLst/>
          </a:prstGeom>
          <a:noFill/>
          <a:ln/>
        </p:spPr>
        <p:txBody>
          <a:bodyPr wrap="none" lIns="0" tIns="0" rIns="0" bIns="0" rtlCol="0" anchor="ctr"/>
          <a:lstStyle/>
          <a:p>
            <a:pPr algn="l" indent="0" marL="0">
              <a:buNone/>
            </a:pPr>
            <a:r>
              <a:rPr lang="en-US" sz="4350" b="1" spc="-112" kern="0" dirty="0">
                <a:solidFill>
                  <a:srgbClr val="0A1F44"/>
                </a:solidFill>
                <a:latin typeface="Pretendard" pitchFamily="34" charset="0"/>
                <a:ea typeface="Pretendard" pitchFamily="34" charset="-122"/>
                <a:cs typeface="Pretendard" pitchFamily="34" charset="-120"/>
              </a:rPr>
              <a:t>각자 모은 데이터를, </a:t>
            </a:r>
            <a:pPr algn="l" indent="0" marL="0">
              <a:buNone/>
            </a:pPr>
            <a:r>
              <a:rPr lang="en-US" sz="4350" b="1" spc="-112" kern="0" dirty="0">
                <a:solidFill>
                  <a:srgbClr val="1F6FEB"/>
                </a:solidFill>
                <a:latin typeface="Pretendard" pitchFamily="34" charset="0"/>
                <a:ea typeface="Pretendard" pitchFamily="34" charset="-122"/>
                <a:cs typeface="Pretendard" pitchFamily="34" charset="-120"/>
              </a:rPr>
              <a:t>함께 검토하고 하나로</a:t>
            </a:r>
            <a:endParaRPr lang="en-US" sz="4350" dirty="0"/>
          </a:p>
        </p:txBody>
      </p:sp>
      <p:sp>
        <p:nvSpPr>
          <p:cNvPr id="7" name="Shape 4"/>
          <p:cNvSpPr/>
          <p:nvPr/>
        </p:nvSpPr>
        <p:spPr>
          <a:xfrm>
            <a:off x="1143000" y="2381098"/>
            <a:ext cx="2542946" cy="1809598"/>
          </a:xfrm>
          <a:prstGeom prst="roundRect">
            <a:avLst>
              <a:gd name="adj" fmla="val 8439"/>
            </a:avLst>
          </a:prstGeom>
          <a:solidFill>
            <a:srgbClr val="FFFFFF"/>
          </a:solidFill>
          <a:ln/>
        </p:spPr>
      </p:sp>
      <p:sp>
        <p:nvSpPr>
          <p:cNvPr id="8" name="Shape 5"/>
          <p:cNvSpPr/>
          <p:nvPr/>
        </p:nvSpPr>
        <p:spPr>
          <a:xfrm>
            <a:off x="1143000" y="4133088"/>
            <a:ext cx="2542946" cy="57607"/>
          </a:xfrm>
          <a:prstGeom prst="roundRect">
            <a:avLst>
              <a:gd name="adj" fmla="val 265080"/>
            </a:avLst>
          </a:prstGeom>
          <a:solidFill>
            <a:srgbClr val="12B5A6"/>
          </a:solidFill>
          <a:ln w="12700">
            <a:solidFill>
              <a:srgbClr val="12B5A6">
                <a:alpha val="0"/>
              </a:srgbClr>
            </a:solidFill>
            <a:prstDash val="solid"/>
          </a:ln>
        </p:spPr>
      </p:sp>
      <p:sp>
        <p:nvSpPr>
          <p:cNvPr id="9" name="Text 6"/>
          <p:cNvSpPr txBox="1"/>
          <p:nvPr/>
        </p:nvSpPr>
        <p:spPr>
          <a:xfrm>
            <a:off x="1333195" y="2609698"/>
            <a:ext cx="2162556"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1</a:t>
            </a:r>
            <a:endParaRPr lang="en-US" sz="2250" dirty="0"/>
          </a:p>
        </p:txBody>
      </p:sp>
      <p:sp>
        <p:nvSpPr>
          <p:cNvPr id="10" name="Text 7"/>
          <p:cNvSpPr txBox="1"/>
          <p:nvPr/>
        </p:nvSpPr>
        <p:spPr>
          <a:xfrm>
            <a:off x="1333195" y="3029407"/>
            <a:ext cx="2162556" cy="695858"/>
          </a:xfrm>
          <a:prstGeom prst="rect">
            <a:avLst/>
          </a:prstGeom>
          <a:noFill/>
          <a:ln/>
        </p:spPr>
        <p:txBody>
          <a:bodyPr wrap="square" lIns="0" tIns="0" rIns="0" bIns="0" rtlCol="0" anchor="t"/>
          <a:lstStyle/>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공식 공개자료·</a:t>
            </a:r>
            <a:pPr algn="l" indent="0" marL="0">
              <a:lnSpc>
                <a:spcPct val="135000"/>
              </a:lnSpc>
              <a:buNone/>
            </a:pPr>
            <a:endParaRPr lang="en-US" sz="2025" dirty="0"/>
          </a:p>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공공데이터 확보</a:t>
            </a:r>
            <a:endParaRPr lang="en-US" sz="2025" dirty="0"/>
          </a:p>
        </p:txBody>
      </p:sp>
      <p:sp>
        <p:nvSpPr>
          <p:cNvPr id="11" name="Shape 8"/>
          <p:cNvSpPr/>
          <p:nvPr/>
        </p:nvSpPr>
        <p:spPr>
          <a:xfrm>
            <a:off x="3834994" y="2381098"/>
            <a:ext cx="2542946" cy="1809598"/>
          </a:xfrm>
          <a:prstGeom prst="roundRect">
            <a:avLst>
              <a:gd name="adj" fmla="val 8439"/>
            </a:avLst>
          </a:prstGeom>
          <a:solidFill>
            <a:srgbClr val="FFFFFF"/>
          </a:solidFill>
          <a:ln/>
        </p:spPr>
      </p:sp>
      <p:sp>
        <p:nvSpPr>
          <p:cNvPr id="12" name="Shape 9"/>
          <p:cNvSpPr/>
          <p:nvPr/>
        </p:nvSpPr>
        <p:spPr>
          <a:xfrm>
            <a:off x="3834994" y="4133088"/>
            <a:ext cx="2542946" cy="57607"/>
          </a:xfrm>
          <a:prstGeom prst="roundRect">
            <a:avLst>
              <a:gd name="adj" fmla="val 265080"/>
            </a:avLst>
          </a:prstGeom>
          <a:solidFill>
            <a:srgbClr val="12B5A6"/>
          </a:solidFill>
          <a:ln w="12700">
            <a:solidFill>
              <a:srgbClr val="12B5A6">
                <a:alpha val="0"/>
              </a:srgbClr>
            </a:solidFill>
            <a:prstDash val="solid"/>
          </a:ln>
        </p:spPr>
      </p:sp>
      <p:sp>
        <p:nvSpPr>
          <p:cNvPr id="13" name="Text 10"/>
          <p:cNvSpPr txBox="1"/>
          <p:nvPr/>
        </p:nvSpPr>
        <p:spPr>
          <a:xfrm>
            <a:off x="4026103" y="2609698"/>
            <a:ext cx="2162556"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2</a:t>
            </a:r>
            <a:endParaRPr lang="en-US" sz="2250" dirty="0"/>
          </a:p>
        </p:txBody>
      </p:sp>
      <p:sp>
        <p:nvSpPr>
          <p:cNvPr id="14" name="Text 11"/>
          <p:cNvSpPr txBox="1"/>
          <p:nvPr/>
        </p:nvSpPr>
        <p:spPr>
          <a:xfrm>
            <a:off x="4026103" y="3029407"/>
            <a:ext cx="2162556" cy="695858"/>
          </a:xfrm>
          <a:prstGeom prst="rect">
            <a:avLst/>
          </a:prstGeom>
          <a:noFill/>
          <a:ln/>
        </p:spPr>
        <p:txBody>
          <a:bodyPr wrap="square" lIns="0" tIns="0" rIns="0" bIns="0" rtlCol="0" anchor="t"/>
          <a:lstStyle/>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구조·항목</a:t>
            </a:r>
            <a:pPr algn="l" indent="0" marL="0">
              <a:lnSpc>
                <a:spcPct val="135000"/>
              </a:lnSpc>
              <a:buNone/>
            </a:pPr>
            <a:endParaRPr lang="en-US" sz="2025" dirty="0"/>
          </a:p>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분석</a:t>
            </a:r>
            <a:endParaRPr lang="en-US" sz="2025" dirty="0"/>
          </a:p>
        </p:txBody>
      </p:sp>
      <p:sp>
        <p:nvSpPr>
          <p:cNvPr id="15" name="Shape 12"/>
          <p:cNvSpPr/>
          <p:nvPr/>
        </p:nvSpPr>
        <p:spPr>
          <a:xfrm>
            <a:off x="6527902" y="2381098"/>
            <a:ext cx="2542946" cy="1809598"/>
          </a:xfrm>
          <a:prstGeom prst="roundRect">
            <a:avLst>
              <a:gd name="adj" fmla="val 8439"/>
            </a:avLst>
          </a:prstGeom>
          <a:solidFill>
            <a:srgbClr val="FFFFFF"/>
          </a:solidFill>
          <a:ln/>
        </p:spPr>
      </p:sp>
      <p:sp>
        <p:nvSpPr>
          <p:cNvPr id="16" name="Shape 13"/>
          <p:cNvSpPr/>
          <p:nvPr/>
        </p:nvSpPr>
        <p:spPr>
          <a:xfrm>
            <a:off x="6527902" y="4133088"/>
            <a:ext cx="2542946" cy="57607"/>
          </a:xfrm>
          <a:prstGeom prst="roundRect">
            <a:avLst>
              <a:gd name="adj" fmla="val 265080"/>
            </a:avLst>
          </a:prstGeom>
          <a:solidFill>
            <a:srgbClr val="1F6FEB"/>
          </a:solidFill>
          <a:ln w="12700">
            <a:solidFill>
              <a:srgbClr val="1F6FEB">
                <a:alpha val="0"/>
              </a:srgbClr>
            </a:solidFill>
            <a:prstDash val="solid"/>
          </a:ln>
        </p:spPr>
      </p:sp>
      <p:sp>
        <p:nvSpPr>
          <p:cNvPr id="17" name="Text 14"/>
          <p:cNvSpPr txBox="1"/>
          <p:nvPr/>
        </p:nvSpPr>
        <p:spPr>
          <a:xfrm>
            <a:off x="6718097" y="2609698"/>
            <a:ext cx="2162556" cy="342900"/>
          </a:xfrm>
          <a:prstGeom prst="rect">
            <a:avLst/>
          </a:prstGeom>
          <a:noFill/>
          <a:ln/>
        </p:spPr>
        <p:txBody>
          <a:bodyPr wrap="none" lIns="0" tIns="0" rIns="0" bIns="0" rtlCol="0" anchor="ctr"/>
          <a:lstStyle/>
          <a:p>
            <a:pPr algn="l" indent="0" marL="0">
              <a:buNone/>
            </a:pPr>
            <a:r>
              <a:rPr lang="en-US" sz="2250" b="1" dirty="0">
                <a:solidFill>
                  <a:srgbClr val="1F6FEB"/>
                </a:solidFill>
                <a:latin typeface="Pretendard" pitchFamily="34" charset="0"/>
                <a:ea typeface="Pretendard" pitchFamily="34" charset="-122"/>
                <a:cs typeface="Pretendard" pitchFamily="34" charset="-120"/>
              </a:rPr>
              <a:t>3</a:t>
            </a:r>
            <a:endParaRPr lang="en-US" sz="2250" dirty="0"/>
          </a:p>
        </p:txBody>
      </p:sp>
      <p:sp>
        <p:nvSpPr>
          <p:cNvPr id="18" name="Text 15"/>
          <p:cNvSpPr txBox="1"/>
          <p:nvPr/>
        </p:nvSpPr>
        <p:spPr>
          <a:xfrm>
            <a:off x="6718097" y="3029407"/>
            <a:ext cx="2162556" cy="695858"/>
          </a:xfrm>
          <a:prstGeom prst="rect">
            <a:avLst/>
          </a:prstGeom>
          <a:noFill/>
          <a:ln/>
        </p:spPr>
        <p:txBody>
          <a:bodyPr wrap="square" lIns="0" tIns="0" rIns="0" bIns="0" rtlCol="0" anchor="t"/>
          <a:lstStyle/>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공통 데이터</a:t>
            </a:r>
            <a:pPr algn="l" indent="0" marL="0">
              <a:lnSpc>
                <a:spcPct val="135000"/>
              </a:lnSpc>
              <a:buNone/>
            </a:pPr>
            <a:endParaRPr lang="en-US" sz="2025" dirty="0"/>
          </a:p>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규격 마련</a:t>
            </a:r>
            <a:endParaRPr lang="en-US" sz="2025" dirty="0"/>
          </a:p>
        </p:txBody>
      </p:sp>
      <p:sp>
        <p:nvSpPr>
          <p:cNvPr id="19" name="Shape 16"/>
          <p:cNvSpPr/>
          <p:nvPr/>
        </p:nvSpPr>
        <p:spPr>
          <a:xfrm>
            <a:off x="9219895" y="2381098"/>
            <a:ext cx="2542946" cy="1809598"/>
          </a:xfrm>
          <a:prstGeom prst="roundRect">
            <a:avLst>
              <a:gd name="adj" fmla="val 8439"/>
            </a:avLst>
          </a:prstGeom>
          <a:solidFill>
            <a:srgbClr val="FFFFFF"/>
          </a:solidFill>
          <a:ln/>
        </p:spPr>
      </p:sp>
      <p:sp>
        <p:nvSpPr>
          <p:cNvPr id="20" name="Shape 17"/>
          <p:cNvSpPr/>
          <p:nvPr/>
        </p:nvSpPr>
        <p:spPr>
          <a:xfrm>
            <a:off x="9219895" y="4133088"/>
            <a:ext cx="2542946" cy="57607"/>
          </a:xfrm>
          <a:prstGeom prst="roundRect">
            <a:avLst>
              <a:gd name="adj" fmla="val 265080"/>
            </a:avLst>
          </a:prstGeom>
          <a:solidFill>
            <a:srgbClr val="1F6FEB"/>
          </a:solidFill>
          <a:ln w="12700">
            <a:solidFill>
              <a:srgbClr val="1F6FEB">
                <a:alpha val="0"/>
              </a:srgbClr>
            </a:solidFill>
            <a:prstDash val="solid"/>
          </a:ln>
        </p:spPr>
      </p:sp>
      <p:sp>
        <p:nvSpPr>
          <p:cNvPr id="21" name="Text 18"/>
          <p:cNvSpPr txBox="1"/>
          <p:nvPr/>
        </p:nvSpPr>
        <p:spPr>
          <a:xfrm>
            <a:off x="9411005" y="2609698"/>
            <a:ext cx="2162556" cy="342900"/>
          </a:xfrm>
          <a:prstGeom prst="rect">
            <a:avLst/>
          </a:prstGeom>
          <a:noFill/>
          <a:ln/>
        </p:spPr>
        <p:txBody>
          <a:bodyPr wrap="none" lIns="0" tIns="0" rIns="0" bIns="0" rtlCol="0" anchor="ctr"/>
          <a:lstStyle/>
          <a:p>
            <a:pPr algn="l" indent="0" marL="0">
              <a:buNone/>
            </a:pPr>
            <a:r>
              <a:rPr lang="en-US" sz="2250" b="1" dirty="0">
                <a:solidFill>
                  <a:srgbClr val="1F6FEB"/>
                </a:solidFill>
                <a:latin typeface="Pretendard" pitchFamily="34" charset="0"/>
                <a:ea typeface="Pretendard" pitchFamily="34" charset="-122"/>
                <a:cs typeface="Pretendard" pitchFamily="34" charset="-120"/>
              </a:rPr>
              <a:t>4</a:t>
            </a:r>
            <a:endParaRPr lang="en-US" sz="2250" dirty="0"/>
          </a:p>
        </p:txBody>
      </p:sp>
      <p:sp>
        <p:nvSpPr>
          <p:cNvPr id="22" name="Text 19"/>
          <p:cNvSpPr txBox="1"/>
          <p:nvPr/>
        </p:nvSpPr>
        <p:spPr>
          <a:xfrm>
            <a:off x="9411005" y="3029407"/>
            <a:ext cx="2162556" cy="695858"/>
          </a:xfrm>
          <a:prstGeom prst="rect">
            <a:avLst/>
          </a:prstGeom>
          <a:noFill/>
          <a:ln/>
        </p:spPr>
        <p:txBody>
          <a:bodyPr wrap="square" lIns="0" tIns="0" rIns="0" bIns="0" rtlCol="0" anchor="t"/>
          <a:lstStyle/>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중복·식별·연결</a:t>
            </a:r>
            <a:pPr algn="l" indent="0" marL="0">
              <a:lnSpc>
                <a:spcPct val="135000"/>
              </a:lnSpc>
              <a:buNone/>
            </a:pPr>
            <a:endParaRPr lang="en-US" sz="2025" dirty="0"/>
          </a:p>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가능성 검토</a:t>
            </a:r>
            <a:endParaRPr lang="en-US" sz="2025" dirty="0"/>
          </a:p>
        </p:txBody>
      </p:sp>
      <p:sp>
        <p:nvSpPr>
          <p:cNvPr id="23" name="Shape 20"/>
          <p:cNvSpPr/>
          <p:nvPr/>
        </p:nvSpPr>
        <p:spPr>
          <a:xfrm>
            <a:off x="11912803" y="2381098"/>
            <a:ext cx="2542946" cy="1809598"/>
          </a:xfrm>
          <a:prstGeom prst="roundRect">
            <a:avLst>
              <a:gd name="adj" fmla="val 8439"/>
            </a:avLst>
          </a:prstGeom>
          <a:solidFill>
            <a:srgbClr val="FFFFFF"/>
          </a:solidFill>
          <a:ln/>
        </p:spPr>
      </p:sp>
      <p:sp>
        <p:nvSpPr>
          <p:cNvPr id="24" name="Shape 21"/>
          <p:cNvSpPr/>
          <p:nvPr/>
        </p:nvSpPr>
        <p:spPr>
          <a:xfrm>
            <a:off x="11912803" y="4133088"/>
            <a:ext cx="2542946" cy="57607"/>
          </a:xfrm>
          <a:prstGeom prst="roundRect">
            <a:avLst>
              <a:gd name="adj" fmla="val 265080"/>
            </a:avLst>
          </a:prstGeom>
          <a:solidFill>
            <a:srgbClr val="0A1F44"/>
          </a:solidFill>
          <a:ln w="12700">
            <a:solidFill>
              <a:srgbClr val="0A1F44">
                <a:alpha val="0"/>
              </a:srgbClr>
            </a:solidFill>
            <a:prstDash val="solid"/>
          </a:ln>
        </p:spPr>
      </p:sp>
      <p:sp>
        <p:nvSpPr>
          <p:cNvPr id="25" name="Text 22"/>
          <p:cNvSpPr txBox="1"/>
          <p:nvPr/>
        </p:nvSpPr>
        <p:spPr>
          <a:xfrm>
            <a:off x="12102998" y="2609698"/>
            <a:ext cx="2162556"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5</a:t>
            </a:r>
            <a:endParaRPr lang="en-US" sz="2250" dirty="0"/>
          </a:p>
        </p:txBody>
      </p:sp>
      <p:sp>
        <p:nvSpPr>
          <p:cNvPr id="26" name="Text 23"/>
          <p:cNvSpPr txBox="1"/>
          <p:nvPr/>
        </p:nvSpPr>
        <p:spPr>
          <a:xfrm>
            <a:off x="12102998" y="3029407"/>
            <a:ext cx="2162556" cy="695858"/>
          </a:xfrm>
          <a:prstGeom prst="rect">
            <a:avLst/>
          </a:prstGeom>
          <a:noFill/>
          <a:ln/>
        </p:spPr>
        <p:txBody>
          <a:bodyPr wrap="square" lIns="0" tIns="0" rIns="0" bIns="0" rtlCol="0" anchor="t"/>
          <a:lstStyle/>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정책·프로그램·</a:t>
            </a:r>
            <a:pPr algn="l" indent="0" marL="0">
              <a:lnSpc>
                <a:spcPct val="135000"/>
              </a:lnSpc>
              <a:buNone/>
            </a:pPr>
            <a:endParaRPr lang="en-US" sz="2025" dirty="0"/>
          </a:p>
          <a:p>
            <a:pPr algn="l" indent="0" marL="0">
              <a:lnSpc>
                <a:spcPct val="135000"/>
              </a:lnSpc>
              <a:buNone/>
            </a:pPr>
            <a:r>
              <a:rPr lang="en-US" sz="2025" b="1" dirty="0">
                <a:solidFill>
                  <a:srgbClr val="0A1F44"/>
                </a:solidFill>
                <a:latin typeface="Pretendard" pitchFamily="34" charset="0"/>
                <a:ea typeface="Pretendard" pitchFamily="34" charset="-122"/>
                <a:cs typeface="Pretendard" pitchFamily="34" charset="-120"/>
              </a:rPr>
              <a:t>사업 구조 정리</a:t>
            </a:r>
            <a:endParaRPr lang="en-US" sz="2025" dirty="0"/>
          </a:p>
        </p:txBody>
      </p:sp>
      <p:sp>
        <p:nvSpPr>
          <p:cNvPr id="27" name="Shape 24"/>
          <p:cNvSpPr/>
          <p:nvPr/>
        </p:nvSpPr>
        <p:spPr>
          <a:xfrm>
            <a:off x="14604797" y="2381098"/>
            <a:ext cx="2542946" cy="1809598"/>
          </a:xfrm>
          <a:prstGeom prst="roundRect">
            <a:avLst>
              <a:gd name="adj" fmla="val 8439"/>
            </a:avLst>
          </a:prstGeom>
          <a:solidFill>
            <a:srgbClr val="0A1F44"/>
          </a:solidFill>
          <a:ln/>
        </p:spPr>
      </p:sp>
      <p:sp>
        <p:nvSpPr>
          <p:cNvPr id="28" name="Shape 25"/>
          <p:cNvSpPr/>
          <p:nvPr/>
        </p:nvSpPr>
        <p:spPr>
          <a:xfrm>
            <a:off x="14604797" y="4133088"/>
            <a:ext cx="2542946" cy="57607"/>
          </a:xfrm>
          <a:prstGeom prst="roundRect">
            <a:avLst>
              <a:gd name="adj" fmla="val 265080"/>
            </a:avLst>
          </a:prstGeom>
          <a:solidFill>
            <a:srgbClr val="0A1F44"/>
          </a:solidFill>
          <a:ln w="12700">
            <a:solidFill>
              <a:srgbClr val="0A1F44">
                <a:alpha val="0"/>
              </a:srgbClr>
            </a:solidFill>
            <a:prstDash val="solid"/>
          </a:ln>
        </p:spPr>
      </p:sp>
      <p:sp>
        <p:nvSpPr>
          <p:cNvPr id="29" name="Text 26"/>
          <p:cNvSpPr txBox="1"/>
          <p:nvPr/>
        </p:nvSpPr>
        <p:spPr>
          <a:xfrm>
            <a:off x="14795906" y="2609698"/>
            <a:ext cx="2162556"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6</a:t>
            </a:r>
            <a:endParaRPr lang="en-US" sz="2250" dirty="0"/>
          </a:p>
        </p:txBody>
      </p:sp>
      <p:sp>
        <p:nvSpPr>
          <p:cNvPr id="30" name="Text 27"/>
          <p:cNvSpPr txBox="1"/>
          <p:nvPr/>
        </p:nvSpPr>
        <p:spPr>
          <a:xfrm>
            <a:off x="14795906" y="3029407"/>
            <a:ext cx="2162556" cy="695858"/>
          </a:xfrm>
          <a:prstGeom prst="rect">
            <a:avLst/>
          </a:prstGeom>
          <a:noFill/>
          <a:ln/>
        </p:spPr>
        <p:txBody>
          <a:bodyPr wrap="square" lIns="0" tIns="0" rIns="0" bIns="0" rtlCol="0" anchor="t"/>
          <a:lstStyle/>
          <a:p>
            <a:pPr algn="l" indent="0" marL="0">
              <a:lnSpc>
                <a:spcPct val="135000"/>
              </a:lnSpc>
              <a:buNone/>
            </a:pPr>
            <a:r>
              <a:rPr lang="en-US" sz="2025" b="1" dirty="0">
                <a:solidFill>
                  <a:srgbClr val="FFFFFF"/>
                </a:solidFill>
                <a:latin typeface="Pretendard" pitchFamily="34" charset="0"/>
                <a:ea typeface="Pretendard" pitchFamily="34" charset="-122"/>
                <a:cs typeface="Pretendard" pitchFamily="34" charset="-120"/>
              </a:rPr>
              <a:t>실제 서비스와</a:t>
            </a:r>
            <a:pPr algn="l" indent="0" marL="0">
              <a:lnSpc>
                <a:spcPct val="135000"/>
              </a:lnSpc>
              <a:buNone/>
            </a:pPr>
            <a:endParaRPr lang="en-US" sz="2025" dirty="0"/>
          </a:p>
          <a:p>
            <a:pPr algn="l" indent="0" marL="0">
              <a:lnSpc>
                <a:spcPct val="135000"/>
              </a:lnSpc>
              <a:buNone/>
            </a:pPr>
            <a:r>
              <a:rPr lang="en-US" sz="2025" b="1" dirty="0">
                <a:solidFill>
                  <a:srgbClr val="FFFFFF"/>
                </a:solidFill>
                <a:latin typeface="Pretendard" pitchFamily="34" charset="0"/>
                <a:ea typeface="Pretendard" pitchFamily="34" charset="-122"/>
                <a:cs typeface="Pretendard" pitchFamily="34" charset="-120"/>
              </a:rPr>
              <a:t>연결</a:t>
            </a:r>
            <a:endParaRPr lang="en-US" sz="2025" dirty="0"/>
          </a:p>
        </p:txBody>
      </p:sp>
      <p:sp>
        <p:nvSpPr>
          <p:cNvPr id="31" name="Text 28"/>
          <p:cNvSpPr txBox="1"/>
          <p:nvPr/>
        </p:nvSpPr>
        <p:spPr>
          <a:xfrm>
            <a:off x="1619402" y="5000854"/>
            <a:ext cx="7810805"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확보량 ≠ 연결 완료</a:t>
            </a:r>
            <a:endParaRPr lang="en-US" sz="2250" dirty="0"/>
          </a:p>
        </p:txBody>
      </p:sp>
      <p:sp>
        <p:nvSpPr>
          <p:cNvPr id="32" name="Text 29"/>
          <p:cNvSpPr txBox="1"/>
          <p:nvPr/>
        </p:nvSpPr>
        <p:spPr>
          <a:xfrm>
            <a:off x="1619402" y="5629046"/>
            <a:ext cx="3924605" cy="277063"/>
          </a:xfrm>
          <a:prstGeom prst="rect">
            <a:avLst/>
          </a:prstGeom>
          <a:noFill/>
          <a:ln/>
        </p:spPr>
        <p:txBody>
          <a:bodyPr wrap="none" lIns="0" tIns="0" rIns="0" bIns="0" rtlCol="0" anchor="ctr"/>
          <a:lstStyle/>
          <a:p>
            <a:pPr algn="l" indent="0" marL="0">
              <a:buNone/>
            </a:pPr>
            <a:r>
              <a:rPr lang="en-US" sz="1800" dirty="0">
                <a:solidFill>
                  <a:srgbClr val="5B6B82"/>
                </a:solidFill>
                <a:latin typeface="Pretendard" pitchFamily="34" charset="0"/>
                <a:ea typeface="Pretendard" pitchFamily="34" charset="-122"/>
                <a:cs typeface="Pretendard" pitchFamily="34" charset="-120"/>
              </a:rPr>
              <a:t>추출 데이터 (행 × 컬럼)</a:t>
            </a:r>
            <a:endParaRPr lang="en-US" sz="1800" dirty="0"/>
          </a:p>
        </p:txBody>
      </p:sp>
      <p:sp>
        <p:nvSpPr>
          <p:cNvPr id="33" name="Text 30"/>
          <p:cNvSpPr txBox="1"/>
          <p:nvPr/>
        </p:nvSpPr>
        <p:spPr>
          <a:xfrm>
            <a:off x="1619402" y="5943600"/>
            <a:ext cx="3924605" cy="657454"/>
          </a:xfrm>
          <a:prstGeom prst="rect">
            <a:avLst/>
          </a:prstGeom>
          <a:noFill/>
          <a:ln/>
        </p:spPr>
        <p:txBody>
          <a:bodyPr wrap="none" lIns="0" tIns="0" rIns="0" bIns="0" rtlCol="0" anchor="ctr"/>
          <a:lstStyle/>
          <a:p>
            <a:pPr algn="l" indent="0" marL="0">
              <a:buNone/>
            </a:pPr>
            <a:r>
              <a:rPr lang="en-US" sz="4350" b="1" spc="-75" kern="0" dirty="0">
                <a:solidFill>
                  <a:srgbClr val="9FB0C8"/>
                </a:solidFill>
                <a:latin typeface="Pretendard" pitchFamily="34" charset="0"/>
                <a:ea typeface="Pretendard" pitchFamily="34" charset="-122"/>
                <a:cs typeface="Pretendard" pitchFamily="34" charset="-120"/>
              </a:rPr>
              <a:t>55,356,961</a:t>
            </a:r>
            <a:endParaRPr lang="en-US" sz="4350" dirty="0"/>
          </a:p>
        </p:txBody>
      </p:sp>
      <p:sp>
        <p:nvSpPr>
          <p:cNvPr id="34" name="Text 31"/>
          <p:cNvSpPr txBox="1"/>
          <p:nvPr/>
        </p:nvSpPr>
        <p:spPr>
          <a:xfrm>
            <a:off x="1619402" y="6734556"/>
            <a:ext cx="3924605" cy="277063"/>
          </a:xfrm>
          <a:prstGeom prst="rect">
            <a:avLst/>
          </a:prstGeom>
          <a:noFill/>
          <a:ln/>
        </p:spPr>
        <p:txBody>
          <a:bodyPr wrap="none" lIns="0" tIns="0" rIns="0" bIns="0" rtlCol="0" anchor="ctr"/>
          <a:lstStyle/>
          <a:p>
            <a:pPr algn="l" indent="0" marL="0">
              <a:buNone/>
            </a:pPr>
            <a:r>
              <a:rPr lang="en-US" sz="1800" dirty="0">
                <a:solidFill>
                  <a:srgbClr val="5B6B82"/>
                </a:solidFill>
                <a:latin typeface="Pretendard" pitchFamily="34" charset="0"/>
                <a:ea typeface="Pretendard" pitchFamily="34" charset="-122"/>
                <a:cs typeface="Pretendard" pitchFamily="34" charset="-120"/>
              </a:rPr>
              <a:t>수집 출처 </a:t>
            </a:r>
            <a:pPr algn="l" indent="0" marL="0">
              <a:buNone/>
            </a:pPr>
            <a:r>
              <a:rPr lang="en-US" sz="1800" b="1" dirty="0">
                <a:solidFill>
                  <a:srgbClr val="0A1F44"/>
                </a:solidFill>
                <a:latin typeface="Pretendard" pitchFamily="34" charset="0"/>
                <a:ea typeface="Pretendard" pitchFamily="34" charset="-122"/>
                <a:cs typeface="Pretendard" pitchFamily="34" charset="-120"/>
              </a:rPr>
              <a:t>62개</a:t>
            </a:r>
            <a:endParaRPr lang="en-US" sz="1800" dirty="0"/>
          </a:p>
        </p:txBody>
      </p:sp>
      <p:sp>
        <p:nvSpPr>
          <p:cNvPr id="35" name="Shape 32"/>
          <p:cNvSpPr/>
          <p:nvPr/>
        </p:nvSpPr>
        <p:spPr>
          <a:xfrm>
            <a:off x="5921654" y="5629046"/>
            <a:ext cx="28346" cy="1380744"/>
          </a:xfrm>
          <a:prstGeom prst="rect">
            <a:avLst/>
          </a:prstGeom>
          <a:solidFill>
            <a:srgbClr val="E8F0FE"/>
          </a:solidFill>
          <a:ln w="12700">
            <a:solidFill>
              <a:srgbClr val="E8F0FE">
                <a:alpha val="0"/>
              </a:srgbClr>
            </a:solidFill>
            <a:prstDash val="solid"/>
          </a:ln>
        </p:spPr>
      </p:sp>
      <p:sp>
        <p:nvSpPr>
          <p:cNvPr id="36" name="Text 33"/>
          <p:cNvSpPr txBox="1"/>
          <p:nvPr/>
        </p:nvSpPr>
        <p:spPr>
          <a:xfrm>
            <a:off x="6292901" y="5629046"/>
            <a:ext cx="3143707" cy="277063"/>
          </a:xfrm>
          <a:prstGeom prst="rect">
            <a:avLst/>
          </a:prstGeom>
          <a:noFill/>
          <a:ln/>
        </p:spPr>
        <p:txBody>
          <a:bodyPr wrap="none" lIns="0" tIns="0" rIns="0" bIns="0" rtlCol="0" anchor="ctr"/>
          <a:lstStyle/>
          <a:p>
            <a:pPr algn="l" indent="0" marL="0">
              <a:buNone/>
            </a:pPr>
            <a:r>
              <a:rPr lang="en-US" sz="1800" dirty="0">
                <a:solidFill>
                  <a:srgbClr val="5B6B82"/>
                </a:solidFill>
                <a:latin typeface="Pretendard" pitchFamily="34" charset="0"/>
                <a:ea typeface="Pretendard" pitchFamily="34" charset="-122"/>
                <a:cs typeface="Pretendard" pitchFamily="34" charset="-120"/>
              </a:rPr>
              <a:t>연결 데이터</a:t>
            </a:r>
            <a:endParaRPr lang="en-US" sz="1800" dirty="0"/>
          </a:p>
        </p:txBody>
      </p:sp>
      <p:sp>
        <p:nvSpPr>
          <p:cNvPr id="37" name="Text 34"/>
          <p:cNvSpPr txBox="1"/>
          <p:nvPr/>
        </p:nvSpPr>
        <p:spPr>
          <a:xfrm>
            <a:off x="6292901" y="5943600"/>
            <a:ext cx="3143707" cy="657454"/>
          </a:xfrm>
          <a:prstGeom prst="rect">
            <a:avLst/>
          </a:prstGeom>
          <a:noFill/>
          <a:ln/>
        </p:spPr>
        <p:txBody>
          <a:bodyPr wrap="none" lIns="0" tIns="0" rIns="0" bIns="0" rtlCol="0" anchor="ctr"/>
          <a:lstStyle/>
          <a:p>
            <a:pPr algn="l" indent="0" marL="0">
              <a:buNone/>
            </a:pPr>
            <a:r>
              <a:rPr lang="en-US" sz="4350" b="1" dirty="0">
                <a:solidFill>
                  <a:srgbClr val="1F6FEB"/>
                </a:solidFill>
                <a:latin typeface="Pretendard" pitchFamily="34" charset="0"/>
                <a:ea typeface="Pretendard" pitchFamily="34" charset="-122"/>
                <a:cs typeface="Pretendard" pitchFamily="34" charset="-120"/>
              </a:rPr>
              <a:t>884</a:t>
            </a:r>
            <a:pPr algn="l" indent="0" marL="0">
              <a:buNone/>
            </a:pPr>
            <a:r>
              <a:rPr lang="en-US" sz="2400" b="1" dirty="0">
                <a:solidFill>
                  <a:srgbClr val="1F6FEB"/>
                </a:solidFill>
                <a:latin typeface="Pretendard" pitchFamily="34" charset="0"/>
                <a:ea typeface="Pretendard" pitchFamily="34" charset="-122"/>
                <a:cs typeface="Pretendard" pitchFamily="34" charset="-120"/>
              </a:rPr>
              <a:t>건</a:t>
            </a:r>
            <a:endParaRPr lang="en-US" sz="4350" dirty="0"/>
          </a:p>
        </p:txBody>
      </p:sp>
      <p:sp>
        <p:nvSpPr>
          <p:cNvPr id="38" name="Text 35"/>
          <p:cNvSpPr txBox="1"/>
          <p:nvPr/>
        </p:nvSpPr>
        <p:spPr>
          <a:xfrm>
            <a:off x="6292901" y="6734556"/>
            <a:ext cx="3143707" cy="277063"/>
          </a:xfrm>
          <a:prstGeom prst="rect">
            <a:avLst/>
          </a:prstGeom>
          <a:noFill/>
          <a:ln/>
        </p:spPr>
        <p:txBody>
          <a:bodyPr wrap="none" lIns="0" tIns="0" rIns="0" bIns="0" rtlCol="0" anchor="ctr"/>
          <a:lstStyle/>
          <a:p>
            <a:pPr algn="l" indent="0" marL="0">
              <a:buNone/>
            </a:pPr>
            <a:r>
              <a:rPr lang="en-US" sz="1800" dirty="0">
                <a:solidFill>
                  <a:srgbClr val="5B6B82"/>
                </a:solidFill>
                <a:latin typeface="Pretendard" pitchFamily="34" charset="0"/>
                <a:ea typeface="Pretendard" pitchFamily="34" charset="-122"/>
                <a:cs typeface="Pretendard" pitchFamily="34" charset="-120"/>
              </a:rPr>
              <a:t>근거가 확인된 연결만</a:t>
            </a:r>
            <a:endParaRPr lang="en-US" sz="1800" dirty="0"/>
          </a:p>
        </p:txBody>
      </p:sp>
      <p:sp>
        <p:nvSpPr>
          <p:cNvPr id="39" name="Text 36"/>
          <p:cNvSpPr txBox="1"/>
          <p:nvPr/>
        </p:nvSpPr>
        <p:spPr>
          <a:xfrm>
            <a:off x="1619402" y="7318858"/>
            <a:ext cx="7810805" cy="720547"/>
          </a:xfrm>
          <a:prstGeom prst="rect">
            <a:avLst/>
          </a:prstGeom>
          <a:noFill/>
          <a:ln/>
        </p:spPr>
        <p:txBody>
          <a:bodyPr wrap="square" lIns="0" tIns="0" rIns="0" bIns="0" rtlCol="0" anchor="t"/>
          <a:lstStyle/>
          <a:p>
            <a:pPr algn="l" indent="0" marL="0">
              <a:lnSpc>
                <a:spcPts val="2700"/>
              </a:lnSpc>
              <a:buNone/>
            </a:pPr>
            <a:r>
              <a:rPr lang="en-US" sz="1800" dirty="0">
                <a:solidFill>
                  <a:srgbClr val="8A99B0"/>
                </a:solidFill>
                <a:latin typeface="Pretendard" pitchFamily="34" charset="0"/>
                <a:ea typeface="Pretendard" pitchFamily="34" charset="-122"/>
                <a:cs typeface="Pretendard" pitchFamily="34" charset="-120"/>
              </a:rPr>
              <a:t>출처: 서비스 ‘출처와 수집현황’ 화면 (2026-10-16 조회, 서울·인천·경기)</a:t>
            </a:r>
            <a:pPr algn="l" indent="0" marL="0">
              <a:lnSpc>
                <a:spcPts val="2700"/>
              </a:lnSpc>
              <a:buNone/>
            </a:pPr>
            <a:endParaRPr lang="en-US" sz="1800" dirty="0"/>
          </a:p>
          <a:p>
            <a:pPr algn="l" indent="0" marL="0">
              <a:lnSpc>
                <a:spcPts val="2700"/>
              </a:lnSpc>
              <a:buNone/>
            </a:pPr>
            <a:r>
              <a:rPr lang="en-US" sz="1800" dirty="0">
                <a:solidFill>
                  <a:srgbClr val="8A99B0"/>
                </a:solidFill>
                <a:latin typeface="Pretendard" pitchFamily="34" charset="0"/>
                <a:ea typeface="Pretendard" pitchFamily="34" charset="-122"/>
                <a:cs typeface="Pretendard" pitchFamily="34" charset="-120"/>
              </a:rPr>
              <a:t>수치는 자동 수집에 따라 매일 갱신됩니다.</a:t>
            </a:r>
            <a:endParaRPr lang="en-US" sz="1800" dirty="0"/>
          </a:p>
        </p:txBody>
      </p:sp>
      <p:sp>
        <p:nvSpPr>
          <p:cNvPr id="40" name="Text 37"/>
          <p:cNvSpPr txBox="1"/>
          <p:nvPr/>
        </p:nvSpPr>
        <p:spPr>
          <a:xfrm>
            <a:off x="10524744" y="5000854"/>
            <a:ext cx="6191402"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상태를 구분해서 관리</a:t>
            </a:r>
            <a:endParaRPr lang="en-US" sz="2250" dirty="0"/>
          </a:p>
        </p:txBody>
      </p:sp>
      <p:sp>
        <p:nvSpPr>
          <p:cNvPr id="41" name="Shape 38"/>
          <p:cNvSpPr/>
          <p:nvPr/>
        </p:nvSpPr>
        <p:spPr>
          <a:xfrm>
            <a:off x="10524744" y="5686654"/>
            <a:ext cx="209398" cy="209398"/>
          </a:xfrm>
          <a:prstGeom prst="ellipse">
            <a:avLst/>
          </a:prstGeom>
          <a:solidFill>
            <a:srgbClr val="12B5A6"/>
          </a:solidFill>
          <a:ln w="12700">
            <a:solidFill>
              <a:srgbClr val="FFFFFF">
                <a:alpha val="0"/>
              </a:srgbClr>
            </a:solidFill>
            <a:prstDash val="solid"/>
          </a:ln>
        </p:spPr>
      </p:sp>
      <p:sp>
        <p:nvSpPr>
          <p:cNvPr id="42" name="Text 39"/>
          <p:cNvSpPr txBox="1"/>
          <p:nvPr/>
        </p:nvSpPr>
        <p:spPr>
          <a:xfrm>
            <a:off x="13267944" y="5648249"/>
            <a:ext cx="2256739" cy="286207"/>
          </a:xfrm>
          <a:prstGeom prst="rect">
            <a:avLst/>
          </a:prstGeom>
          <a:noFill/>
          <a:ln/>
        </p:spPr>
        <p:txBody>
          <a:bodyPr wrap="none" lIns="0" tIns="0" rIns="0" bIns="0" rtlCol="0" anchor="ctr"/>
          <a:lstStyle/>
          <a:p>
            <a:pPr algn="l" indent="0" marL="0">
              <a:buNone/>
            </a:pPr>
            <a:r>
              <a:rPr lang="en-US" sz="1875" dirty="0">
                <a:solidFill>
                  <a:srgbClr val="8FA6C8"/>
                </a:solidFill>
                <a:latin typeface="Pretendard" pitchFamily="34" charset="0"/>
                <a:ea typeface="Pretendard" pitchFamily="34" charset="-122"/>
                <a:cs typeface="Pretendard" pitchFamily="34" charset="-120"/>
              </a:rPr>
              <a:t>연결된 자료가 있음</a:t>
            </a:r>
            <a:endParaRPr lang="en-US" sz="1875" dirty="0"/>
          </a:p>
        </p:txBody>
      </p:sp>
      <p:sp>
        <p:nvSpPr>
          <p:cNvPr id="43" name="Shape 40"/>
          <p:cNvSpPr/>
          <p:nvPr/>
        </p:nvSpPr>
        <p:spPr>
          <a:xfrm>
            <a:off x="10524744" y="6181344"/>
            <a:ext cx="209398" cy="209398"/>
          </a:xfrm>
          <a:prstGeom prst="ellipse">
            <a:avLst/>
          </a:prstGeom>
          <a:solidFill>
            <a:srgbClr val="E8A317"/>
          </a:solidFill>
          <a:ln w="12700">
            <a:solidFill>
              <a:srgbClr val="FFFFFF">
                <a:alpha val="0"/>
              </a:srgbClr>
            </a:solidFill>
            <a:prstDash val="solid"/>
          </a:ln>
        </p:spPr>
      </p:sp>
      <p:sp>
        <p:nvSpPr>
          <p:cNvPr id="44" name="Text 41"/>
          <p:cNvSpPr txBox="1"/>
          <p:nvPr/>
        </p:nvSpPr>
        <p:spPr>
          <a:xfrm>
            <a:off x="13267944" y="6143854"/>
            <a:ext cx="2746858" cy="286207"/>
          </a:xfrm>
          <a:prstGeom prst="rect">
            <a:avLst/>
          </a:prstGeom>
          <a:noFill/>
          <a:ln/>
        </p:spPr>
        <p:txBody>
          <a:bodyPr wrap="none" lIns="0" tIns="0" rIns="0" bIns="0" rtlCol="0" anchor="ctr"/>
          <a:lstStyle/>
          <a:p>
            <a:pPr algn="l" indent="0" marL="0">
              <a:buNone/>
            </a:pPr>
            <a:r>
              <a:rPr lang="en-US" sz="1875" dirty="0">
                <a:solidFill>
                  <a:srgbClr val="8FA6C8"/>
                </a:solidFill>
                <a:latin typeface="Pretendard" pitchFamily="34" charset="0"/>
                <a:ea typeface="Pretendard" pitchFamily="34" charset="-122"/>
                <a:cs typeface="Pretendard" pitchFamily="34" charset="-120"/>
              </a:rPr>
              <a:t>제공처는 알지만 미연결</a:t>
            </a:r>
            <a:endParaRPr lang="en-US" sz="1875" dirty="0"/>
          </a:p>
        </p:txBody>
      </p:sp>
      <p:sp>
        <p:nvSpPr>
          <p:cNvPr id="45" name="Shape 42"/>
          <p:cNvSpPr/>
          <p:nvPr/>
        </p:nvSpPr>
        <p:spPr>
          <a:xfrm>
            <a:off x="10524744" y="6676949"/>
            <a:ext cx="209398" cy="209398"/>
          </a:xfrm>
          <a:prstGeom prst="ellipse">
            <a:avLst/>
          </a:prstGeom>
          <a:solidFill>
            <a:srgbClr val="F07167"/>
          </a:solidFill>
          <a:ln w="12700">
            <a:solidFill>
              <a:srgbClr val="FFFFFF">
                <a:alpha val="0"/>
              </a:srgbClr>
            </a:solidFill>
            <a:prstDash val="solid"/>
          </a:ln>
        </p:spPr>
      </p:sp>
      <p:sp>
        <p:nvSpPr>
          <p:cNvPr id="46" name="Text 43"/>
          <p:cNvSpPr txBox="1"/>
          <p:nvPr/>
        </p:nvSpPr>
        <p:spPr>
          <a:xfrm>
            <a:off x="13267944" y="6638544"/>
            <a:ext cx="2403958" cy="286207"/>
          </a:xfrm>
          <a:prstGeom prst="rect">
            <a:avLst/>
          </a:prstGeom>
          <a:noFill/>
          <a:ln/>
        </p:spPr>
        <p:txBody>
          <a:bodyPr wrap="none" lIns="0" tIns="0" rIns="0" bIns="0" rtlCol="0" anchor="ctr"/>
          <a:lstStyle/>
          <a:p>
            <a:pPr algn="l" indent="0" marL="0">
              <a:buNone/>
            </a:pPr>
            <a:r>
              <a:rPr lang="en-US" sz="1875" dirty="0">
                <a:solidFill>
                  <a:srgbClr val="8FA6C8"/>
                </a:solidFill>
                <a:latin typeface="Pretendard" pitchFamily="34" charset="0"/>
                <a:ea typeface="Pretendard" pitchFamily="34" charset="-122"/>
                <a:cs typeface="Pretendard" pitchFamily="34" charset="-120"/>
              </a:rPr>
              <a:t>조회 방법을 못 찾음</a:t>
            </a:r>
            <a:endParaRPr lang="en-US" sz="1875" dirty="0"/>
          </a:p>
        </p:txBody>
      </p:sp>
      <p:sp>
        <p:nvSpPr>
          <p:cNvPr id="47" name="Shape 44"/>
          <p:cNvSpPr/>
          <p:nvPr/>
        </p:nvSpPr>
        <p:spPr>
          <a:xfrm>
            <a:off x="10524744" y="7172554"/>
            <a:ext cx="209398" cy="209398"/>
          </a:xfrm>
          <a:prstGeom prst="ellipse">
            <a:avLst/>
          </a:prstGeom>
          <a:noFill/>
          <a:ln w="38100">
            <a:solidFill>
              <a:srgbClr val="8FA6C8"/>
            </a:solidFill>
            <a:prstDash val="solid"/>
          </a:ln>
        </p:spPr>
      </p:sp>
      <p:sp>
        <p:nvSpPr>
          <p:cNvPr id="48" name="Text 45"/>
          <p:cNvSpPr txBox="1"/>
          <p:nvPr/>
        </p:nvSpPr>
        <p:spPr>
          <a:xfrm>
            <a:off x="13267944" y="7134149"/>
            <a:ext cx="2649931" cy="286207"/>
          </a:xfrm>
          <a:prstGeom prst="rect">
            <a:avLst/>
          </a:prstGeom>
          <a:noFill/>
          <a:ln/>
        </p:spPr>
        <p:txBody>
          <a:bodyPr wrap="none" lIns="0" tIns="0" rIns="0" bIns="0" rtlCol="0" anchor="ctr"/>
          <a:lstStyle/>
          <a:p>
            <a:pPr algn="l" indent="0" marL="0">
              <a:buNone/>
            </a:pPr>
            <a:r>
              <a:rPr lang="en-US" sz="1875" dirty="0">
                <a:solidFill>
                  <a:srgbClr val="8FA6C8"/>
                </a:solidFill>
                <a:latin typeface="Pretendard" pitchFamily="34" charset="0"/>
                <a:ea typeface="Pretendard" pitchFamily="34" charset="-122"/>
                <a:cs typeface="Pretendard" pitchFamily="34" charset="-120"/>
              </a:rPr>
              <a:t>근거가 있을 때만 표시</a:t>
            </a:r>
            <a:endParaRPr lang="en-US" sz="1875" dirty="0"/>
          </a:p>
        </p:txBody>
      </p:sp>
      <p:sp>
        <p:nvSpPr>
          <p:cNvPr id="49" name="Text 46"/>
          <p:cNvSpPr txBox="1"/>
          <p:nvPr/>
        </p:nvSpPr>
        <p:spPr>
          <a:xfrm>
            <a:off x="10906049" y="5629046"/>
            <a:ext cx="1303020" cy="324612"/>
          </a:xfrm>
          <a:prstGeom prst="rect">
            <a:avLst/>
          </a:prstGeom>
          <a:noFill/>
          <a:ln/>
        </p:spPr>
        <p:txBody>
          <a:bodyPr wrap="none" lIns="0" tIns="0" rIns="0" bIns="0" rtlCol="0" anchor="ctr"/>
          <a:lstStyle/>
          <a:p>
            <a:pPr algn="l" indent="0" marL="0">
              <a:buNone/>
            </a:pPr>
            <a:r>
              <a:rPr lang="en-US" sz="2100" b="1" dirty="0">
                <a:solidFill>
                  <a:srgbClr val="FFFFFF"/>
                </a:solidFill>
                <a:latin typeface="Pretendard" pitchFamily="34" charset="0"/>
                <a:ea typeface="Pretendard" pitchFamily="34" charset="-122"/>
                <a:cs typeface="Pretendard" pitchFamily="34" charset="-120"/>
              </a:rPr>
              <a:t>원천 확보</a:t>
            </a:r>
            <a:endParaRPr lang="en-US" sz="2100" dirty="0"/>
          </a:p>
        </p:txBody>
      </p:sp>
      <p:sp>
        <p:nvSpPr>
          <p:cNvPr id="50" name="Text 47"/>
          <p:cNvSpPr txBox="1"/>
          <p:nvPr/>
        </p:nvSpPr>
        <p:spPr>
          <a:xfrm>
            <a:off x="10906049" y="6124651"/>
            <a:ext cx="2040026" cy="324612"/>
          </a:xfrm>
          <a:prstGeom prst="rect">
            <a:avLst/>
          </a:prstGeom>
          <a:noFill/>
          <a:ln/>
        </p:spPr>
        <p:txBody>
          <a:bodyPr wrap="none" lIns="0" tIns="0" rIns="0" bIns="0" rtlCol="0" anchor="ctr"/>
          <a:lstStyle/>
          <a:p>
            <a:pPr algn="l" indent="0" marL="0">
              <a:buNone/>
            </a:pPr>
            <a:r>
              <a:rPr lang="en-US" sz="2100" b="1" dirty="0">
                <a:solidFill>
                  <a:srgbClr val="FFFFFF"/>
                </a:solidFill>
                <a:latin typeface="Pretendard" pitchFamily="34" charset="0"/>
                <a:ea typeface="Pretendard" pitchFamily="34" charset="-122"/>
                <a:cs typeface="Pretendard" pitchFamily="34" charset="-120"/>
              </a:rPr>
              <a:t>수집·연결 필요</a:t>
            </a:r>
            <a:endParaRPr lang="en-US" sz="2100" dirty="0"/>
          </a:p>
        </p:txBody>
      </p:sp>
      <p:sp>
        <p:nvSpPr>
          <p:cNvPr id="51" name="Text 48"/>
          <p:cNvSpPr txBox="1"/>
          <p:nvPr/>
        </p:nvSpPr>
        <p:spPr>
          <a:xfrm>
            <a:off x="10906049" y="6620256"/>
            <a:ext cx="2322576" cy="324612"/>
          </a:xfrm>
          <a:prstGeom prst="rect">
            <a:avLst/>
          </a:prstGeom>
          <a:noFill/>
          <a:ln/>
        </p:spPr>
        <p:txBody>
          <a:bodyPr wrap="none" lIns="0" tIns="0" rIns="0" bIns="0" rtlCol="0" anchor="ctr"/>
          <a:lstStyle/>
          <a:p>
            <a:pPr algn="l" indent="0" marL="0">
              <a:buNone/>
            </a:pPr>
            <a:r>
              <a:rPr lang="en-US" sz="2100" b="1" dirty="0">
                <a:solidFill>
                  <a:srgbClr val="FFFFFF"/>
                </a:solidFill>
                <a:latin typeface="Pretendard" pitchFamily="34" charset="0"/>
                <a:ea typeface="Pretendard" pitchFamily="34" charset="-122"/>
                <a:cs typeface="Pretendard" pitchFamily="34" charset="-120"/>
              </a:rPr>
              <a:t>수집 방안 미확인</a:t>
            </a:r>
            <a:endParaRPr lang="en-US" sz="2100" dirty="0"/>
          </a:p>
        </p:txBody>
      </p:sp>
      <p:sp>
        <p:nvSpPr>
          <p:cNvPr id="52" name="Text 49"/>
          <p:cNvSpPr txBox="1"/>
          <p:nvPr/>
        </p:nvSpPr>
        <p:spPr>
          <a:xfrm>
            <a:off x="10906049" y="7114946"/>
            <a:ext cx="2322576" cy="324612"/>
          </a:xfrm>
          <a:prstGeom prst="rect">
            <a:avLst/>
          </a:prstGeom>
          <a:noFill/>
          <a:ln/>
        </p:spPr>
        <p:txBody>
          <a:bodyPr wrap="none" lIns="0" tIns="0" rIns="0" bIns="0" rtlCol="0" anchor="ctr"/>
          <a:lstStyle/>
          <a:p>
            <a:pPr algn="l" indent="0" marL="0">
              <a:buNone/>
            </a:pPr>
            <a:r>
              <a:rPr lang="en-US" sz="2100" b="1" dirty="0">
                <a:solidFill>
                  <a:srgbClr val="FFFFFF"/>
                </a:solidFill>
                <a:latin typeface="Pretendard" pitchFamily="34" charset="0"/>
                <a:ea typeface="Pretendard" pitchFamily="34" charset="-122"/>
                <a:cs typeface="Pretendard" pitchFamily="34" charset="-120"/>
              </a:rPr>
              <a:t>아직 계획 미수립</a:t>
            </a:r>
            <a:endParaRPr lang="en-US" sz="2100" dirty="0"/>
          </a:p>
        </p:txBody>
      </p:sp>
      <p:sp>
        <p:nvSpPr>
          <p:cNvPr id="53" name="Text 50"/>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54" name="Text 51"/>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06 데이터 연결 구조</a:t>
            </a:r>
            <a:endParaRPr lang="en-US" sz="2100" dirty="0"/>
          </a:p>
        </p:txBody>
      </p:sp>
      <p:sp>
        <p:nvSpPr>
          <p:cNvPr id="4" name="Text 1"/>
          <p:cNvSpPr txBox="1"/>
          <p:nvPr/>
        </p:nvSpPr>
        <p:spPr>
          <a:xfrm>
            <a:off x="1143000" y="1218895"/>
            <a:ext cx="16002000" cy="1390802"/>
          </a:xfrm>
          <a:prstGeom prst="rect">
            <a:avLst/>
          </a:prstGeom>
          <a:noFill/>
          <a:ln/>
        </p:spPr>
        <p:txBody>
          <a:bodyPr wrap="square" lIns="0" tIns="0" rIns="0" bIns="0" rtlCol="0" anchor="t"/>
          <a:lstStyle/>
          <a:p>
            <a:pPr algn="l" indent="0" marL="0">
              <a:lnSpc>
                <a:spcPct val="130000"/>
              </a:lnSpc>
              <a:buNone/>
            </a:pPr>
            <a:r>
              <a:rPr lang="en-US" sz="4200" b="1" spc="-112" kern="0" dirty="0">
                <a:solidFill>
                  <a:srgbClr val="1F6FEB"/>
                </a:solidFill>
                <a:latin typeface="Pretendard" pitchFamily="34" charset="0"/>
                <a:ea typeface="Pretendard" pitchFamily="34" charset="-122"/>
                <a:cs typeface="Pretendard" pitchFamily="34" charset="-120"/>
              </a:rPr>
              <a:t>정책–프로그램–사업</a:t>
            </a:r>
            <a:pPr algn="l" indent="0" marL="0">
              <a:lnSpc>
                <a:spcPct val="130000"/>
              </a:lnSpc>
              <a:buNone/>
            </a:pPr>
            <a:r>
              <a:rPr lang="en-US" sz="4200" b="1" spc="-112" kern="0" dirty="0">
                <a:solidFill>
                  <a:srgbClr val="0A1F44"/>
                </a:solidFill>
                <a:latin typeface="Pretendard" pitchFamily="34" charset="0"/>
                <a:ea typeface="Pretendard" pitchFamily="34" charset="-122"/>
                <a:cs typeface="Pretendard" pitchFamily="34" charset="-120"/>
              </a:rPr>
              <a:t>을 중심으로</a:t>
            </a:r>
            <a:pPr algn="l" indent="0" marL="0">
              <a:lnSpc>
                <a:spcPct val="130000"/>
              </a:lnSpc>
              <a:buNone/>
            </a:pPr>
            <a:endParaRPr lang="en-US" sz="4200" dirty="0"/>
          </a:p>
          <a:p>
            <a:pPr algn="l" indent="0" marL="0">
              <a:lnSpc>
                <a:spcPct val="130000"/>
              </a:lnSpc>
              <a:buNone/>
            </a:pPr>
            <a:r>
              <a:rPr lang="en-US" sz="4200" b="1" spc="-112" kern="0" dirty="0">
                <a:solidFill>
                  <a:srgbClr val="0A1F44"/>
                </a:solidFill>
                <a:latin typeface="Pretendard" pitchFamily="34" charset="0"/>
                <a:ea typeface="Pretendard" pitchFamily="34" charset="-122"/>
                <a:cs typeface="Pretendard" pitchFamily="34" charset="-120"/>
              </a:rPr>
              <a:t>연결의 기준을 마련했습니다</a:t>
            </a:r>
            <a:endParaRPr lang="en-US" sz="4200" dirty="0"/>
          </a:p>
        </p:txBody>
      </p:sp>
      <p:sp>
        <p:nvSpPr>
          <p:cNvPr id="5" name="Shape 2"/>
          <p:cNvSpPr/>
          <p:nvPr/>
        </p:nvSpPr>
        <p:spPr>
          <a:xfrm>
            <a:off x="1143000" y="3238805"/>
            <a:ext cx="3143707" cy="2514600"/>
          </a:xfrm>
          <a:prstGeom prst="roundRect">
            <a:avLst>
              <a:gd name="adj" fmla="val 7564"/>
            </a:avLst>
          </a:prstGeom>
          <a:solidFill>
            <a:srgbClr val="0A1F44"/>
          </a:solidFill>
          <a:ln w="12700">
            <a:solidFill>
              <a:srgbClr val="FFFFFF">
                <a:alpha val="0"/>
              </a:srgbClr>
            </a:solidFill>
            <a:prstDash val="solid"/>
          </a:ln>
        </p:spPr>
      </p:sp>
      <p:sp>
        <p:nvSpPr>
          <p:cNvPr id="6" name="Text 3"/>
          <p:cNvSpPr txBox="1"/>
          <p:nvPr/>
        </p:nvSpPr>
        <p:spPr>
          <a:xfrm>
            <a:off x="1410005" y="3524098"/>
            <a:ext cx="2610612" cy="277063"/>
          </a:xfrm>
          <a:prstGeom prst="rect">
            <a:avLst/>
          </a:prstGeom>
          <a:noFill/>
          <a:ln/>
        </p:spPr>
        <p:txBody>
          <a:bodyPr wrap="none" lIns="0" tIns="0" rIns="0" bIns="0" rtlCol="0" anchor="ctr"/>
          <a:lstStyle/>
          <a:p>
            <a:pPr algn="l" indent="0" marL="0">
              <a:buNone/>
            </a:pPr>
            <a:r>
              <a:rPr lang="en-US" sz="1800" b="1" dirty="0">
                <a:solidFill>
                  <a:srgbClr val="12B5A6"/>
                </a:solidFill>
                <a:latin typeface="Pretendard" pitchFamily="34" charset="0"/>
                <a:ea typeface="Pretendard" pitchFamily="34" charset="-122"/>
                <a:cs typeface="Pretendard" pitchFamily="34" charset="-120"/>
              </a:rPr>
              <a:t>정책</a:t>
            </a:r>
            <a:endParaRPr lang="en-US" sz="1800" dirty="0"/>
          </a:p>
        </p:txBody>
      </p:sp>
      <p:sp>
        <p:nvSpPr>
          <p:cNvPr id="7" name="Text 4"/>
          <p:cNvSpPr txBox="1"/>
          <p:nvPr/>
        </p:nvSpPr>
        <p:spPr>
          <a:xfrm>
            <a:off x="1410005" y="3895344"/>
            <a:ext cx="2610612" cy="848563"/>
          </a:xfrm>
          <a:prstGeom prst="rect">
            <a:avLst/>
          </a:prstGeom>
          <a:noFill/>
          <a:ln/>
        </p:spPr>
        <p:txBody>
          <a:bodyPr wrap="square" lIns="0" tIns="0" rIns="0" bIns="0" rtlCol="0" anchor="t"/>
          <a:lstStyle/>
          <a:p>
            <a:pPr algn="l" indent="0" marL="0">
              <a:lnSpc>
                <a:spcPct val="130000"/>
              </a:lnSpc>
              <a:buNone/>
            </a:pPr>
            <a:r>
              <a:rPr lang="en-US" sz="2550" b="1" dirty="0">
                <a:solidFill>
                  <a:srgbClr val="FFFFFF"/>
                </a:solidFill>
                <a:latin typeface="Pretendard" pitchFamily="34" charset="0"/>
                <a:ea typeface="Pretendard" pitchFamily="34" charset="-122"/>
                <a:cs typeface="Pretendard" pitchFamily="34" charset="-120"/>
              </a:rPr>
              <a:t>무엇을</a:t>
            </a:r>
            <a:pPr algn="l" indent="0" marL="0">
              <a:lnSpc>
                <a:spcPct val="130000"/>
              </a:lnSpc>
              <a:buNone/>
            </a:pPr>
            <a:endParaRPr lang="en-US" sz="2550" dirty="0"/>
          </a:p>
          <a:p>
            <a:pPr algn="l" indent="0" marL="0">
              <a:lnSpc>
                <a:spcPct val="130000"/>
              </a:lnSpc>
              <a:buNone/>
            </a:pPr>
            <a:r>
              <a:rPr lang="en-US" sz="2550" b="1" dirty="0">
                <a:solidFill>
                  <a:srgbClr val="FFFFFF"/>
                </a:solidFill>
                <a:latin typeface="Pretendard" pitchFamily="34" charset="0"/>
                <a:ea typeface="Pretendard" pitchFamily="34" charset="-122"/>
                <a:cs typeface="Pretendard" pitchFamily="34" charset="-120"/>
              </a:rPr>
              <a:t>하겠다</a:t>
            </a:r>
            <a:endParaRPr lang="en-US" sz="2550" dirty="0"/>
          </a:p>
        </p:txBody>
      </p:sp>
      <p:sp>
        <p:nvSpPr>
          <p:cNvPr id="8" name="Text 5"/>
          <p:cNvSpPr txBox="1"/>
          <p:nvPr/>
        </p:nvSpPr>
        <p:spPr>
          <a:xfrm>
            <a:off x="1410005" y="4908499"/>
            <a:ext cx="2610612" cy="553212"/>
          </a:xfrm>
          <a:prstGeom prst="rect">
            <a:avLst/>
          </a:prstGeom>
          <a:noFill/>
          <a:ln/>
        </p:spPr>
        <p:txBody>
          <a:bodyPr wrap="square" lIns="0" tIns="0" rIns="0" bIns="0" rtlCol="0" anchor="t"/>
          <a:lstStyle/>
          <a:p>
            <a:pPr algn="l" indent="0" marL="0">
              <a:buNone/>
            </a:pPr>
            <a:r>
              <a:rPr lang="en-US" sz="1800" dirty="0">
                <a:solidFill>
                  <a:srgbClr val="B8C7DE"/>
                </a:solidFill>
                <a:latin typeface="Pretendard" pitchFamily="34" charset="0"/>
                <a:ea typeface="Pretendard" pitchFamily="34" charset="-122"/>
                <a:cs typeface="Pretendard" pitchFamily="34" charset="-120"/>
              </a:rPr>
              <a:t>예) 9·7 주택공급</a:t>
            </a:r>
            <a:pPr algn="l" indent="0" marL="0">
              <a:buNone/>
            </a:pPr>
            <a:endParaRPr lang="en-US" sz="1800" dirty="0"/>
          </a:p>
          <a:p>
            <a:pPr algn="l" indent="0" marL="0">
              <a:buNone/>
            </a:pPr>
            <a:r>
              <a:rPr lang="en-US" sz="1800" dirty="0">
                <a:solidFill>
                  <a:srgbClr val="B8C7DE"/>
                </a:solidFill>
                <a:latin typeface="Pretendard" pitchFamily="34" charset="0"/>
                <a:ea typeface="Pretendard" pitchFamily="34" charset="-122"/>
                <a:cs typeface="Pretendard" pitchFamily="34" charset="-120"/>
              </a:rPr>
              <a:t>확대방안</a:t>
            </a:r>
            <a:endParaRPr lang="en-US" sz="1800" dirty="0"/>
          </a:p>
        </p:txBody>
      </p:sp>
      <p:sp>
        <p:nvSpPr>
          <p:cNvPr id="9" name="Text 6"/>
          <p:cNvSpPr txBox="1"/>
          <p:nvPr/>
        </p:nvSpPr>
        <p:spPr>
          <a:xfrm>
            <a:off x="4286707" y="3238805"/>
            <a:ext cx="571500" cy="2514600"/>
          </a:xfrm>
          <a:prstGeom prst="rect">
            <a:avLst/>
          </a:prstGeom>
          <a:noFill/>
          <a:ln/>
        </p:spPr>
        <p:txBody>
          <a:bodyPr wrap="square" lIns="0" tIns="0" rIns="0" bIns="0" rtlCol="0" anchor="ctr"/>
          <a:lstStyle/>
          <a:p>
            <a:pPr algn="ctr" indent="0" marL="0">
              <a:buNone/>
            </a:pPr>
            <a:r>
              <a:rPr lang="en-US" sz="3300" b="1" dirty="0">
                <a:solidFill>
                  <a:srgbClr val="1F6FEB"/>
                </a:solidFill>
                <a:latin typeface="Pretendard" pitchFamily="34" charset="0"/>
                <a:ea typeface="Pretendard" pitchFamily="34" charset="-122"/>
                <a:cs typeface="Pretendard" pitchFamily="34" charset="-120"/>
              </a:rPr>
              <a:t>›</a:t>
            </a:r>
            <a:endParaRPr lang="en-US" sz="3300" dirty="0"/>
          </a:p>
        </p:txBody>
      </p:sp>
      <p:sp>
        <p:nvSpPr>
          <p:cNvPr id="10" name="Shape 7"/>
          <p:cNvSpPr/>
          <p:nvPr/>
        </p:nvSpPr>
        <p:spPr>
          <a:xfrm>
            <a:off x="4858207" y="3238805"/>
            <a:ext cx="3143707" cy="2514600"/>
          </a:xfrm>
          <a:prstGeom prst="roundRect">
            <a:avLst>
              <a:gd name="adj" fmla="val 7564"/>
            </a:avLst>
          </a:prstGeom>
          <a:solidFill>
            <a:srgbClr val="12306A"/>
          </a:solidFill>
          <a:ln w="12700">
            <a:solidFill>
              <a:srgbClr val="FFFFFF">
                <a:alpha val="0"/>
              </a:srgbClr>
            </a:solidFill>
            <a:prstDash val="solid"/>
          </a:ln>
        </p:spPr>
      </p:sp>
      <p:sp>
        <p:nvSpPr>
          <p:cNvPr id="11" name="Text 8"/>
          <p:cNvSpPr txBox="1"/>
          <p:nvPr/>
        </p:nvSpPr>
        <p:spPr>
          <a:xfrm>
            <a:off x="5124298" y="3524098"/>
            <a:ext cx="2610612" cy="277063"/>
          </a:xfrm>
          <a:prstGeom prst="rect">
            <a:avLst/>
          </a:prstGeom>
          <a:noFill/>
          <a:ln/>
        </p:spPr>
        <p:txBody>
          <a:bodyPr wrap="none" lIns="0" tIns="0" rIns="0" bIns="0" rtlCol="0" anchor="ctr"/>
          <a:lstStyle/>
          <a:p>
            <a:pPr algn="l" indent="0" marL="0">
              <a:buNone/>
            </a:pPr>
            <a:r>
              <a:rPr lang="en-US" sz="1800" b="1" dirty="0">
                <a:solidFill>
                  <a:srgbClr val="12B5A6"/>
                </a:solidFill>
                <a:latin typeface="Pretendard" pitchFamily="34" charset="0"/>
                <a:ea typeface="Pretendard" pitchFamily="34" charset="-122"/>
                <a:cs typeface="Pretendard" pitchFamily="34" charset="-120"/>
              </a:rPr>
              <a:t>프로그램</a:t>
            </a:r>
            <a:endParaRPr lang="en-US" sz="1800" dirty="0"/>
          </a:p>
        </p:txBody>
      </p:sp>
      <p:sp>
        <p:nvSpPr>
          <p:cNvPr id="12" name="Text 9"/>
          <p:cNvSpPr txBox="1"/>
          <p:nvPr/>
        </p:nvSpPr>
        <p:spPr>
          <a:xfrm>
            <a:off x="5124298" y="3895344"/>
            <a:ext cx="2610612" cy="428854"/>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어떤 방식으로</a:t>
            </a:r>
            <a:endParaRPr lang="en-US" sz="2550" dirty="0"/>
          </a:p>
        </p:txBody>
      </p:sp>
      <p:sp>
        <p:nvSpPr>
          <p:cNvPr id="13" name="Text 10"/>
          <p:cNvSpPr txBox="1"/>
          <p:nvPr/>
        </p:nvSpPr>
        <p:spPr>
          <a:xfrm>
            <a:off x="5124298" y="4487875"/>
            <a:ext cx="2610612" cy="277063"/>
          </a:xfrm>
          <a:prstGeom prst="rect">
            <a:avLst/>
          </a:prstGeom>
          <a:noFill/>
          <a:ln/>
        </p:spPr>
        <p:txBody>
          <a:bodyPr wrap="none" lIns="0" tIns="0" rIns="0" bIns="0" rtlCol="0" anchor="ctr"/>
          <a:lstStyle/>
          <a:p>
            <a:pPr algn="l" indent="0" marL="0">
              <a:buNone/>
            </a:pPr>
            <a:r>
              <a:rPr lang="en-US" sz="1800" dirty="0">
                <a:solidFill>
                  <a:srgbClr val="B8C7DE"/>
                </a:solidFill>
                <a:latin typeface="Pretendard" pitchFamily="34" charset="0"/>
                <a:ea typeface="Pretendard" pitchFamily="34" charset="-122"/>
                <a:cs typeface="Pretendard" pitchFamily="34" charset="-120"/>
              </a:rPr>
              <a:t>예) 토지임대부</a:t>
            </a:r>
            <a:endParaRPr lang="en-US" sz="1800" dirty="0"/>
          </a:p>
        </p:txBody>
      </p:sp>
      <p:sp>
        <p:nvSpPr>
          <p:cNvPr id="14" name="Text 11"/>
          <p:cNvSpPr txBox="1"/>
          <p:nvPr/>
        </p:nvSpPr>
        <p:spPr>
          <a:xfrm>
            <a:off x="8001000" y="3238805"/>
            <a:ext cx="571500" cy="2514600"/>
          </a:xfrm>
          <a:prstGeom prst="rect">
            <a:avLst/>
          </a:prstGeom>
          <a:noFill/>
          <a:ln/>
        </p:spPr>
        <p:txBody>
          <a:bodyPr wrap="square" lIns="0" tIns="0" rIns="0" bIns="0" rtlCol="0" anchor="ctr"/>
          <a:lstStyle/>
          <a:p>
            <a:pPr algn="ctr" indent="0" marL="0">
              <a:buNone/>
            </a:pPr>
            <a:r>
              <a:rPr lang="en-US" sz="3300" b="1" dirty="0">
                <a:solidFill>
                  <a:srgbClr val="1F6FEB"/>
                </a:solidFill>
                <a:latin typeface="Pretendard" pitchFamily="34" charset="0"/>
                <a:ea typeface="Pretendard" pitchFamily="34" charset="-122"/>
                <a:cs typeface="Pretendard" pitchFamily="34" charset="-120"/>
              </a:rPr>
              <a:t>›</a:t>
            </a:r>
            <a:endParaRPr lang="en-US" sz="3300" dirty="0"/>
          </a:p>
        </p:txBody>
      </p:sp>
      <p:sp>
        <p:nvSpPr>
          <p:cNvPr id="15" name="Shape 12"/>
          <p:cNvSpPr/>
          <p:nvPr/>
        </p:nvSpPr>
        <p:spPr>
          <a:xfrm>
            <a:off x="8572500" y="3238805"/>
            <a:ext cx="3143707" cy="2514600"/>
          </a:xfrm>
          <a:prstGeom prst="roundRect">
            <a:avLst>
              <a:gd name="adj" fmla="val 7564"/>
            </a:avLst>
          </a:prstGeom>
          <a:solidFill>
            <a:srgbClr val="1F6FEB"/>
          </a:solidFill>
          <a:ln w="12700">
            <a:solidFill>
              <a:srgbClr val="FFFFFF">
                <a:alpha val="0"/>
              </a:srgbClr>
            </a:solidFill>
            <a:prstDash val="solid"/>
          </a:ln>
        </p:spPr>
      </p:sp>
      <p:sp>
        <p:nvSpPr>
          <p:cNvPr id="16" name="Text 13"/>
          <p:cNvSpPr txBox="1"/>
          <p:nvPr/>
        </p:nvSpPr>
        <p:spPr>
          <a:xfrm>
            <a:off x="8839505" y="3524098"/>
            <a:ext cx="2610612" cy="277063"/>
          </a:xfrm>
          <a:prstGeom prst="rect">
            <a:avLst/>
          </a:prstGeom>
          <a:noFill/>
          <a:ln/>
        </p:spPr>
        <p:txBody>
          <a:bodyPr wrap="none" lIns="0" tIns="0" rIns="0" bIns="0" rtlCol="0" anchor="ctr"/>
          <a:lstStyle/>
          <a:p>
            <a:pPr algn="l" indent="0" marL="0">
              <a:buNone/>
            </a:pPr>
            <a:r>
              <a:rPr lang="en-US" sz="1800" b="1" dirty="0">
                <a:solidFill>
                  <a:srgbClr val="DFF7F4"/>
                </a:solidFill>
                <a:latin typeface="Pretendard" pitchFamily="34" charset="0"/>
                <a:ea typeface="Pretendard" pitchFamily="34" charset="-122"/>
                <a:cs typeface="Pretendard" pitchFamily="34" charset="-120"/>
              </a:rPr>
              <a:t>사업</a:t>
            </a:r>
            <a:endParaRPr lang="en-US" sz="1800" dirty="0"/>
          </a:p>
        </p:txBody>
      </p:sp>
      <p:sp>
        <p:nvSpPr>
          <p:cNvPr id="17" name="Text 14"/>
          <p:cNvSpPr txBox="1"/>
          <p:nvPr/>
        </p:nvSpPr>
        <p:spPr>
          <a:xfrm>
            <a:off x="8839505" y="3895344"/>
            <a:ext cx="2610612" cy="428854"/>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어디에서</a:t>
            </a:r>
            <a:endParaRPr lang="en-US" sz="2550" dirty="0"/>
          </a:p>
        </p:txBody>
      </p:sp>
      <p:sp>
        <p:nvSpPr>
          <p:cNvPr id="18" name="Text 15"/>
          <p:cNvSpPr txBox="1"/>
          <p:nvPr/>
        </p:nvSpPr>
        <p:spPr>
          <a:xfrm>
            <a:off x="8839505" y="4487875"/>
            <a:ext cx="2610612" cy="553212"/>
          </a:xfrm>
          <a:prstGeom prst="rect">
            <a:avLst/>
          </a:prstGeom>
          <a:noFill/>
          <a:ln/>
        </p:spPr>
        <p:txBody>
          <a:bodyPr wrap="square" lIns="0" tIns="0" rIns="0" bIns="0" rtlCol="0" anchor="t"/>
          <a:lstStyle/>
          <a:p>
            <a:pPr algn="l" indent="0" marL="0">
              <a:buNone/>
            </a:pPr>
            <a:r>
              <a:rPr lang="en-US" sz="1800" dirty="0">
                <a:solidFill>
                  <a:srgbClr val="E8F0FE"/>
                </a:solidFill>
                <a:latin typeface="Pretendard" pitchFamily="34" charset="0"/>
                <a:ea typeface="Pretendard" pitchFamily="34" charset="-122"/>
                <a:cs typeface="Pretendard" pitchFamily="34" charset="-120"/>
              </a:rPr>
              <a:t>예) 서울 강동구</a:t>
            </a:r>
            <a:pPr algn="l" indent="0" marL="0">
              <a:buNone/>
            </a:pPr>
            <a:endParaRPr lang="en-US" sz="1800" dirty="0"/>
          </a:p>
          <a:p>
            <a:pPr algn="l" indent="0" marL="0">
              <a:buNone/>
            </a:pPr>
            <a:r>
              <a:rPr lang="en-US" sz="1800" dirty="0">
                <a:solidFill>
                  <a:srgbClr val="E8F0FE"/>
                </a:solidFill>
                <a:latin typeface="Pretendard" pitchFamily="34" charset="0"/>
                <a:ea typeface="Pretendard" pitchFamily="34" charset="-122"/>
                <a:cs typeface="Pretendard" pitchFamily="34" charset="-120"/>
              </a:rPr>
              <a:t>고덕강일 3단지</a:t>
            </a:r>
            <a:endParaRPr lang="en-US" sz="1800" dirty="0"/>
          </a:p>
        </p:txBody>
      </p:sp>
      <p:sp>
        <p:nvSpPr>
          <p:cNvPr id="19" name="Text 16"/>
          <p:cNvSpPr txBox="1"/>
          <p:nvPr/>
        </p:nvSpPr>
        <p:spPr>
          <a:xfrm>
            <a:off x="11716207" y="3238805"/>
            <a:ext cx="571500" cy="2514600"/>
          </a:xfrm>
          <a:prstGeom prst="rect">
            <a:avLst/>
          </a:prstGeom>
          <a:noFill/>
          <a:ln/>
        </p:spPr>
        <p:txBody>
          <a:bodyPr wrap="square" lIns="0" tIns="0" rIns="0" bIns="0" rtlCol="0" anchor="ctr"/>
          <a:lstStyle/>
          <a:p>
            <a:pPr algn="ctr" indent="0" marL="0">
              <a:buNone/>
            </a:pPr>
            <a:r>
              <a:rPr lang="en-US" sz="3300" b="1" dirty="0">
                <a:solidFill>
                  <a:srgbClr val="1F6FEB"/>
                </a:solidFill>
                <a:latin typeface="Pretendard" pitchFamily="34" charset="0"/>
                <a:ea typeface="Pretendard" pitchFamily="34" charset="-122"/>
                <a:cs typeface="Pretendard" pitchFamily="34" charset="-120"/>
              </a:rPr>
              <a:t>›</a:t>
            </a:r>
            <a:endParaRPr lang="en-US" sz="3300" dirty="0"/>
          </a:p>
        </p:txBody>
      </p:sp>
      <p:sp>
        <p:nvSpPr>
          <p:cNvPr id="20" name="Shape 17"/>
          <p:cNvSpPr/>
          <p:nvPr/>
        </p:nvSpPr>
        <p:spPr>
          <a:xfrm>
            <a:off x="12287707" y="3238805"/>
            <a:ext cx="4858207" cy="2514600"/>
          </a:xfrm>
          <a:prstGeom prst="roundRect">
            <a:avLst>
              <a:gd name="adj" fmla="val 7564"/>
            </a:avLst>
          </a:prstGeom>
          <a:solidFill>
            <a:srgbClr val="E0F7F4"/>
          </a:solidFill>
          <a:ln w="12700">
            <a:solidFill>
              <a:srgbClr val="FFFFFF">
                <a:alpha val="0"/>
              </a:srgbClr>
            </a:solidFill>
            <a:prstDash val="solid"/>
          </a:ln>
        </p:spPr>
      </p:sp>
      <p:sp>
        <p:nvSpPr>
          <p:cNvPr id="21" name="Text 18"/>
          <p:cNvSpPr txBox="1"/>
          <p:nvPr/>
        </p:nvSpPr>
        <p:spPr>
          <a:xfrm>
            <a:off x="12553798" y="3524098"/>
            <a:ext cx="4325112" cy="277063"/>
          </a:xfrm>
          <a:prstGeom prst="rect">
            <a:avLst/>
          </a:prstGeom>
          <a:noFill/>
          <a:ln/>
        </p:spPr>
        <p:txBody>
          <a:bodyPr wrap="none" lIns="0" tIns="0" rIns="0" bIns="0" rtlCol="0" anchor="ctr"/>
          <a:lstStyle/>
          <a:p>
            <a:pPr algn="l" indent="0" marL="0">
              <a:buNone/>
            </a:pPr>
            <a:r>
              <a:rPr lang="en-US" sz="1800" b="1" dirty="0">
                <a:solidFill>
                  <a:srgbClr val="0E8C80"/>
                </a:solidFill>
                <a:latin typeface="Pretendard" pitchFamily="34" charset="0"/>
                <a:ea typeface="Pretendard" pitchFamily="34" charset="-122"/>
                <a:cs typeface="Pretendard" pitchFamily="34" charset="-120"/>
              </a:rPr>
              <a:t>단계별 추진정보</a:t>
            </a:r>
            <a:endParaRPr lang="en-US" sz="1800" dirty="0"/>
          </a:p>
        </p:txBody>
      </p:sp>
      <p:sp>
        <p:nvSpPr>
          <p:cNvPr id="22" name="Shape 19"/>
          <p:cNvSpPr/>
          <p:nvPr/>
        </p:nvSpPr>
        <p:spPr>
          <a:xfrm>
            <a:off x="12553798" y="3972154"/>
            <a:ext cx="952805" cy="448056"/>
          </a:xfrm>
          <a:prstGeom prst="roundRect">
            <a:avLst>
              <a:gd name="adj" fmla="val 21224"/>
            </a:avLst>
          </a:prstGeom>
          <a:solidFill>
            <a:srgbClr val="FFFFFF"/>
          </a:solidFill>
          <a:ln w="12700">
            <a:solidFill>
              <a:srgbClr val="FFFFFF">
                <a:alpha val="0"/>
              </a:srgbClr>
            </a:solidFill>
            <a:prstDash val="solid"/>
          </a:ln>
        </p:spPr>
      </p:sp>
      <p:sp>
        <p:nvSpPr>
          <p:cNvPr id="23" name="Text 20"/>
          <p:cNvSpPr txBox="1"/>
          <p:nvPr/>
        </p:nvSpPr>
        <p:spPr>
          <a:xfrm>
            <a:off x="12553798" y="3972154"/>
            <a:ext cx="952805" cy="448056"/>
          </a:xfrm>
          <a:prstGeom prst="rect">
            <a:avLst/>
          </a:prstGeom>
          <a:solidFill>
            <a:srgbClr val="FFFFFF">
              <a:alpha val="0"/>
            </a:srgbClr>
          </a:solidFill>
          <a:ln>
            <a:solidFill>
              <a:srgbClr val="FFFFFF">
                <a:alpha val="0"/>
              </a:srgbClr>
            </a:solidFill>
          </a:ln>
        </p:spPr>
        <p:txBody>
          <a:bodyPr wrap="none" lIns="152400" tIns="76200" rIns="152400" bIns="762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사업화</a:t>
            </a:r>
            <a:endParaRPr lang="en-US" sz="1950" dirty="0"/>
          </a:p>
        </p:txBody>
      </p:sp>
      <p:sp>
        <p:nvSpPr>
          <p:cNvPr id="24" name="Shape 21"/>
          <p:cNvSpPr/>
          <p:nvPr/>
        </p:nvSpPr>
        <p:spPr>
          <a:xfrm>
            <a:off x="13615416" y="3972154"/>
            <a:ext cx="952805" cy="448056"/>
          </a:xfrm>
          <a:prstGeom prst="roundRect">
            <a:avLst>
              <a:gd name="adj" fmla="val 21224"/>
            </a:avLst>
          </a:prstGeom>
          <a:solidFill>
            <a:srgbClr val="FFFFFF"/>
          </a:solidFill>
          <a:ln w="12700">
            <a:solidFill>
              <a:srgbClr val="FFFFFF">
                <a:alpha val="0"/>
              </a:srgbClr>
            </a:solidFill>
            <a:prstDash val="solid"/>
          </a:ln>
        </p:spPr>
      </p:sp>
      <p:sp>
        <p:nvSpPr>
          <p:cNvPr id="25" name="Text 22"/>
          <p:cNvSpPr txBox="1"/>
          <p:nvPr/>
        </p:nvSpPr>
        <p:spPr>
          <a:xfrm>
            <a:off x="13615416" y="3972154"/>
            <a:ext cx="952805" cy="448056"/>
          </a:xfrm>
          <a:prstGeom prst="rect">
            <a:avLst/>
          </a:prstGeom>
          <a:solidFill>
            <a:srgbClr val="FFFFFF">
              <a:alpha val="0"/>
            </a:srgbClr>
          </a:solidFill>
          <a:ln>
            <a:solidFill>
              <a:srgbClr val="FFFFFF">
                <a:alpha val="0"/>
              </a:srgbClr>
            </a:solidFill>
          </a:ln>
        </p:spPr>
        <p:txBody>
          <a:bodyPr wrap="none" lIns="152400" tIns="76200" rIns="152400" bIns="762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인허가</a:t>
            </a:r>
            <a:endParaRPr lang="en-US" sz="1950" dirty="0"/>
          </a:p>
        </p:txBody>
      </p:sp>
      <p:sp>
        <p:nvSpPr>
          <p:cNvPr id="26" name="Shape 23"/>
          <p:cNvSpPr/>
          <p:nvPr/>
        </p:nvSpPr>
        <p:spPr>
          <a:xfrm>
            <a:off x="14676120" y="3972154"/>
            <a:ext cx="733349" cy="448056"/>
          </a:xfrm>
          <a:prstGeom prst="roundRect">
            <a:avLst>
              <a:gd name="adj" fmla="val 21224"/>
            </a:avLst>
          </a:prstGeom>
          <a:solidFill>
            <a:srgbClr val="FFFFFF"/>
          </a:solidFill>
          <a:ln w="12700">
            <a:solidFill>
              <a:srgbClr val="FFFFFF">
                <a:alpha val="0"/>
              </a:srgbClr>
            </a:solidFill>
            <a:prstDash val="solid"/>
          </a:ln>
        </p:spPr>
      </p:sp>
      <p:sp>
        <p:nvSpPr>
          <p:cNvPr id="27" name="Text 24"/>
          <p:cNvSpPr txBox="1"/>
          <p:nvPr/>
        </p:nvSpPr>
        <p:spPr>
          <a:xfrm>
            <a:off x="14676120" y="3972154"/>
            <a:ext cx="734263" cy="448056"/>
          </a:xfrm>
          <a:prstGeom prst="rect">
            <a:avLst/>
          </a:prstGeom>
          <a:solidFill>
            <a:srgbClr val="FFFFFF">
              <a:alpha val="0"/>
            </a:srgbClr>
          </a:solidFill>
          <a:ln>
            <a:solidFill>
              <a:srgbClr val="FFFFFF">
                <a:alpha val="0"/>
              </a:srgbClr>
            </a:solidFill>
          </a:ln>
        </p:spPr>
        <p:txBody>
          <a:bodyPr wrap="none" lIns="152400" tIns="76200" rIns="152400" bIns="762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건설</a:t>
            </a:r>
            <a:endParaRPr lang="en-US" sz="1950" dirty="0"/>
          </a:p>
        </p:txBody>
      </p:sp>
      <p:sp>
        <p:nvSpPr>
          <p:cNvPr id="28" name="Shape 25"/>
          <p:cNvSpPr/>
          <p:nvPr/>
        </p:nvSpPr>
        <p:spPr>
          <a:xfrm>
            <a:off x="15523769" y="3972154"/>
            <a:ext cx="733349" cy="448056"/>
          </a:xfrm>
          <a:prstGeom prst="roundRect">
            <a:avLst>
              <a:gd name="adj" fmla="val 21224"/>
            </a:avLst>
          </a:prstGeom>
          <a:solidFill>
            <a:srgbClr val="FFFFFF"/>
          </a:solidFill>
          <a:ln w="12700">
            <a:solidFill>
              <a:srgbClr val="FFFFFF">
                <a:alpha val="0"/>
              </a:srgbClr>
            </a:solidFill>
            <a:prstDash val="solid"/>
          </a:ln>
        </p:spPr>
      </p:sp>
      <p:sp>
        <p:nvSpPr>
          <p:cNvPr id="29" name="Text 26"/>
          <p:cNvSpPr txBox="1"/>
          <p:nvPr/>
        </p:nvSpPr>
        <p:spPr>
          <a:xfrm>
            <a:off x="15523769" y="3972154"/>
            <a:ext cx="734263" cy="448056"/>
          </a:xfrm>
          <a:prstGeom prst="rect">
            <a:avLst/>
          </a:prstGeom>
          <a:solidFill>
            <a:srgbClr val="FFFFFF">
              <a:alpha val="0"/>
            </a:srgbClr>
          </a:solidFill>
          <a:ln>
            <a:solidFill>
              <a:srgbClr val="FFFFFF">
                <a:alpha val="0"/>
              </a:srgbClr>
            </a:solidFill>
          </a:ln>
        </p:spPr>
        <p:txBody>
          <a:bodyPr wrap="none" lIns="152400" tIns="76200" rIns="152400" bIns="76200" rtlCol="0" anchor="ctr"/>
          <a:lstStyle/>
          <a:p>
            <a:pPr algn="l" indent="0" marL="0">
              <a:buNone/>
            </a:pPr>
            <a:r>
              <a:rPr lang="en-US" sz="1950" b="1" dirty="0">
                <a:solidFill>
                  <a:srgbClr val="0A1F44"/>
                </a:solidFill>
                <a:latin typeface="Pretendard" pitchFamily="34" charset="0"/>
                <a:ea typeface="Pretendard" pitchFamily="34" charset="-122"/>
                <a:cs typeface="Pretendard" pitchFamily="34" charset="-120"/>
              </a:rPr>
              <a:t>공급</a:t>
            </a:r>
            <a:endParaRPr lang="en-US" sz="1950" dirty="0"/>
          </a:p>
        </p:txBody>
      </p:sp>
      <p:sp>
        <p:nvSpPr>
          <p:cNvPr id="30" name="Shape 27"/>
          <p:cNvSpPr/>
          <p:nvPr/>
        </p:nvSpPr>
        <p:spPr>
          <a:xfrm>
            <a:off x="12553798" y="4533595"/>
            <a:ext cx="790956" cy="504749"/>
          </a:xfrm>
          <a:prstGeom prst="roundRect">
            <a:avLst>
              <a:gd name="adj" fmla="val 18841"/>
            </a:avLst>
          </a:prstGeom>
          <a:noFill/>
          <a:ln w="38100">
            <a:solidFill>
              <a:srgbClr val="9FB0C8"/>
            </a:solidFill>
            <a:prstDash val="solid"/>
          </a:ln>
        </p:spPr>
      </p:sp>
      <p:sp>
        <p:nvSpPr>
          <p:cNvPr id="31" name="Text 28"/>
          <p:cNvSpPr txBox="1"/>
          <p:nvPr/>
        </p:nvSpPr>
        <p:spPr>
          <a:xfrm>
            <a:off x="12553798" y="4533595"/>
            <a:ext cx="790956" cy="505663"/>
          </a:xfrm>
          <a:prstGeom prst="rect">
            <a:avLst/>
          </a:prstGeom>
          <a:solidFill>
            <a:srgbClr val="FFFFFF">
              <a:alpha val="0"/>
            </a:srgbClr>
          </a:solidFill>
          <a:ln>
            <a:solidFill>
              <a:srgbClr val="FFFFFF">
                <a:alpha val="0"/>
              </a:srgbClr>
            </a:solidFill>
          </a:ln>
        </p:spPr>
        <p:txBody>
          <a:bodyPr wrap="none" lIns="152400" tIns="76200" rIns="152400" bIns="76200" rtlCol="0" anchor="ctr"/>
          <a:lstStyle/>
          <a:p>
            <a:pPr algn="l" indent="0" marL="0">
              <a:buNone/>
            </a:pPr>
            <a:r>
              <a:rPr lang="en-US" sz="1950" b="1" dirty="0">
                <a:solidFill>
                  <a:srgbClr val="5B6B82"/>
                </a:solidFill>
                <a:latin typeface="Pretendard" pitchFamily="34" charset="0"/>
                <a:ea typeface="Pretendard" pitchFamily="34" charset="-122"/>
                <a:cs typeface="Pretendard" pitchFamily="34" charset="-120"/>
              </a:rPr>
              <a:t>입주</a:t>
            </a:r>
            <a:endParaRPr lang="en-US" sz="1950" dirty="0"/>
          </a:p>
        </p:txBody>
      </p:sp>
      <p:sp>
        <p:nvSpPr>
          <p:cNvPr id="32" name="Text 29"/>
          <p:cNvSpPr txBox="1"/>
          <p:nvPr/>
        </p:nvSpPr>
        <p:spPr>
          <a:xfrm>
            <a:off x="12553798" y="5191049"/>
            <a:ext cx="4325112" cy="277063"/>
          </a:xfrm>
          <a:prstGeom prst="rect">
            <a:avLst/>
          </a:prstGeom>
          <a:noFill/>
          <a:ln/>
        </p:spPr>
        <p:txBody>
          <a:bodyPr wrap="none" lIns="0" tIns="0" rIns="0" bIns="0" rtlCol="0" anchor="ctr"/>
          <a:lstStyle/>
          <a:p>
            <a:pPr algn="l" indent="0" marL="0">
              <a:buNone/>
            </a:pPr>
            <a:r>
              <a:rPr lang="en-US" sz="1800" dirty="0">
                <a:solidFill>
                  <a:srgbClr val="0E8C80"/>
                </a:solidFill>
                <a:latin typeface="Pretendard" pitchFamily="34" charset="0"/>
                <a:ea typeface="Pretendard" pitchFamily="34" charset="-122"/>
                <a:cs typeface="Pretendard" pitchFamily="34" charset="-120"/>
              </a:rPr>
              <a:t>확인 가능한 정보만 연결</a:t>
            </a:r>
            <a:endParaRPr lang="en-US" sz="1800" dirty="0"/>
          </a:p>
        </p:txBody>
      </p:sp>
      <p:sp>
        <p:nvSpPr>
          <p:cNvPr id="33" name="Text 30"/>
          <p:cNvSpPr txBox="1"/>
          <p:nvPr/>
        </p:nvSpPr>
        <p:spPr>
          <a:xfrm>
            <a:off x="1143000" y="6096305"/>
            <a:ext cx="160020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예시는 서비스의 정책–프로그램–사업 연결 화면에 표시된 실제 항목</a:t>
            </a:r>
            <a:endParaRPr lang="en-US" sz="1800" dirty="0"/>
          </a:p>
        </p:txBody>
      </p:sp>
      <p:sp>
        <p:nvSpPr>
          <p:cNvPr id="34" name="Shape 31"/>
          <p:cNvSpPr/>
          <p:nvPr/>
        </p:nvSpPr>
        <p:spPr>
          <a:xfrm>
            <a:off x="1143000" y="6762902"/>
            <a:ext cx="5162702" cy="2095805"/>
          </a:xfrm>
          <a:prstGeom prst="roundRect">
            <a:avLst>
              <a:gd name="adj" fmla="val 8202"/>
            </a:avLst>
          </a:prstGeom>
          <a:solidFill>
            <a:srgbClr val="F5F8FC"/>
          </a:solidFill>
          <a:ln w="12700">
            <a:solidFill>
              <a:srgbClr val="FFFFFF">
                <a:alpha val="0"/>
              </a:srgbClr>
            </a:solidFill>
            <a:prstDash val="solid"/>
          </a:ln>
        </p:spPr>
      </p:sp>
      <p:sp>
        <p:nvSpPr>
          <p:cNvPr id="35" name="Text 32"/>
          <p:cNvSpPr txBox="1"/>
          <p:nvPr/>
        </p:nvSpPr>
        <p:spPr>
          <a:xfrm>
            <a:off x="1429207" y="7029907"/>
            <a:ext cx="4591202"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정책과 사업을 구분</a:t>
            </a:r>
            <a:endParaRPr lang="en-US" sz="2250" dirty="0"/>
          </a:p>
        </p:txBody>
      </p:sp>
      <p:sp>
        <p:nvSpPr>
          <p:cNvPr id="36" name="Text 33"/>
          <p:cNvSpPr txBox="1"/>
          <p:nvPr/>
        </p:nvSpPr>
        <p:spPr>
          <a:xfrm>
            <a:off x="1429207" y="7456018"/>
            <a:ext cx="4591202" cy="755294"/>
          </a:xfrm>
          <a:prstGeom prst="rect">
            <a:avLst/>
          </a:prstGeom>
          <a:noFill/>
          <a:ln/>
        </p:spPr>
        <p:txBody>
          <a:bodyPr wrap="square" lIns="0" tIns="0" rIns="0" bIns="0" rtlCol="0" anchor="t"/>
          <a:lstStyle/>
          <a:p>
            <a:pPr algn="l" indent="0" marL="0">
              <a:lnSpc>
                <a:spcPts val="2828"/>
              </a:lnSpc>
              <a:buNone/>
            </a:pPr>
            <a:r>
              <a:rPr lang="en-US" sz="1950" dirty="0">
                <a:solidFill>
                  <a:srgbClr val="5B6B82"/>
                </a:solidFill>
                <a:latin typeface="Pretendard" pitchFamily="34" charset="0"/>
                <a:ea typeface="Pretendard" pitchFamily="34" charset="-122"/>
                <a:cs typeface="Pretendard" pitchFamily="34" charset="-120"/>
              </a:rPr>
              <a:t>정책은 목표, 사업은 현장.</a:t>
            </a:r>
            <a:pPr algn="l" indent="0" marL="0">
              <a:lnSpc>
                <a:spcPts val="2828"/>
              </a:lnSpc>
              <a:buNone/>
            </a:pPr>
            <a:endParaRPr lang="en-US" sz="1950" dirty="0"/>
          </a:p>
          <a:p>
            <a:pPr algn="l" indent="0" marL="0">
              <a:lnSpc>
                <a:spcPts val="2828"/>
              </a:lnSpc>
              <a:buNone/>
            </a:pPr>
            <a:r>
              <a:rPr lang="en-US" sz="1950" dirty="0">
                <a:solidFill>
                  <a:srgbClr val="5B6B82"/>
                </a:solidFill>
                <a:latin typeface="Pretendard" pitchFamily="34" charset="0"/>
                <a:ea typeface="Pretendard" pitchFamily="34" charset="-122"/>
                <a:cs typeface="Pretendard" pitchFamily="34" charset="-120"/>
              </a:rPr>
              <a:t>층위를 섞지 않음</a:t>
            </a:r>
            <a:endParaRPr lang="en-US" sz="1950" dirty="0"/>
          </a:p>
        </p:txBody>
      </p:sp>
      <p:sp>
        <p:nvSpPr>
          <p:cNvPr id="37" name="Shape 34"/>
          <p:cNvSpPr/>
          <p:nvPr/>
        </p:nvSpPr>
        <p:spPr>
          <a:xfrm>
            <a:off x="6566306" y="6762902"/>
            <a:ext cx="5162702" cy="2095805"/>
          </a:xfrm>
          <a:prstGeom prst="roundRect">
            <a:avLst>
              <a:gd name="adj" fmla="val 8202"/>
            </a:avLst>
          </a:prstGeom>
          <a:solidFill>
            <a:srgbClr val="F5F8FC"/>
          </a:solidFill>
          <a:ln w="12700">
            <a:solidFill>
              <a:srgbClr val="FFFFFF">
                <a:alpha val="0"/>
              </a:srgbClr>
            </a:solidFill>
            <a:prstDash val="solid"/>
          </a:ln>
        </p:spPr>
      </p:sp>
      <p:sp>
        <p:nvSpPr>
          <p:cNvPr id="38" name="Text 35"/>
          <p:cNvSpPr txBox="1"/>
          <p:nvPr/>
        </p:nvSpPr>
        <p:spPr>
          <a:xfrm>
            <a:off x="6851599" y="7029907"/>
            <a:ext cx="4591202"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출처·연계 근거 관리</a:t>
            </a:r>
            <a:endParaRPr lang="en-US" sz="2250" dirty="0"/>
          </a:p>
        </p:txBody>
      </p:sp>
      <p:sp>
        <p:nvSpPr>
          <p:cNvPr id="39" name="Text 36"/>
          <p:cNvSpPr txBox="1"/>
          <p:nvPr/>
        </p:nvSpPr>
        <p:spPr>
          <a:xfrm>
            <a:off x="6851599" y="7456018"/>
            <a:ext cx="4591202" cy="755294"/>
          </a:xfrm>
          <a:prstGeom prst="rect">
            <a:avLst/>
          </a:prstGeom>
          <a:noFill/>
          <a:ln/>
        </p:spPr>
        <p:txBody>
          <a:bodyPr wrap="square" lIns="0" tIns="0" rIns="0" bIns="0" rtlCol="0" anchor="t"/>
          <a:lstStyle/>
          <a:p>
            <a:pPr algn="l" indent="0" marL="0">
              <a:lnSpc>
                <a:spcPts val="2828"/>
              </a:lnSpc>
              <a:buNone/>
            </a:pPr>
            <a:r>
              <a:rPr lang="en-US" sz="1950" dirty="0">
                <a:solidFill>
                  <a:srgbClr val="5B6B82"/>
                </a:solidFill>
                <a:latin typeface="Pretendard" pitchFamily="34" charset="0"/>
                <a:ea typeface="Pretendard" pitchFamily="34" charset="-122"/>
                <a:cs typeface="Pretendard" pitchFamily="34" charset="-120"/>
              </a:rPr>
              <a:t>검토 필요 → 담당자 확정</a:t>
            </a:r>
            <a:pPr algn="l" indent="0" marL="0">
              <a:lnSpc>
                <a:spcPts val="2828"/>
              </a:lnSpc>
              <a:buNone/>
            </a:pPr>
            <a:endParaRPr lang="en-US" sz="1950" dirty="0"/>
          </a:p>
          <a:p>
            <a:pPr algn="l" indent="0" marL="0">
              <a:lnSpc>
                <a:spcPts val="2828"/>
              </a:lnSpc>
              <a:buNone/>
            </a:pPr>
            <a:r>
              <a:rPr lang="en-US" sz="1950" dirty="0">
                <a:solidFill>
                  <a:srgbClr val="5B6B82"/>
                </a:solidFill>
                <a:latin typeface="Pretendard" pitchFamily="34" charset="0"/>
                <a:ea typeface="Pretendard" pitchFamily="34" charset="-122"/>
                <a:cs typeface="Pretendard" pitchFamily="34" charset="-120"/>
              </a:rPr>
              <a:t>/ 연결 해제로 상태 기록</a:t>
            </a:r>
            <a:endParaRPr lang="en-US" sz="1950" dirty="0"/>
          </a:p>
        </p:txBody>
      </p:sp>
      <p:sp>
        <p:nvSpPr>
          <p:cNvPr id="40" name="Shape 37"/>
          <p:cNvSpPr/>
          <p:nvPr/>
        </p:nvSpPr>
        <p:spPr>
          <a:xfrm>
            <a:off x="11988698" y="6762902"/>
            <a:ext cx="5162702" cy="2095805"/>
          </a:xfrm>
          <a:prstGeom prst="roundRect">
            <a:avLst>
              <a:gd name="adj" fmla="val 8202"/>
            </a:avLst>
          </a:prstGeom>
          <a:solidFill>
            <a:srgbClr val="F5F8FC"/>
          </a:solidFill>
          <a:ln w="12700">
            <a:solidFill>
              <a:srgbClr val="FFFFFF">
                <a:alpha val="0"/>
              </a:srgbClr>
            </a:solidFill>
            <a:prstDash val="solid"/>
          </a:ln>
        </p:spPr>
      </p:sp>
      <p:sp>
        <p:nvSpPr>
          <p:cNvPr id="41" name="Text 38"/>
          <p:cNvSpPr txBox="1"/>
          <p:nvPr/>
        </p:nvSpPr>
        <p:spPr>
          <a:xfrm>
            <a:off x="12274906" y="7029907"/>
            <a:ext cx="4591202"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미연결은 별도 표시</a:t>
            </a:r>
            <a:endParaRPr lang="en-US" sz="2250" dirty="0"/>
          </a:p>
        </p:txBody>
      </p:sp>
      <p:sp>
        <p:nvSpPr>
          <p:cNvPr id="42" name="Text 39"/>
          <p:cNvSpPr txBox="1"/>
          <p:nvPr/>
        </p:nvSpPr>
        <p:spPr>
          <a:xfrm>
            <a:off x="12274906" y="7456018"/>
            <a:ext cx="4591202" cy="755294"/>
          </a:xfrm>
          <a:prstGeom prst="rect">
            <a:avLst/>
          </a:prstGeom>
          <a:noFill/>
          <a:ln/>
        </p:spPr>
        <p:txBody>
          <a:bodyPr wrap="square" lIns="0" tIns="0" rIns="0" bIns="0" rtlCol="0" anchor="t"/>
          <a:lstStyle/>
          <a:p>
            <a:pPr algn="l" indent="0" marL="0">
              <a:lnSpc>
                <a:spcPts val="2828"/>
              </a:lnSpc>
              <a:buNone/>
            </a:pPr>
            <a:r>
              <a:rPr lang="en-US" sz="1950" dirty="0">
                <a:solidFill>
                  <a:srgbClr val="5B6B82"/>
                </a:solidFill>
                <a:latin typeface="Pretendard" pitchFamily="34" charset="0"/>
                <a:ea typeface="Pretendard" pitchFamily="34" charset="-122"/>
                <a:cs typeface="Pretendard" pitchFamily="34" charset="-120"/>
              </a:rPr>
              <a:t>지자체 정비계획 ≠ 정부 정책.</a:t>
            </a:r>
            <a:pPr algn="l" indent="0" marL="0">
              <a:lnSpc>
                <a:spcPts val="2828"/>
              </a:lnSpc>
              <a:buNone/>
            </a:pPr>
            <a:endParaRPr lang="en-US" sz="1950" dirty="0"/>
          </a:p>
          <a:p>
            <a:pPr algn="l" indent="0" marL="0">
              <a:lnSpc>
                <a:spcPts val="2828"/>
              </a:lnSpc>
              <a:buNone/>
            </a:pPr>
            <a:r>
              <a:rPr lang="en-US" sz="1950" dirty="0">
                <a:solidFill>
                  <a:srgbClr val="5B6B82"/>
                </a:solidFill>
                <a:latin typeface="Pretendard" pitchFamily="34" charset="0"/>
                <a:ea typeface="Pretendard" pitchFamily="34" charset="-122"/>
                <a:cs typeface="Pretendard" pitchFamily="34" charset="-120"/>
              </a:rPr>
              <a:t>근거 없이 잇지 않음</a:t>
            </a:r>
            <a:endParaRPr lang="en-US" sz="1950" dirty="0"/>
          </a:p>
        </p:txBody>
      </p:sp>
      <p:sp>
        <p:nvSpPr>
          <p:cNvPr id="43" name="Text 40"/>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44" name="Text 41"/>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pic>
        <p:nvPicPr>
          <p:cNvPr id="3" name="Image 0" descr="gen-dedup-4c26c2929d6950d4c1386fe37578fb08.png">    </p:cNvPr>
          <p:cNvPicPr>
            <a:picLocks noChangeAspect="1"/>
          </p:cNvPicPr>
          <p:nvPr/>
        </p:nvPicPr>
        <p:blipFill>
          <a:blip r:embed="rId1"/>
          <a:srcRect l="0" r="0" t="-399" b="-399"/>
          <a:stretch/>
        </p:blipFill>
        <p:spPr>
          <a:xfrm>
            <a:off x="2095805" y="3981298"/>
            <a:ext cx="14097305" cy="57607"/>
          </a:xfrm>
          <a:prstGeom prst="rect">
            <a:avLst/>
          </a:prstGeom>
        </p:spPr>
      </p:pic>
      <p:sp>
        <p:nvSpPr>
          <p:cNvPr id="4" name="Shape 0"/>
          <p:cNvSpPr/>
          <p:nvPr/>
        </p:nvSpPr>
        <p:spPr>
          <a:xfrm>
            <a:off x="1143000" y="7429500"/>
            <a:ext cx="16002000" cy="1619402"/>
          </a:xfrm>
          <a:prstGeom prst="roundRect">
            <a:avLst>
              <a:gd name="adj" fmla="val 11745"/>
            </a:avLst>
          </a:prstGeom>
          <a:solidFill>
            <a:srgbClr val="0A1F44"/>
          </a:solidFill>
          <a:ln w="12700">
            <a:solidFill>
              <a:srgbClr val="FFFFFF">
                <a:alpha val="0"/>
              </a:srgbClr>
            </a:solidFill>
            <a:prstDash val="solid"/>
          </a:ln>
        </p:spPr>
      </p:sp>
      <p:sp>
        <p:nvSpPr>
          <p:cNvPr id="5" name="Text 1"/>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07 시스템 구성</a:t>
            </a:r>
            <a:endParaRPr lang="en-US" sz="2100" dirty="0"/>
          </a:p>
        </p:txBody>
      </p:sp>
      <p:sp>
        <p:nvSpPr>
          <p:cNvPr id="6" name="Text 2"/>
          <p:cNvSpPr txBox="1"/>
          <p:nvPr/>
        </p:nvSpPr>
        <p:spPr>
          <a:xfrm>
            <a:off x="1143000" y="1218895"/>
            <a:ext cx="16002000" cy="657454"/>
          </a:xfrm>
          <a:prstGeom prst="rect">
            <a:avLst/>
          </a:prstGeom>
          <a:noFill/>
          <a:ln/>
        </p:spPr>
        <p:txBody>
          <a:bodyPr wrap="none" lIns="0" tIns="0" rIns="0" bIns="0" rtlCol="0" anchor="ctr"/>
          <a:lstStyle/>
          <a:p>
            <a:pPr algn="l" indent="0" marL="0">
              <a:buNone/>
            </a:pPr>
            <a:r>
              <a:rPr lang="en-US" sz="4350" b="1" spc="-112" kern="0" dirty="0">
                <a:solidFill>
                  <a:srgbClr val="0A1F44"/>
                </a:solidFill>
                <a:latin typeface="Pretendard" pitchFamily="34" charset="0"/>
                <a:ea typeface="Pretendard" pitchFamily="34" charset="-122"/>
                <a:cs typeface="Pretendard" pitchFamily="34" charset="-120"/>
              </a:rPr>
              <a:t>수집에서 화면까지, </a:t>
            </a:r>
            <a:pPr algn="l" indent="0" marL="0">
              <a:buNone/>
            </a:pPr>
            <a:r>
              <a:rPr lang="en-US" sz="4350" b="1" spc="-112" kern="0" dirty="0">
                <a:solidFill>
                  <a:srgbClr val="1F6FEB"/>
                </a:solidFill>
                <a:latin typeface="Pretendard" pitchFamily="34" charset="0"/>
                <a:ea typeface="Pretendard" pitchFamily="34" charset="-122"/>
                <a:cs typeface="Pretendard" pitchFamily="34" charset="-120"/>
              </a:rPr>
              <a:t>한 줄로 이어지는 구조</a:t>
            </a:r>
            <a:endParaRPr lang="en-US" sz="4350" dirty="0"/>
          </a:p>
        </p:txBody>
      </p:sp>
      <p:sp>
        <p:nvSpPr>
          <p:cNvPr id="7" name="Shape 3"/>
          <p:cNvSpPr/>
          <p:nvPr/>
        </p:nvSpPr>
        <p:spPr>
          <a:xfrm>
            <a:off x="1143000" y="2762402"/>
            <a:ext cx="3019349" cy="2476195"/>
          </a:xfrm>
          <a:prstGeom prst="roundRect">
            <a:avLst>
              <a:gd name="adj" fmla="val 7681"/>
            </a:avLst>
          </a:prstGeom>
          <a:solidFill>
            <a:srgbClr val="FFFFFF"/>
          </a:solidFill>
          <a:ln w="25400">
            <a:solidFill>
              <a:srgbClr val="D5DEEA"/>
            </a:solidFill>
            <a:prstDash val="solid"/>
          </a:ln>
        </p:spPr>
      </p:sp>
      <p:sp>
        <p:nvSpPr>
          <p:cNvPr id="8" name="Text 4"/>
          <p:cNvSpPr txBox="1"/>
          <p:nvPr/>
        </p:nvSpPr>
        <p:spPr>
          <a:xfrm>
            <a:off x="1390802" y="3047695"/>
            <a:ext cx="2524658" cy="277063"/>
          </a:xfrm>
          <a:prstGeom prst="rect">
            <a:avLst/>
          </a:prstGeom>
          <a:noFill/>
          <a:ln/>
        </p:spPr>
        <p:txBody>
          <a:bodyPr wrap="none" lIns="0" tIns="0" rIns="0" bIns="0" rtlCol="0" anchor="ctr"/>
          <a:lstStyle/>
          <a:p>
            <a:pPr algn="l" indent="0" marL="0">
              <a:buNone/>
            </a:pPr>
            <a:r>
              <a:rPr lang="en-US" sz="1800" b="1" dirty="0">
                <a:solidFill>
                  <a:srgbClr val="8A99B0"/>
                </a:solidFill>
                <a:latin typeface="Pretendard" pitchFamily="34" charset="0"/>
                <a:ea typeface="Pretendard" pitchFamily="34" charset="-122"/>
                <a:cs typeface="Pretendard" pitchFamily="34" charset="-120"/>
              </a:rPr>
              <a:t>01</a:t>
            </a:r>
            <a:endParaRPr lang="en-US" sz="1800" dirty="0"/>
          </a:p>
        </p:txBody>
      </p:sp>
      <p:sp>
        <p:nvSpPr>
          <p:cNvPr id="9" name="Text 5"/>
          <p:cNvSpPr txBox="1"/>
          <p:nvPr/>
        </p:nvSpPr>
        <p:spPr>
          <a:xfrm>
            <a:off x="1390802" y="3381451"/>
            <a:ext cx="2524658" cy="381305"/>
          </a:xfrm>
          <a:prstGeom prst="rect">
            <a:avLst/>
          </a:prstGeom>
          <a:noFill/>
          <a:ln/>
        </p:spPr>
        <p:txBody>
          <a:bodyPr wrap="none" lIns="0" tIns="0" rIns="0" bIns="0" rtlCol="0" anchor="ctr"/>
          <a:lstStyle/>
          <a:p>
            <a:pPr algn="l" indent="0" marL="0">
              <a:buNone/>
            </a:pPr>
            <a:r>
              <a:rPr lang="en-US" sz="2550" b="1" dirty="0">
                <a:solidFill>
                  <a:srgbClr val="0A1F44"/>
                </a:solidFill>
                <a:latin typeface="Pretendard" pitchFamily="34" charset="0"/>
                <a:ea typeface="Pretendard" pitchFamily="34" charset="-122"/>
                <a:cs typeface="Pretendard" pitchFamily="34" charset="-120"/>
              </a:rPr>
              <a:t>데이터 수집</a:t>
            </a:r>
            <a:endParaRPr lang="en-US" sz="2550" dirty="0"/>
          </a:p>
        </p:txBody>
      </p:sp>
      <p:sp>
        <p:nvSpPr>
          <p:cNvPr id="10" name="Text 6"/>
          <p:cNvSpPr txBox="1"/>
          <p:nvPr/>
        </p:nvSpPr>
        <p:spPr>
          <a:xfrm>
            <a:off x="1390802" y="3866998"/>
            <a:ext cx="2524658" cy="695858"/>
          </a:xfrm>
          <a:prstGeom prst="rect">
            <a:avLst/>
          </a:prstGeom>
          <a:noFill/>
          <a:ln/>
        </p:spPr>
        <p:txBody>
          <a:bodyPr wrap="square" lIns="0" tIns="0" rIns="0" bIns="0" rtlCol="0" anchor="t"/>
          <a:lstStyle/>
          <a:p>
            <a:pPr algn="l" indent="0" marL="0">
              <a:lnSpc>
                <a:spcPts val="2610"/>
              </a:lnSpc>
              <a:buNone/>
            </a:pPr>
            <a:r>
              <a:rPr lang="en-US" sz="1800" dirty="0">
                <a:solidFill>
                  <a:srgbClr val="5B6B82"/>
                </a:solidFill>
                <a:latin typeface="Pretendard" pitchFamily="34" charset="0"/>
                <a:ea typeface="Pretendard" pitchFamily="34" charset="-122"/>
                <a:cs typeface="Pretendard" pitchFamily="34" charset="-120"/>
              </a:rPr>
              <a:t>공식 웹·파일</a:t>
            </a:r>
            <a:pPr algn="l" indent="0" marL="0">
              <a:lnSpc>
                <a:spcPts val="2610"/>
              </a:lnSpc>
              <a:buNone/>
            </a:pPr>
            <a:endParaRPr lang="en-US" sz="1800" dirty="0"/>
          </a:p>
          <a:p>
            <a:pPr algn="l" indent="0" marL="0">
              <a:lnSpc>
                <a:spcPts val="2610"/>
              </a:lnSpc>
              <a:buNone/>
            </a:pPr>
            <a:r>
              <a:rPr lang="en-US" sz="1800" dirty="0">
                <a:solidFill>
                  <a:srgbClr val="5B6B82"/>
                </a:solidFill>
                <a:latin typeface="Pretendard" pitchFamily="34" charset="0"/>
                <a:ea typeface="Pretendard" pitchFamily="34" charset="-122"/>
                <a:cs typeface="Pretendard" pitchFamily="34" charset="-120"/>
              </a:rPr>
              <a:t>공공데이터 API</a:t>
            </a:r>
            <a:endParaRPr lang="en-US" sz="1800" dirty="0"/>
          </a:p>
        </p:txBody>
      </p:sp>
      <p:sp>
        <p:nvSpPr>
          <p:cNvPr id="11" name="Shape 7"/>
          <p:cNvSpPr/>
          <p:nvPr/>
        </p:nvSpPr>
        <p:spPr>
          <a:xfrm>
            <a:off x="4389120" y="2762402"/>
            <a:ext cx="3019349" cy="2476195"/>
          </a:xfrm>
          <a:prstGeom prst="roundRect">
            <a:avLst>
              <a:gd name="adj" fmla="val 7681"/>
            </a:avLst>
          </a:prstGeom>
          <a:solidFill>
            <a:srgbClr val="FFFFFF"/>
          </a:solidFill>
          <a:ln w="25400">
            <a:solidFill>
              <a:srgbClr val="D5DEEA"/>
            </a:solidFill>
            <a:prstDash val="solid"/>
          </a:ln>
        </p:spPr>
      </p:sp>
      <p:sp>
        <p:nvSpPr>
          <p:cNvPr id="12" name="Text 8"/>
          <p:cNvSpPr txBox="1"/>
          <p:nvPr/>
        </p:nvSpPr>
        <p:spPr>
          <a:xfrm>
            <a:off x="4636922" y="3047695"/>
            <a:ext cx="2524658" cy="277063"/>
          </a:xfrm>
          <a:prstGeom prst="rect">
            <a:avLst/>
          </a:prstGeom>
          <a:noFill/>
          <a:ln/>
        </p:spPr>
        <p:txBody>
          <a:bodyPr wrap="none" lIns="0" tIns="0" rIns="0" bIns="0" rtlCol="0" anchor="ctr"/>
          <a:lstStyle/>
          <a:p>
            <a:pPr algn="l" indent="0" marL="0">
              <a:buNone/>
            </a:pPr>
            <a:r>
              <a:rPr lang="en-US" sz="1800" b="1" dirty="0">
                <a:solidFill>
                  <a:srgbClr val="8A99B0"/>
                </a:solidFill>
                <a:latin typeface="Pretendard" pitchFamily="34" charset="0"/>
                <a:ea typeface="Pretendard" pitchFamily="34" charset="-122"/>
                <a:cs typeface="Pretendard" pitchFamily="34" charset="-120"/>
              </a:rPr>
              <a:t>02</a:t>
            </a:r>
            <a:endParaRPr lang="en-US" sz="1800" dirty="0"/>
          </a:p>
        </p:txBody>
      </p:sp>
      <p:sp>
        <p:nvSpPr>
          <p:cNvPr id="13" name="Text 9"/>
          <p:cNvSpPr txBox="1"/>
          <p:nvPr/>
        </p:nvSpPr>
        <p:spPr>
          <a:xfrm>
            <a:off x="4636922" y="3381451"/>
            <a:ext cx="2524658" cy="381305"/>
          </a:xfrm>
          <a:prstGeom prst="rect">
            <a:avLst/>
          </a:prstGeom>
          <a:noFill/>
          <a:ln/>
        </p:spPr>
        <p:txBody>
          <a:bodyPr wrap="none" lIns="0" tIns="0" rIns="0" bIns="0" rtlCol="0" anchor="ctr"/>
          <a:lstStyle/>
          <a:p>
            <a:pPr algn="l" indent="0" marL="0">
              <a:buNone/>
            </a:pPr>
            <a:r>
              <a:rPr lang="en-US" sz="2550" b="1" dirty="0">
                <a:solidFill>
                  <a:srgbClr val="0A1F44"/>
                </a:solidFill>
                <a:latin typeface="Pretendard" pitchFamily="34" charset="0"/>
                <a:ea typeface="Pretendard" pitchFamily="34" charset="-122"/>
                <a:cs typeface="Pretendard" pitchFamily="34" charset="-120"/>
              </a:rPr>
              <a:t>정제·검증</a:t>
            </a:r>
            <a:endParaRPr lang="en-US" sz="2550" dirty="0"/>
          </a:p>
        </p:txBody>
      </p:sp>
      <p:sp>
        <p:nvSpPr>
          <p:cNvPr id="14" name="Text 10"/>
          <p:cNvSpPr txBox="1"/>
          <p:nvPr/>
        </p:nvSpPr>
        <p:spPr>
          <a:xfrm>
            <a:off x="4636922" y="3866998"/>
            <a:ext cx="2524658" cy="695858"/>
          </a:xfrm>
          <a:prstGeom prst="rect">
            <a:avLst/>
          </a:prstGeom>
          <a:noFill/>
          <a:ln/>
        </p:spPr>
        <p:txBody>
          <a:bodyPr wrap="square" lIns="0" tIns="0" rIns="0" bIns="0" rtlCol="0" anchor="t"/>
          <a:lstStyle/>
          <a:p>
            <a:pPr algn="l" indent="0" marL="0">
              <a:lnSpc>
                <a:spcPts val="2610"/>
              </a:lnSpc>
              <a:buNone/>
            </a:pPr>
            <a:r>
              <a:rPr lang="en-US" sz="1800" dirty="0">
                <a:solidFill>
                  <a:srgbClr val="5B6B82"/>
                </a:solidFill>
                <a:latin typeface="Pretendard" pitchFamily="34" charset="0"/>
                <a:ea typeface="Pretendard" pitchFamily="34" charset="-122"/>
                <a:cs typeface="Pretendard" pitchFamily="34" charset="-120"/>
              </a:rPr>
              <a:t>공통 규격 변환</a:t>
            </a:r>
            <a:pPr algn="l" indent="0" marL="0">
              <a:lnSpc>
                <a:spcPts val="2610"/>
              </a:lnSpc>
              <a:buNone/>
            </a:pPr>
            <a:endParaRPr lang="en-US" sz="1800" dirty="0"/>
          </a:p>
          <a:p>
            <a:pPr algn="l" indent="0" marL="0">
              <a:lnSpc>
                <a:spcPts val="2610"/>
              </a:lnSpc>
              <a:buNone/>
            </a:pPr>
            <a:r>
              <a:rPr lang="en-US" sz="1800" dirty="0">
                <a:solidFill>
                  <a:srgbClr val="5B6B82"/>
                </a:solidFill>
                <a:latin typeface="Pretendard" pitchFamily="34" charset="0"/>
                <a:ea typeface="Pretendard" pitchFamily="34" charset="-122"/>
                <a:cs typeface="Pretendard" pitchFamily="34" charset="-120"/>
              </a:rPr>
              <a:t>원천 검증·연결 검토</a:t>
            </a:r>
            <a:endParaRPr lang="en-US" sz="1800" dirty="0"/>
          </a:p>
        </p:txBody>
      </p:sp>
      <p:sp>
        <p:nvSpPr>
          <p:cNvPr id="15" name="Shape 11"/>
          <p:cNvSpPr/>
          <p:nvPr/>
        </p:nvSpPr>
        <p:spPr>
          <a:xfrm>
            <a:off x="7635240" y="2762402"/>
            <a:ext cx="3019349" cy="2476195"/>
          </a:xfrm>
          <a:prstGeom prst="roundRect">
            <a:avLst>
              <a:gd name="adj" fmla="val 7681"/>
            </a:avLst>
          </a:prstGeom>
          <a:solidFill>
            <a:srgbClr val="12306A"/>
          </a:solidFill>
          <a:ln w="12700">
            <a:solidFill>
              <a:srgbClr val="FFFFFF">
                <a:alpha val="0"/>
              </a:srgbClr>
            </a:solidFill>
            <a:prstDash val="solid"/>
          </a:ln>
        </p:spPr>
      </p:sp>
      <p:sp>
        <p:nvSpPr>
          <p:cNvPr id="16" name="Text 12"/>
          <p:cNvSpPr txBox="1"/>
          <p:nvPr/>
        </p:nvSpPr>
        <p:spPr>
          <a:xfrm>
            <a:off x="7863840" y="3029407"/>
            <a:ext cx="2563063" cy="277063"/>
          </a:xfrm>
          <a:prstGeom prst="rect">
            <a:avLst/>
          </a:prstGeom>
          <a:noFill/>
          <a:ln/>
        </p:spPr>
        <p:txBody>
          <a:bodyPr wrap="none" lIns="0" tIns="0" rIns="0" bIns="0" rtlCol="0" anchor="ctr"/>
          <a:lstStyle/>
          <a:p>
            <a:pPr algn="l" indent="0" marL="0">
              <a:buNone/>
            </a:pPr>
            <a:r>
              <a:rPr lang="en-US" sz="1800" b="1" dirty="0">
                <a:solidFill>
                  <a:srgbClr val="7FB2FF"/>
                </a:solidFill>
                <a:latin typeface="Pretendard" pitchFamily="34" charset="0"/>
                <a:ea typeface="Pretendard" pitchFamily="34" charset="-122"/>
                <a:cs typeface="Pretendard" pitchFamily="34" charset="-120"/>
              </a:rPr>
              <a:t>03</a:t>
            </a:r>
            <a:endParaRPr lang="en-US" sz="1800" dirty="0"/>
          </a:p>
        </p:txBody>
      </p:sp>
      <p:sp>
        <p:nvSpPr>
          <p:cNvPr id="17" name="Text 13"/>
          <p:cNvSpPr txBox="1"/>
          <p:nvPr/>
        </p:nvSpPr>
        <p:spPr>
          <a:xfrm>
            <a:off x="7863840" y="3362249"/>
            <a:ext cx="2563063"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데이터베이스</a:t>
            </a:r>
            <a:endParaRPr lang="en-US" sz="2550" dirty="0"/>
          </a:p>
        </p:txBody>
      </p:sp>
      <p:sp>
        <p:nvSpPr>
          <p:cNvPr id="18" name="Text 14"/>
          <p:cNvSpPr txBox="1"/>
          <p:nvPr/>
        </p:nvSpPr>
        <p:spPr>
          <a:xfrm>
            <a:off x="7863840" y="3848710"/>
            <a:ext cx="2563063" cy="695858"/>
          </a:xfrm>
          <a:prstGeom prst="rect">
            <a:avLst/>
          </a:prstGeom>
          <a:noFill/>
          <a:ln/>
        </p:spPr>
        <p:txBody>
          <a:bodyPr wrap="square" lIns="0" tIns="0" rIns="0" bIns="0" rtlCol="0" anchor="t"/>
          <a:lstStyle/>
          <a:p>
            <a:pPr algn="l" indent="0" marL="0">
              <a:lnSpc>
                <a:spcPts val="2610"/>
              </a:lnSpc>
              <a:buNone/>
            </a:pPr>
            <a:r>
              <a:rPr lang="en-US" sz="1800" dirty="0">
                <a:solidFill>
                  <a:srgbClr val="B8C7DE"/>
                </a:solidFill>
                <a:latin typeface="Pretendard" pitchFamily="34" charset="0"/>
                <a:ea typeface="Pretendard" pitchFamily="34" charset="-122"/>
                <a:cs typeface="Pretendard" pitchFamily="34" charset="-120"/>
              </a:rPr>
              <a:t>정책·프로그램·사업</a:t>
            </a:r>
            <a:pPr algn="l" indent="0" marL="0">
              <a:lnSpc>
                <a:spcPts val="2610"/>
              </a:lnSpc>
              <a:buNone/>
            </a:pPr>
            <a:endParaRPr lang="en-US" sz="1800" dirty="0"/>
          </a:p>
          <a:p>
            <a:pPr algn="l" indent="0" marL="0">
              <a:lnSpc>
                <a:spcPts val="2610"/>
              </a:lnSpc>
              <a:buNone/>
            </a:pPr>
            <a:r>
              <a:rPr lang="en-US" sz="1800" dirty="0">
                <a:solidFill>
                  <a:srgbClr val="B8C7DE"/>
                </a:solidFill>
                <a:latin typeface="Pretendard" pitchFamily="34" charset="0"/>
                <a:ea typeface="Pretendard" pitchFamily="34" charset="-122"/>
                <a:cs typeface="Pretendard" pitchFamily="34" charset="-120"/>
              </a:rPr>
              <a:t>+ 위치 정보</a:t>
            </a:r>
            <a:endParaRPr lang="en-US" sz="1800" dirty="0"/>
          </a:p>
        </p:txBody>
      </p:sp>
      <p:sp>
        <p:nvSpPr>
          <p:cNvPr id="19" name="Shape 15"/>
          <p:cNvSpPr/>
          <p:nvPr/>
        </p:nvSpPr>
        <p:spPr>
          <a:xfrm>
            <a:off x="10881360" y="2762402"/>
            <a:ext cx="3019349" cy="2476195"/>
          </a:xfrm>
          <a:prstGeom prst="roundRect">
            <a:avLst>
              <a:gd name="adj" fmla="val 7681"/>
            </a:avLst>
          </a:prstGeom>
          <a:solidFill>
            <a:srgbClr val="1F6FEB"/>
          </a:solidFill>
          <a:ln w="12700">
            <a:solidFill>
              <a:srgbClr val="FFFFFF">
                <a:alpha val="0"/>
              </a:srgbClr>
            </a:solidFill>
            <a:prstDash val="solid"/>
          </a:ln>
        </p:spPr>
      </p:sp>
      <p:sp>
        <p:nvSpPr>
          <p:cNvPr id="20" name="Text 16"/>
          <p:cNvSpPr txBox="1"/>
          <p:nvPr/>
        </p:nvSpPr>
        <p:spPr>
          <a:xfrm>
            <a:off x="11109960" y="3029407"/>
            <a:ext cx="2563063" cy="277063"/>
          </a:xfrm>
          <a:prstGeom prst="rect">
            <a:avLst/>
          </a:prstGeom>
          <a:noFill/>
          <a:ln/>
        </p:spPr>
        <p:txBody>
          <a:bodyPr wrap="none" lIns="0" tIns="0" rIns="0" bIns="0" rtlCol="0" anchor="ctr"/>
          <a:lstStyle/>
          <a:p>
            <a:pPr algn="l" indent="0" marL="0">
              <a:buNone/>
            </a:pPr>
            <a:r>
              <a:rPr lang="en-US" sz="1800" b="1" dirty="0">
                <a:solidFill>
                  <a:srgbClr val="DCE8FF"/>
                </a:solidFill>
                <a:latin typeface="Pretendard" pitchFamily="34" charset="0"/>
                <a:ea typeface="Pretendard" pitchFamily="34" charset="-122"/>
                <a:cs typeface="Pretendard" pitchFamily="34" charset="-120"/>
              </a:rPr>
              <a:t>04</a:t>
            </a:r>
            <a:endParaRPr lang="en-US" sz="1800" dirty="0"/>
          </a:p>
        </p:txBody>
      </p:sp>
      <p:sp>
        <p:nvSpPr>
          <p:cNvPr id="21" name="Text 17"/>
          <p:cNvSpPr txBox="1"/>
          <p:nvPr/>
        </p:nvSpPr>
        <p:spPr>
          <a:xfrm>
            <a:off x="11109960" y="3362249"/>
            <a:ext cx="2563063"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API</a:t>
            </a:r>
            <a:endParaRPr lang="en-US" sz="2550" dirty="0"/>
          </a:p>
        </p:txBody>
      </p:sp>
      <p:sp>
        <p:nvSpPr>
          <p:cNvPr id="22" name="Text 18"/>
          <p:cNvSpPr txBox="1"/>
          <p:nvPr/>
        </p:nvSpPr>
        <p:spPr>
          <a:xfrm>
            <a:off x="11109960" y="3848710"/>
            <a:ext cx="2563063" cy="695858"/>
          </a:xfrm>
          <a:prstGeom prst="rect">
            <a:avLst/>
          </a:prstGeom>
          <a:noFill/>
          <a:ln/>
        </p:spPr>
        <p:txBody>
          <a:bodyPr wrap="square" lIns="0" tIns="0" rIns="0" bIns="0" rtlCol="0" anchor="t"/>
          <a:lstStyle/>
          <a:p>
            <a:pPr algn="l" indent="0" marL="0">
              <a:lnSpc>
                <a:spcPts val="2610"/>
              </a:lnSpc>
              <a:buNone/>
            </a:pPr>
            <a:r>
              <a:rPr lang="en-US" sz="1800" dirty="0">
                <a:solidFill>
                  <a:srgbClr val="E8F0FE"/>
                </a:solidFill>
                <a:latin typeface="Pretendard" pitchFamily="34" charset="0"/>
                <a:ea typeface="Pretendard" pitchFamily="34" charset="-122"/>
                <a:cs typeface="Pretendard" pitchFamily="34" charset="-120"/>
              </a:rPr>
              <a:t>화면이 요청하는</a:t>
            </a:r>
            <a:pPr algn="l" indent="0" marL="0">
              <a:lnSpc>
                <a:spcPts val="2610"/>
              </a:lnSpc>
              <a:buNone/>
            </a:pPr>
            <a:endParaRPr lang="en-US" sz="1800" dirty="0"/>
          </a:p>
          <a:p>
            <a:pPr algn="l" indent="0" marL="0">
              <a:lnSpc>
                <a:spcPts val="2610"/>
              </a:lnSpc>
              <a:buNone/>
            </a:pPr>
            <a:r>
              <a:rPr lang="en-US" sz="1800" dirty="0">
                <a:solidFill>
                  <a:srgbClr val="E8F0FE"/>
                </a:solidFill>
                <a:latin typeface="Pretendard" pitchFamily="34" charset="0"/>
                <a:ea typeface="Pretendard" pitchFamily="34" charset="-122"/>
                <a:cs typeface="Pretendard" pitchFamily="34" charset="-120"/>
              </a:rPr>
              <a:t>조회·집계 제공</a:t>
            </a:r>
            <a:endParaRPr lang="en-US" sz="1800" dirty="0"/>
          </a:p>
        </p:txBody>
      </p:sp>
      <p:sp>
        <p:nvSpPr>
          <p:cNvPr id="23" name="Shape 19"/>
          <p:cNvSpPr/>
          <p:nvPr/>
        </p:nvSpPr>
        <p:spPr>
          <a:xfrm>
            <a:off x="14127480" y="2762402"/>
            <a:ext cx="3019349" cy="2476195"/>
          </a:xfrm>
          <a:prstGeom prst="roundRect">
            <a:avLst>
              <a:gd name="adj" fmla="val 7681"/>
            </a:avLst>
          </a:prstGeom>
          <a:solidFill>
            <a:srgbClr val="12B5A6"/>
          </a:solidFill>
          <a:ln w="12700">
            <a:solidFill>
              <a:srgbClr val="FFFFFF">
                <a:alpha val="0"/>
              </a:srgbClr>
            </a:solidFill>
            <a:prstDash val="solid"/>
          </a:ln>
        </p:spPr>
      </p:sp>
      <p:sp>
        <p:nvSpPr>
          <p:cNvPr id="24" name="Text 20"/>
          <p:cNvSpPr txBox="1"/>
          <p:nvPr/>
        </p:nvSpPr>
        <p:spPr>
          <a:xfrm>
            <a:off x="14356080" y="3029407"/>
            <a:ext cx="2563063" cy="277063"/>
          </a:xfrm>
          <a:prstGeom prst="rect">
            <a:avLst/>
          </a:prstGeom>
          <a:noFill/>
          <a:ln/>
        </p:spPr>
        <p:txBody>
          <a:bodyPr wrap="none" lIns="0" tIns="0" rIns="0" bIns="0" rtlCol="0" anchor="ctr"/>
          <a:lstStyle/>
          <a:p>
            <a:pPr algn="l" indent="0" marL="0">
              <a:buNone/>
            </a:pPr>
            <a:r>
              <a:rPr lang="en-US" sz="1800" b="1" dirty="0">
                <a:solidFill>
                  <a:srgbClr val="DFF7F4"/>
                </a:solidFill>
                <a:latin typeface="Pretendard" pitchFamily="34" charset="0"/>
                <a:ea typeface="Pretendard" pitchFamily="34" charset="-122"/>
                <a:cs typeface="Pretendard" pitchFamily="34" charset="-120"/>
              </a:rPr>
              <a:t>05</a:t>
            </a:r>
            <a:endParaRPr lang="en-US" sz="1800" dirty="0"/>
          </a:p>
        </p:txBody>
      </p:sp>
      <p:sp>
        <p:nvSpPr>
          <p:cNvPr id="25" name="Text 21"/>
          <p:cNvSpPr txBox="1"/>
          <p:nvPr/>
        </p:nvSpPr>
        <p:spPr>
          <a:xfrm>
            <a:off x="14356080" y="3362249"/>
            <a:ext cx="2563063" cy="381305"/>
          </a:xfrm>
          <a:prstGeom prst="rect">
            <a:avLst/>
          </a:prstGeom>
          <a:noFill/>
          <a:ln/>
        </p:spPr>
        <p:txBody>
          <a:bodyPr wrap="none" lIns="0" tIns="0" rIns="0" bIns="0" rtlCol="0" anchor="ctr"/>
          <a:lstStyle/>
          <a:p>
            <a:pPr algn="l" indent="0" marL="0">
              <a:buNone/>
            </a:pPr>
            <a:r>
              <a:rPr lang="en-US" sz="2550" b="1" dirty="0">
                <a:solidFill>
                  <a:srgbClr val="FFFFFF"/>
                </a:solidFill>
                <a:latin typeface="Pretendard" pitchFamily="34" charset="0"/>
                <a:ea typeface="Pretendard" pitchFamily="34" charset="-122"/>
                <a:cs typeface="Pretendard" pitchFamily="34" charset="-120"/>
              </a:rPr>
              <a:t>사용자 화면</a:t>
            </a:r>
            <a:endParaRPr lang="en-US" sz="2550" dirty="0"/>
          </a:p>
        </p:txBody>
      </p:sp>
      <p:sp>
        <p:nvSpPr>
          <p:cNvPr id="26" name="Text 22"/>
          <p:cNvSpPr txBox="1"/>
          <p:nvPr/>
        </p:nvSpPr>
        <p:spPr>
          <a:xfrm>
            <a:off x="14356080" y="3848710"/>
            <a:ext cx="2563063" cy="695858"/>
          </a:xfrm>
          <a:prstGeom prst="rect">
            <a:avLst/>
          </a:prstGeom>
          <a:noFill/>
          <a:ln/>
        </p:spPr>
        <p:txBody>
          <a:bodyPr wrap="square" lIns="0" tIns="0" rIns="0" bIns="0" rtlCol="0" anchor="t"/>
          <a:lstStyle/>
          <a:p>
            <a:pPr algn="l" indent="0" marL="0">
              <a:lnSpc>
                <a:spcPts val="2610"/>
              </a:lnSpc>
              <a:buNone/>
            </a:pPr>
            <a:r>
              <a:rPr lang="en-US" sz="1800" dirty="0">
                <a:solidFill>
                  <a:srgbClr val="EFFFFC"/>
                </a:solidFill>
                <a:latin typeface="Pretendard" pitchFamily="34" charset="0"/>
                <a:ea typeface="Pretendard" pitchFamily="34" charset="-122"/>
                <a:cs typeface="Pretendard" pitchFamily="34" charset="-120"/>
              </a:rPr>
              <a:t>지도 시각화</a:t>
            </a:r>
            <a:pPr algn="l" indent="0" marL="0">
              <a:lnSpc>
                <a:spcPts val="2610"/>
              </a:lnSpc>
              <a:buNone/>
            </a:pPr>
            <a:endParaRPr lang="en-US" sz="1800" dirty="0"/>
          </a:p>
          <a:p>
            <a:pPr algn="l" indent="0" marL="0">
              <a:lnSpc>
                <a:spcPts val="2610"/>
              </a:lnSpc>
              <a:buNone/>
            </a:pPr>
            <a:r>
              <a:rPr lang="en-US" sz="1800" dirty="0">
                <a:solidFill>
                  <a:srgbClr val="EFFFFC"/>
                </a:solidFill>
                <a:latin typeface="Pretendard" pitchFamily="34" charset="0"/>
                <a:ea typeface="Pretendard" pitchFamily="34" charset="-122"/>
                <a:cs typeface="Pretendard" pitchFamily="34" charset="-120"/>
              </a:rPr>
              <a:t>추진현황 대시보드</a:t>
            </a:r>
            <a:endParaRPr lang="en-US" sz="1800" dirty="0"/>
          </a:p>
        </p:txBody>
      </p:sp>
      <p:sp>
        <p:nvSpPr>
          <p:cNvPr id="27" name="Text 23"/>
          <p:cNvSpPr txBox="1"/>
          <p:nvPr/>
        </p:nvSpPr>
        <p:spPr>
          <a:xfrm>
            <a:off x="1143000" y="5715000"/>
            <a:ext cx="3020263" cy="648310"/>
          </a:xfrm>
          <a:prstGeom prst="rect">
            <a:avLst/>
          </a:prstGeom>
          <a:noFill/>
          <a:ln/>
        </p:spPr>
        <p:txBody>
          <a:bodyPr wrap="square" lIns="0" tIns="0" rIns="0" bIns="0" rtlCol="0" anchor="t"/>
          <a:lstStyle/>
          <a:p>
            <a:pPr algn="ctr" indent="0" marL="0">
              <a:buNone/>
            </a:pPr>
            <a:r>
              <a:rPr lang="en-US" sz="1950" b="1" dirty="0">
                <a:solidFill>
                  <a:srgbClr val="5B6B82"/>
                </a:solidFill>
                <a:latin typeface="Pretendard" pitchFamily="34" charset="0"/>
                <a:ea typeface="Pretendard" pitchFamily="34" charset="-122"/>
                <a:cs typeface="Pretendard" pitchFamily="34" charset="-120"/>
              </a:rPr>
              <a:t>공공데이터 ·</a:t>
            </a:r>
            <a:pPr algn="ctr" indent="0" marL="0">
              <a:buNone/>
            </a:pPr>
            <a:endParaRPr lang="en-US" sz="1950" dirty="0"/>
          </a:p>
          <a:p>
            <a:pPr algn="ctr" indent="0" marL="0">
              <a:buNone/>
            </a:pPr>
            <a:r>
              <a:rPr lang="en-US" sz="1950" b="1" dirty="0">
                <a:solidFill>
                  <a:srgbClr val="5B6B82"/>
                </a:solidFill>
                <a:latin typeface="Pretendard" pitchFamily="34" charset="0"/>
                <a:ea typeface="Pretendard" pitchFamily="34" charset="-122"/>
                <a:cs typeface="Pretendard" pitchFamily="34" charset="-120"/>
              </a:rPr>
              <a:t>정제 데이터셋</a:t>
            </a:r>
            <a:endParaRPr lang="en-US" sz="1950" dirty="0"/>
          </a:p>
        </p:txBody>
      </p:sp>
      <p:sp>
        <p:nvSpPr>
          <p:cNvPr id="28" name="Text 24"/>
          <p:cNvSpPr txBox="1"/>
          <p:nvPr/>
        </p:nvSpPr>
        <p:spPr>
          <a:xfrm>
            <a:off x="4389120" y="5715000"/>
            <a:ext cx="3020263" cy="648310"/>
          </a:xfrm>
          <a:prstGeom prst="rect">
            <a:avLst/>
          </a:prstGeom>
          <a:noFill/>
          <a:ln/>
        </p:spPr>
        <p:txBody>
          <a:bodyPr wrap="square" lIns="0" tIns="0" rIns="0" bIns="0" rtlCol="0" anchor="ctr"/>
          <a:lstStyle/>
          <a:p>
            <a:pPr algn="ctr" indent="0" marL="0">
              <a:buNone/>
            </a:pPr>
            <a:r>
              <a:rPr lang="en-US" sz="1950" b="1" dirty="0">
                <a:solidFill>
                  <a:srgbClr val="5B6B82"/>
                </a:solidFill>
                <a:latin typeface="Pretendard" pitchFamily="34" charset="0"/>
                <a:ea typeface="Pretendard" pitchFamily="34" charset="-122"/>
                <a:cs typeface="Pretendard" pitchFamily="34" charset="-120"/>
              </a:rPr>
              <a:t>정제 스크립트</a:t>
            </a:r>
            <a:endParaRPr lang="en-US" sz="1950" dirty="0"/>
          </a:p>
        </p:txBody>
      </p:sp>
      <p:sp>
        <p:nvSpPr>
          <p:cNvPr id="29" name="Text 25"/>
          <p:cNvSpPr txBox="1"/>
          <p:nvPr/>
        </p:nvSpPr>
        <p:spPr>
          <a:xfrm>
            <a:off x="7635240" y="5715000"/>
            <a:ext cx="3020263" cy="648310"/>
          </a:xfrm>
          <a:prstGeom prst="rect">
            <a:avLst/>
          </a:prstGeom>
          <a:noFill/>
          <a:ln/>
        </p:spPr>
        <p:txBody>
          <a:bodyPr wrap="square" lIns="0" tIns="0" rIns="0" bIns="0" rtlCol="0" anchor="t"/>
          <a:lstStyle/>
          <a:p>
            <a:pPr algn="ctr" indent="0" marL="0">
              <a:buNone/>
            </a:pPr>
            <a:r>
              <a:rPr lang="en-US" sz="2100" b="1" dirty="0">
                <a:solidFill>
                  <a:srgbClr val="12306A"/>
                </a:solidFill>
                <a:latin typeface="Pretendard" pitchFamily="34" charset="0"/>
                <a:ea typeface="Pretendard" pitchFamily="34" charset="-122"/>
                <a:cs typeface="Pretendard" pitchFamily="34" charset="-120"/>
              </a:rPr>
              <a:t>PostgreSQL</a:t>
            </a:r>
            <a:pPr algn="ctr" indent="0" marL="0">
              <a:buNone/>
            </a:pPr>
            <a:endParaRPr lang="en-US" sz="2100" dirty="0"/>
          </a:p>
          <a:p>
            <a:pPr algn="ctr" indent="0" marL="0">
              <a:buNone/>
            </a:pPr>
            <a:r>
              <a:rPr lang="en-US" sz="2100" b="1" dirty="0">
                <a:solidFill>
                  <a:srgbClr val="12306A"/>
                </a:solidFill>
                <a:latin typeface="Pretendard" pitchFamily="34" charset="0"/>
                <a:ea typeface="Pretendard" pitchFamily="34" charset="-122"/>
                <a:cs typeface="Pretendard" pitchFamily="34" charset="-120"/>
              </a:rPr>
              <a:t>+ PostGIS</a:t>
            </a:r>
            <a:endParaRPr lang="en-US" sz="2100" dirty="0"/>
          </a:p>
        </p:txBody>
      </p:sp>
      <p:sp>
        <p:nvSpPr>
          <p:cNvPr id="30" name="Text 26"/>
          <p:cNvSpPr txBox="1"/>
          <p:nvPr/>
        </p:nvSpPr>
        <p:spPr>
          <a:xfrm>
            <a:off x="10881360" y="5715000"/>
            <a:ext cx="3020263" cy="648310"/>
          </a:xfrm>
          <a:prstGeom prst="rect">
            <a:avLst/>
          </a:prstGeom>
          <a:noFill/>
          <a:ln/>
        </p:spPr>
        <p:txBody>
          <a:bodyPr wrap="square" lIns="0" tIns="0" rIns="0" bIns="0" rtlCol="0" anchor="ctr"/>
          <a:lstStyle/>
          <a:p>
            <a:pPr algn="ctr" indent="0" marL="0">
              <a:buNone/>
            </a:pPr>
            <a:r>
              <a:rPr lang="en-US" sz="2100" b="1" dirty="0">
                <a:solidFill>
                  <a:srgbClr val="1F6FEB"/>
                </a:solidFill>
                <a:latin typeface="Pretendard" pitchFamily="34" charset="0"/>
                <a:ea typeface="Pretendard" pitchFamily="34" charset="-122"/>
                <a:cs typeface="Pretendard" pitchFamily="34" charset="-120"/>
              </a:rPr>
              <a:t>FastAPI</a:t>
            </a:r>
            <a:endParaRPr lang="en-US" sz="2100" dirty="0"/>
          </a:p>
        </p:txBody>
      </p:sp>
      <p:sp>
        <p:nvSpPr>
          <p:cNvPr id="31" name="Text 27"/>
          <p:cNvSpPr txBox="1"/>
          <p:nvPr/>
        </p:nvSpPr>
        <p:spPr>
          <a:xfrm>
            <a:off x="14127480" y="5715000"/>
            <a:ext cx="3020263" cy="648310"/>
          </a:xfrm>
          <a:prstGeom prst="rect">
            <a:avLst/>
          </a:prstGeom>
          <a:noFill/>
          <a:ln/>
        </p:spPr>
        <p:txBody>
          <a:bodyPr wrap="square" lIns="0" tIns="0" rIns="0" bIns="0" rtlCol="0" anchor="ctr"/>
          <a:lstStyle/>
          <a:p>
            <a:pPr algn="ctr" indent="0" marL="0">
              <a:buNone/>
            </a:pPr>
            <a:r>
              <a:rPr lang="en-US" sz="2100" b="1" dirty="0">
                <a:solidFill>
                  <a:srgbClr val="0E8C80"/>
                </a:solidFill>
                <a:latin typeface="Pretendard" pitchFamily="34" charset="0"/>
                <a:ea typeface="Pretendard" pitchFamily="34" charset="-122"/>
                <a:cs typeface="Pretendard" pitchFamily="34" charset="-120"/>
              </a:rPr>
              <a:t>React + Vite</a:t>
            </a:r>
            <a:endParaRPr lang="en-US" sz="2100" dirty="0"/>
          </a:p>
        </p:txBody>
      </p:sp>
      <p:sp>
        <p:nvSpPr>
          <p:cNvPr id="32" name="Text 28"/>
          <p:cNvSpPr txBox="1"/>
          <p:nvPr/>
        </p:nvSpPr>
        <p:spPr>
          <a:xfrm>
            <a:off x="1619402" y="7763256"/>
            <a:ext cx="4000500" cy="829361"/>
          </a:xfrm>
          <a:prstGeom prst="rect">
            <a:avLst/>
          </a:prstGeom>
          <a:noFill/>
          <a:ln/>
        </p:spPr>
        <p:txBody>
          <a:bodyPr wrap="square" lIns="0" tIns="0" rIns="0" bIns="0" rtlCol="0" anchor="t"/>
          <a:lstStyle/>
          <a:p>
            <a:pPr algn="l" indent="0" marL="0">
              <a:lnSpc>
                <a:spcPct val="135000"/>
              </a:lnSpc>
              <a:buNone/>
            </a:pPr>
            <a:r>
              <a:rPr lang="en-US" sz="2400" b="1" dirty="0">
                <a:solidFill>
                  <a:srgbClr val="FFFFFF"/>
                </a:solidFill>
                <a:latin typeface="Pretendard" pitchFamily="34" charset="0"/>
                <a:ea typeface="Pretendard" pitchFamily="34" charset="-122"/>
                <a:cs typeface="Pretendard" pitchFamily="34" charset="-120"/>
              </a:rPr>
              <a:t>기술은 간결하게,</a:t>
            </a:r>
            <a:pPr algn="l" indent="0" marL="0">
              <a:lnSpc>
                <a:spcPct val="135000"/>
              </a:lnSpc>
              <a:buNone/>
            </a:pPr>
            <a:endParaRPr lang="en-US" sz="2400" dirty="0"/>
          </a:p>
          <a:p>
            <a:pPr algn="l" indent="0" marL="0">
              <a:lnSpc>
                <a:spcPct val="135000"/>
              </a:lnSpc>
              <a:buNone/>
            </a:pPr>
            <a:r>
              <a:rPr lang="en-US" sz="2400" b="1" dirty="0">
                <a:solidFill>
                  <a:srgbClr val="12B5A6"/>
                </a:solidFill>
                <a:latin typeface="Pretendard" pitchFamily="34" charset="0"/>
                <a:ea typeface="Pretendard" pitchFamily="34" charset="-122"/>
                <a:cs typeface="Pretendard" pitchFamily="34" charset="-120"/>
              </a:rPr>
              <a:t>신뢰는 구조로</a:t>
            </a:r>
            <a:endParaRPr lang="en-US" sz="2400" dirty="0"/>
          </a:p>
        </p:txBody>
      </p:sp>
      <p:sp>
        <p:nvSpPr>
          <p:cNvPr id="33" name="Text 29"/>
          <p:cNvSpPr txBox="1"/>
          <p:nvPr/>
        </p:nvSpPr>
        <p:spPr>
          <a:xfrm>
            <a:off x="6286500" y="7731252"/>
            <a:ext cx="6782105" cy="844906"/>
          </a:xfrm>
          <a:prstGeom prst="rect">
            <a:avLst/>
          </a:prstGeom>
          <a:noFill/>
          <a:ln/>
        </p:spPr>
        <p:txBody>
          <a:bodyPr wrap="square" lIns="0" tIns="0" rIns="0" bIns="0" rtlCol="0" anchor="t"/>
          <a:lstStyle/>
          <a:p>
            <a:pPr algn="l" indent="0" marL="0">
              <a:lnSpc>
                <a:spcPts val="3139"/>
              </a:lnSpc>
              <a:buNone/>
            </a:pPr>
            <a:r>
              <a:rPr lang="en-US" sz="2025" dirty="0">
                <a:solidFill>
                  <a:srgbClr val="B8C7DE"/>
                </a:solidFill>
                <a:latin typeface="Pretendard" pitchFamily="34" charset="0"/>
                <a:ea typeface="Pretendard" pitchFamily="34" charset="-122"/>
                <a:cs typeface="Pretendard" pitchFamily="34" charset="-120"/>
              </a:rPr>
              <a:t>화면은 DB에 </a:t>
            </a:r>
            <a:pPr algn="l" indent="0" marL="0">
              <a:lnSpc>
                <a:spcPts val="3139"/>
              </a:lnSpc>
              <a:buNone/>
            </a:pPr>
            <a:r>
              <a:rPr lang="en-US" sz="2025" b="1" dirty="0">
                <a:solidFill>
                  <a:srgbClr val="FFFFFF"/>
                </a:solidFill>
                <a:latin typeface="Pretendard" pitchFamily="34" charset="0"/>
                <a:ea typeface="Pretendard" pitchFamily="34" charset="-122"/>
                <a:cs typeface="Pretendard" pitchFamily="34" charset="-120"/>
              </a:rPr>
              <a:t>저장된 연결</a:t>
            </a:r>
            <a:pPr algn="l" indent="0" marL="0">
              <a:lnSpc>
                <a:spcPts val="3139"/>
              </a:lnSpc>
              <a:buNone/>
            </a:pPr>
            <a:r>
              <a:rPr lang="en-US" sz="2025" dirty="0">
                <a:solidFill>
                  <a:srgbClr val="B8C7DE"/>
                </a:solidFill>
                <a:latin typeface="Pretendard" pitchFamily="34" charset="0"/>
                <a:ea typeface="Pretendard" pitchFamily="34" charset="-122"/>
                <a:cs typeface="Pretendard" pitchFamily="34" charset="-120"/>
              </a:rPr>
              <a:t>만 조회합니다.</a:t>
            </a:r>
            <a:pPr algn="l" indent="0" marL="0">
              <a:lnSpc>
                <a:spcPts val="3139"/>
              </a:lnSpc>
              <a:buNone/>
            </a:pPr>
            <a:endParaRPr lang="en-US" sz="2025" dirty="0"/>
          </a:p>
          <a:p>
            <a:pPr algn="l" indent="0" marL="0">
              <a:lnSpc>
                <a:spcPts val="3139"/>
              </a:lnSpc>
              <a:buNone/>
            </a:pPr>
            <a:r>
              <a:rPr lang="en-US" sz="2025" dirty="0">
                <a:solidFill>
                  <a:srgbClr val="B8C7DE"/>
                </a:solidFill>
                <a:latin typeface="Pretendard" pitchFamily="34" charset="0"/>
                <a:ea typeface="Pretendard" pitchFamily="34" charset="-122"/>
                <a:cs typeface="Pretendard" pitchFamily="34" charset="-120"/>
              </a:rPr>
              <a:t>화면을 열 때 새로 매칭하지 않아, 누가 봐도 같은 근거를 확인합니다.</a:t>
            </a:r>
            <a:endParaRPr lang="en-US" sz="2025" dirty="0"/>
          </a:p>
        </p:txBody>
      </p:sp>
      <p:sp>
        <p:nvSpPr>
          <p:cNvPr id="34" name="Text 30"/>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35" name="Text 31"/>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43000" y="2095805"/>
            <a:ext cx="10858500" cy="6115507"/>
          </a:xfrm>
          <a:prstGeom prst="roundRect">
            <a:avLst>
              <a:gd name="adj" fmla="val 2497"/>
            </a:avLst>
          </a:prstGeom>
          <a:solidFill>
            <a:srgbClr val="0A1F44"/>
          </a:solidFill>
          <a:ln w="12700">
            <a:solidFill>
              <a:srgbClr val="FFFFFF">
                <a:alpha val="0"/>
              </a:srgbClr>
            </a:solidFill>
            <a:prstDash val="solid"/>
          </a:ln>
        </p:spPr>
      </p:sp>
      <p:sp>
        <p:nvSpPr>
          <p:cNvPr id="4" name="Shape 1"/>
          <p:cNvSpPr/>
          <p:nvPr/>
        </p:nvSpPr>
        <p:spPr>
          <a:xfrm>
            <a:off x="12477902" y="6667805"/>
            <a:ext cx="4667098" cy="2381098"/>
          </a:xfrm>
          <a:prstGeom prst="roundRect">
            <a:avLst>
              <a:gd name="adj" fmla="val 6413"/>
            </a:avLst>
          </a:prstGeom>
          <a:solidFill>
            <a:srgbClr val="F5F8FC"/>
          </a:solidFill>
          <a:ln w="12700">
            <a:solidFill>
              <a:srgbClr val="FFFFFF">
                <a:alpha val="0"/>
              </a:srgbClr>
            </a:solidFill>
            <a:prstDash val="solid"/>
          </a:ln>
        </p:spPr>
      </p:sp>
      <p:pic>
        <p:nvPicPr>
          <p:cNvPr id="5" name="Image 0" descr="gen-dedup-3c43840dd55040941fcbe8efb9cc3ad2.png">    </p:cNvPr>
          <p:cNvPicPr>
            <a:picLocks noChangeAspect="1"/>
          </p:cNvPicPr>
          <p:nvPr/>
        </p:nvPicPr>
        <p:blipFill>
          <a:blip r:embed="rId1"/>
          <a:stretch>
            <a:fillRect/>
          </a:stretch>
        </p:blipFill>
        <p:spPr>
          <a:xfrm>
            <a:off x="1238098" y="2190902"/>
            <a:ext cx="10668305" cy="5924398"/>
          </a:xfrm>
          <a:prstGeom prst="rect">
            <a:avLst/>
          </a:prstGeom>
        </p:spPr>
      </p:pic>
      <p:sp>
        <p:nvSpPr>
          <p:cNvPr id="6" name="Shape 2"/>
          <p:cNvSpPr/>
          <p:nvPr/>
        </p:nvSpPr>
        <p:spPr>
          <a:xfrm>
            <a:off x="2762402" y="3409798"/>
            <a:ext cx="8934602" cy="952805"/>
          </a:xfrm>
          <a:prstGeom prst="roundRect">
            <a:avLst>
              <a:gd name="adj" fmla="val 9981"/>
            </a:avLst>
          </a:prstGeom>
          <a:noFill/>
          <a:ln w="50800">
            <a:solidFill>
              <a:srgbClr val="E8A317"/>
            </a:solidFill>
            <a:prstDash val="solid"/>
          </a:ln>
        </p:spPr>
      </p:sp>
      <p:sp>
        <p:nvSpPr>
          <p:cNvPr id="7" name="Shape 3"/>
          <p:cNvSpPr/>
          <p:nvPr/>
        </p:nvSpPr>
        <p:spPr>
          <a:xfrm>
            <a:off x="2762402" y="7000646"/>
            <a:ext cx="8934602" cy="1123798"/>
          </a:xfrm>
          <a:prstGeom prst="roundRect">
            <a:avLst>
              <a:gd name="adj" fmla="val 8462"/>
            </a:avLst>
          </a:prstGeom>
          <a:noFill/>
          <a:ln w="50800">
            <a:solidFill>
              <a:srgbClr val="E8A317"/>
            </a:solidFill>
            <a:prstDash val="solid"/>
          </a:ln>
        </p:spPr>
      </p:sp>
      <p:sp>
        <p:nvSpPr>
          <p:cNvPr id="8" name="Shape 4"/>
          <p:cNvSpPr/>
          <p:nvPr/>
        </p:nvSpPr>
        <p:spPr>
          <a:xfrm>
            <a:off x="2762402" y="4401007"/>
            <a:ext cx="2743200" cy="2361895"/>
          </a:xfrm>
          <a:prstGeom prst="roundRect">
            <a:avLst>
              <a:gd name="adj" fmla="val 4026"/>
            </a:avLst>
          </a:prstGeom>
          <a:noFill/>
          <a:ln w="50800">
            <a:solidFill>
              <a:srgbClr val="E8A317"/>
            </a:solidFill>
            <a:prstDash val="solid"/>
          </a:ln>
        </p:spPr>
      </p:sp>
      <p:sp>
        <p:nvSpPr>
          <p:cNvPr id="9" name="Text 5"/>
          <p:cNvSpPr txBox="1"/>
          <p:nvPr/>
        </p:nvSpPr>
        <p:spPr>
          <a:xfrm>
            <a:off x="1143000" y="571500"/>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08 구현 결과 ① 정책 및 사업 추진현황</a:t>
            </a:r>
            <a:endParaRPr lang="en-US" sz="2100" dirty="0"/>
          </a:p>
        </p:txBody>
      </p:sp>
      <p:sp>
        <p:nvSpPr>
          <p:cNvPr id="10" name="Text 6"/>
          <p:cNvSpPr txBox="1"/>
          <p:nvPr/>
        </p:nvSpPr>
        <p:spPr>
          <a:xfrm>
            <a:off x="1143000" y="990295"/>
            <a:ext cx="16002000" cy="590702"/>
          </a:xfrm>
          <a:prstGeom prst="rect">
            <a:avLst/>
          </a:prstGeom>
          <a:noFill/>
          <a:ln/>
        </p:spPr>
        <p:txBody>
          <a:bodyPr wrap="none" lIns="0" tIns="0" rIns="0" bIns="0" rtlCol="0" anchor="ctr"/>
          <a:lstStyle/>
          <a:p>
            <a:pPr algn="l" indent="0" marL="0">
              <a:buNone/>
            </a:pPr>
            <a:r>
              <a:rPr lang="en-US" sz="3900" b="1" spc="-112" kern="0" dirty="0">
                <a:solidFill>
                  <a:srgbClr val="0A1F44"/>
                </a:solidFill>
                <a:latin typeface="Pretendard" pitchFamily="34" charset="0"/>
                <a:ea typeface="Pretendard" pitchFamily="34" charset="-122"/>
                <a:cs typeface="Pretendard" pitchFamily="34" charset="-120"/>
              </a:rPr>
              <a:t>사업 하나를 고르면, </a:t>
            </a:r>
            <a:pPr algn="l" indent="0" marL="0">
              <a:buNone/>
            </a:pPr>
            <a:r>
              <a:rPr lang="en-US" sz="3900" b="1" spc="-112" kern="0" dirty="0">
                <a:solidFill>
                  <a:srgbClr val="1F6FEB"/>
                </a:solidFill>
                <a:latin typeface="Pretendard" pitchFamily="34" charset="0"/>
                <a:ea typeface="Pretendard" pitchFamily="34" charset="-122"/>
                <a:cs typeface="Pretendard" pitchFamily="34" charset="-120"/>
              </a:rPr>
              <a:t>6단계 진행</a:t>
            </a:r>
            <a:pPr algn="l" indent="0" marL="0">
              <a:buNone/>
            </a:pPr>
            <a:r>
              <a:rPr lang="en-US" sz="3900" b="1" spc="-112" kern="0" dirty="0">
                <a:solidFill>
                  <a:srgbClr val="0A1F44"/>
                </a:solidFill>
                <a:latin typeface="Pretendard" pitchFamily="34" charset="0"/>
                <a:ea typeface="Pretendard" pitchFamily="34" charset="-122"/>
                <a:cs typeface="Pretendard" pitchFamily="34" charset="-120"/>
              </a:rPr>
              <a:t>이 보입니다</a:t>
            </a:r>
            <a:endParaRPr lang="en-US" sz="3900" dirty="0"/>
          </a:p>
        </p:txBody>
      </p:sp>
      <p:sp>
        <p:nvSpPr>
          <p:cNvPr id="11" name="Shape 7"/>
          <p:cNvSpPr/>
          <p:nvPr/>
        </p:nvSpPr>
        <p:spPr>
          <a:xfrm>
            <a:off x="2438705" y="3238805"/>
            <a:ext cx="457200" cy="457200"/>
          </a:xfrm>
          <a:prstGeom prst="ellipse">
            <a:avLst/>
          </a:prstGeom>
          <a:solidFill>
            <a:srgbClr val="E8A317"/>
          </a:solidFill>
          <a:ln w="12700">
            <a:solidFill>
              <a:srgbClr val="FFFFFF">
                <a:alpha val="0"/>
              </a:srgbClr>
            </a:solidFill>
            <a:prstDash val="solid"/>
          </a:ln>
        </p:spPr>
      </p:sp>
      <p:sp>
        <p:nvSpPr>
          <p:cNvPr id="12" name="Text 8"/>
          <p:cNvSpPr/>
          <p:nvPr/>
        </p:nvSpPr>
        <p:spPr>
          <a:xfrm>
            <a:off x="2438705" y="3238805"/>
            <a:ext cx="457200" cy="4572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1</a:t>
            </a:r>
            <a:endParaRPr lang="en-US" sz="2100" dirty="0"/>
          </a:p>
        </p:txBody>
      </p:sp>
      <p:sp>
        <p:nvSpPr>
          <p:cNvPr id="13" name="Shape 9"/>
          <p:cNvSpPr/>
          <p:nvPr/>
        </p:nvSpPr>
        <p:spPr>
          <a:xfrm>
            <a:off x="2438705" y="4248302"/>
            <a:ext cx="457200" cy="457200"/>
          </a:xfrm>
          <a:prstGeom prst="ellipse">
            <a:avLst/>
          </a:prstGeom>
          <a:solidFill>
            <a:srgbClr val="E8A317"/>
          </a:solidFill>
          <a:ln w="12700">
            <a:solidFill>
              <a:srgbClr val="FFFFFF">
                <a:alpha val="0"/>
              </a:srgbClr>
            </a:solidFill>
            <a:prstDash val="solid"/>
          </a:ln>
        </p:spPr>
      </p:sp>
      <p:sp>
        <p:nvSpPr>
          <p:cNvPr id="14" name="Text 10"/>
          <p:cNvSpPr/>
          <p:nvPr/>
        </p:nvSpPr>
        <p:spPr>
          <a:xfrm>
            <a:off x="2438705" y="4248302"/>
            <a:ext cx="457200" cy="4572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2</a:t>
            </a:r>
            <a:endParaRPr lang="en-US" sz="2100" dirty="0"/>
          </a:p>
        </p:txBody>
      </p:sp>
      <p:sp>
        <p:nvSpPr>
          <p:cNvPr id="15" name="Shape 11"/>
          <p:cNvSpPr/>
          <p:nvPr/>
        </p:nvSpPr>
        <p:spPr>
          <a:xfrm>
            <a:off x="2438705" y="6819595"/>
            <a:ext cx="457200" cy="457200"/>
          </a:xfrm>
          <a:prstGeom prst="ellipse">
            <a:avLst/>
          </a:prstGeom>
          <a:solidFill>
            <a:srgbClr val="E8A317"/>
          </a:solidFill>
          <a:ln w="12700">
            <a:solidFill>
              <a:srgbClr val="FFFFFF">
                <a:alpha val="0"/>
              </a:srgbClr>
            </a:solidFill>
            <a:prstDash val="solid"/>
          </a:ln>
        </p:spPr>
      </p:sp>
      <p:sp>
        <p:nvSpPr>
          <p:cNvPr id="16" name="Text 12"/>
          <p:cNvSpPr/>
          <p:nvPr/>
        </p:nvSpPr>
        <p:spPr>
          <a:xfrm>
            <a:off x="2438705" y="6819595"/>
            <a:ext cx="457200" cy="4572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3</a:t>
            </a:r>
            <a:endParaRPr lang="en-US" sz="2100" dirty="0"/>
          </a:p>
        </p:txBody>
      </p:sp>
      <p:sp>
        <p:nvSpPr>
          <p:cNvPr id="17" name="Text 13"/>
          <p:cNvSpPr txBox="1"/>
          <p:nvPr/>
        </p:nvSpPr>
        <p:spPr>
          <a:xfrm>
            <a:off x="1143000" y="8334756"/>
            <a:ext cx="10858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실제 서비스 화면 · 추진현황 › 사업 (서울 강동구 고덕강일 3단지 예시)</a:t>
            </a:r>
            <a:endParaRPr lang="en-US" sz="1800" dirty="0"/>
          </a:p>
        </p:txBody>
      </p:sp>
      <p:sp>
        <p:nvSpPr>
          <p:cNvPr id="18" name="Shape 14"/>
          <p:cNvSpPr/>
          <p:nvPr/>
        </p:nvSpPr>
        <p:spPr>
          <a:xfrm>
            <a:off x="12477902" y="2143354"/>
            <a:ext cx="418795" cy="418795"/>
          </a:xfrm>
          <a:prstGeom prst="ellipse">
            <a:avLst/>
          </a:prstGeom>
          <a:solidFill>
            <a:srgbClr val="E8A317"/>
          </a:solidFill>
          <a:ln w="12700">
            <a:solidFill>
              <a:srgbClr val="FFFFFF">
                <a:alpha val="0"/>
              </a:srgbClr>
            </a:solidFill>
            <a:prstDash val="solid"/>
          </a:ln>
        </p:spPr>
      </p:sp>
      <p:sp>
        <p:nvSpPr>
          <p:cNvPr id="19" name="Text 15"/>
          <p:cNvSpPr/>
          <p:nvPr/>
        </p:nvSpPr>
        <p:spPr>
          <a:xfrm>
            <a:off x="12477902" y="2143354"/>
            <a:ext cx="419710" cy="41971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950" b="1" dirty="0">
                <a:solidFill>
                  <a:srgbClr val="FFFFFF"/>
                </a:solidFill>
                <a:latin typeface="Pretendard" pitchFamily="34" charset="0"/>
                <a:ea typeface="Pretendard" pitchFamily="34" charset="-122"/>
                <a:cs typeface="Pretendard" pitchFamily="34" charset="-120"/>
              </a:rPr>
              <a:t>1</a:t>
            </a:r>
            <a:endParaRPr lang="en-US" sz="1950" dirty="0"/>
          </a:p>
        </p:txBody>
      </p:sp>
      <p:sp>
        <p:nvSpPr>
          <p:cNvPr id="20" name="Text 16"/>
          <p:cNvSpPr txBox="1"/>
          <p:nvPr/>
        </p:nvSpPr>
        <p:spPr>
          <a:xfrm>
            <a:off x="13068605" y="2143354"/>
            <a:ext cx="3521354"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정책 › 프로그램 › 사업</a:t>
            </a:r>
            <a:endParaRPr lang="en-US" sz="2250" dirty="0"/>
          </a:p>
        </p:txBody>
      </p:sp>
      <p:sp>
        <p:nvSpPr>
          <p:cNvPr id="21" name="Text 17"/>
          <p:cNvSpPr txBox="1"/>
          <p:nvPr/>
        </p:nvSpPr>
        <p:spPr>
          <a:xfrm>
            <a:off x="13068605" y="2500884"/>
            <a:ext cx="2457907" cy="671170"/>
          </a:xfrm>
          <a:prstGeom prst="rect">
            <a:avLst/>
          </a:prstGeom>
          <a:noFill/>
          <a:ln/>
        </p:spPr>
        <p:txBody>
          <a:bodyPr wrap="square" lIns="0" tIns="0" rIns="0" bIns="0" rtlCol="0" anchor="t"/>
          <a:lstStyle/>
          <a:p>
            <a:pPr algn="l" indent="0" marL="0">
              <a:lnSpc>
                <a:spcPts val="2520"/>
              </a:lnSpc>
              <a:buNone/>
            </a:pPr>
            <a:r>
              <a:rPr lang="en-US" sz="1800" dirty="0">
                <a:solidFill>
                  <a:srgbClr val="5B6B82"/>
                </a:solidFill>
                <a:latin typeface="Pretendard" pitchFamily="34" charset="0"/>
                <a:ea typeface="Pretendard" pitchFamily="34" charset="-122"/>
                <a:cs typeface="Pretendard" pitchFamily="34" charset="-120"/>
              </a:rPr>
              <a:t>선택한 사업의 상위 연결과</a:t>
            </a:r>
            <a:pPr algn="l" indent="0" marL="0">
              <a:lnSpc>
                <a:spcPts val="2520"/>
              </a:lnSpc>
              <a:buNone/>
            </a:pPr>
            <a:endParaRPr lang="en-US" sz="1800" dirty="0"/>
          </a:p>
          <a:p>
            <a:pPr algn="l" indent="0" marL="0">
              <a:lnSpc>
                <a:spcPts val="2520"/>
              </a:lnSpc>
              <a:buNone/>
            </a:pPr>
            <a:r>
              <a:rPr lang="en-US" sz="1800" dirty="0">
                <a:solidFill>
                  <a:srgbClr val="5B6B82"/>
                </a:solidFill>
                <a:latin typeface="Pretendard" pitchFamily="34" charset="0"/>
                <a:ea typeface="Pretendard" pitchFamily="34" charset="-122"/>
                <a:cs typeface="Pretendard" pitchFamily="34" charset="-120"/>
              </a:rPr>
              <a:t>검토 상태 표시</a:t>
            </a:r>
            <a:endParaRPr lang="en-US" sz="1800" dirty="0"/>
          </a:p>
        </p:txBody>
      </p:sp>
      <p:sp>
        <p:nvSpPr>
          <p:cNvPr id="22" name="Shape 18"/>
          <p:cNvSpPr/>
          <p:nvPr/>
        </p:nvSpPr>
        <p:spPr>
          <a:xfrm>
            <a:off x="12477902" y="3411626"/>
            <a:ext cx="418795" cy="418795"/>
          </a:xfrm>
          <a:prstGeom prst="ellipse">
            <a:avLst/>
          </a:prstGeom>
          <a:solidFill>
            <a:srgbClr val="E8A317"/>
          </a:solidFill>
          <a:ln w="12700">
            <a:solidFill>
              <a:srgbClr val="FFFFFF">
                <a:alpha val="0"/>
              </a:srgbClr>
            </a:solidFill>
            <a:prstDash val="solid"/>
          </a:ln>
        </p:spPr>
      </p:sp>
      <p:sp>
        <p:nvSpPr>
          <p:cNvPr id="23" name="Text 19"/>
          <p:cNvSpPr/>
          <p:nvPr/>
        </p:nvSpPr>
        <p:spPr>
          <a:xfrm>
            <a:off x="12477902" y="3411626"/>
            <a:ext cx="419710" cy="41971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950" b="1" dirty="0">
                <a:solidFill>
                  <a:srgbClr val="FFFFFF"/>
                </a:solidFill>
                <a:latin typeface="Pretendard" pitchFamily="34" charset="0"/>
                <a:ea typeface="Pretendard" pitchFamily="34" charset="-122"/>
                <a:cs typeface="Pretendard" pitchFamily="34" charset="-120"/>
              </a:rPr>
              <a:t>2</a:t>
            </a:r>
            <a:endParaRPr lang="en-US" sz="1950" dirty="0"/>
          </a:p>
        </p:txBody>
      </p:sp>
      <p:sp>
        <p:nvSpPr>
          <p:cNvPr id="24" name="Text 20"/>
          <p:cNvSpPr txBox="1"/>
          <p:nvPr/>
        </p:nvSpPr>
        <p:spPr>
          <a:xfrm>
            <a:off x="13068605" y="3411626"/>
            <a:ext cx="2191817"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사업 상세·근거</a:t>
            </a:r>
            <a:endParaRPr lang="en-US" sz="2250" dirty="0"/>
          </a:p>
        </p:txBody>
      </p:sp>
      <p:sp>
        <p:nvSpPr>
          <p:cNvPr id="25" name="Text 21"/>
          <p:cNvSpPr txBox="1"/>
          <p:nvPr/>
        </p:nvSpPr>
        <p:spPr>
          <a:xfrm>
            <a:off x="13068605" y="3770071"/>
            <a:ext cx="1705356" cy="671170"/>
          </a:xfrm>
          <a:prstGeom prst="rect">
            <a:avLst/>
          </a:prstGeom>
          <a:noFill/>
          <a:ln/>
        </p:spPr>
        <p:txBody>
          <a:bodyPr wrap="square" lIns="0" tIns="0" rIns="0" bIns="0" rtlCol="0" anchor="t"/>
          <a:lstStyle/>
          <a:p>
            <a:pPr algn="l" indent="0" marL="0">
              <a:lnSpc>
                <a:spcPts val="2520"/>
              </a:lnSpc>
              <a:buNone/>
            </a:pPr>
            <a:r>
              <a:rPr lang="en-US" sz="1800" dirty="0">
                <a:solidFill>
                  <a:srgbClr val="5B6B82"/>
                </a:solidFill>
                <a:latin typeface="Pretendard" pitchFamily="34" charset="0"/>
                <a:ea typeface="Pretendard" pitchFamily="34" charset="-122"/>
                <a:cs typeface="Pretendard" pitchFamily="34" charset="-120"/>
              </a:rPr>
              <a:t>규모·위치·시행자와</a:t>
            </a:r>
            <a:pPr algn="l" indent="0" marL="0">
              <a:lnSpc>
                <a:spcPts val="2520"/>
              </a:lnSpc>
              <a:buNone/>
            </a:pPr>
            <a:endParaRPr lang="en-US" sz="1800" dirty="0"/>
          </a:p>
          <a:p>
            <a:pPr algn="l" indent="0" marL="0">
              <a:lnSpc>
                <a:spcPts val="2520"/>
              </a:lnSpc>
              <a:buNone/>
            </a:pPr>
            <a:r>
              <a:rPr lang="en-US" sz="1800" dirty="0">
                <a:solidFill>
                  <a:srgbClr val="5B6B82"/>
                </a:solidFill>
                <a:latin typeface="Pretendard" pitchFamily="34" charset="0"/>
                <a:ea typeface="Pretendard" pitchFamily="34" charset="-122"/>
                <a:cs typeface="Pretendard" pitchFamily="34" charset="-120"/>
              </a:rPr>
              <a:t>수집 근거 확인</a:t>
            </a:r>
            <a:endParaRPr lang="en-US" sz="1800" dirty="0"/>
          </a:p>
        </p:txBody>
      </p:sp>
      <p:sp>
        <p:nvSpPr>
          <p:cNvPr id="26" name="Shape 22"/>
          <p:cNvSpPr/>
          <p:nvPr/>
        </p:nvSpPr>
        <p:spPr>
          <a:xfrm>
            <a:off x="12477902" y="4679899"/>
            <a:ext cx="418795" cy="418795"/>
          </a:xfrm>
          <a:prstGeom prst="ellipse">
            <a:avLst/>
          </a:prstGeom>
          <a:solidFill>
            <a:srgbClr val="E8A317"/>
          </a:solidFill>
          <a:ln w="12700">
            <a:solidFill>
              <a:srgbClr val="FFFFFF">
                <a:alpha val="0"/>
              </a:srgbClr>
            </a:solidFill>
            <a:prstDash val="solid"/>
          </a:ln>
        </p:spPr>
      </p:sp>
      <p:sp>
        <p:nvSpPr>
          <p:cNvPr id="27" name="Text 23"/>
          <p:cNvSpPr/>
          <p:nvPr/>
        </p:nvSpPr>
        <p:spPr>
          <a:xfrm>
            <a:off x="12477902" y="4679899"/>
            <a:ext cx="419710" cy="41971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1950" b="1" dirty="0">
                <a:solidFill>
                  <a:srgbClr val="FFFFFF"/>
                </a:solidFill>
                <a:latin typeface="Pretendard" pitchFamily="34" charset="0"/>
                <a:ea typeface="Pretendard" pitchFamily="34" charset="-122"/>
                <a:cs typeface="Pretendard" pitchFamily="34" charset="-120"/>
              </a:rPr>
              <a:t>3</a:t>
            </a:r>
            <a:endParaRPr lang="en-US" sz="1950" dirty="0"/>
          </a:p>
        </p:txBody>
      </p:sp>
      <p:sp>
        <p:nvSpPr>
          <p:cNvPr id="28" name="Text 24"/>
          <p:cNvSpPr txBox="1"/>
          <p:nvPr/>
        </p:nvSpPr>
        <p:spPr>
          <a:xfrm>
            <a:off x="13068605" y="4679899"/>
            <a:ext cx="2410358" cy="342900"/>
          </a:xfrm>
          <a:prstGeom prst="rect">
            <a:avLst/>
          </a:prstGeom>
          <a:noFill/>
          <a:ln/>
        </p:spPr>
        <p:txBody>
          <a:bodyPr wrap="none" lIns="0" tIns="0" rIns="0" bIns="0" rtlCol="0" anchor="ctr"/>
          <a:lstStyle/>
          <a:p>
            <a:pPr algn="l" indent="0" marL="0">
              <a:buNone/>
            </a:pPr>
            <a:r>
              <a:rPr lang="en-US" sz="2250" b="1" dirty="0">
                <a:solidFill>
                  <a:srgbClr val="0A1F44"/>
                </a:solidFill>
                <a:latin typeface="Pretendard" pitchFamily="34" charset="0"/>
                <a:ea typeface="Pretendard" pitchFamily="34" charset="-122"/>
                <a:cs typeface="Pretendard" pitchFamily="34" charset="-120"/>
              </a:rPr>
              <a:t>사업 × 단계 진행</a:t>
            </a:r>
            <a:endParaRPr lang="en-US" sz="2250" dirty="0"/>
          </a:p>
        </p:txBody>
      </p:sp>
      <p:sp>
        <p:nvSpPr>
          <p:cNvPr id="29" name="Text 25"/>
          <p:cNvSpPr txBox="1"/>
          <p:nvPr/>
        </p:nvSpPr>
        <p:spPr>
          <a:xfrm>
            <a:off x="13068605" y="5038344"/>
            <a:ext cx="2410358" cy="671170"/>
          </a:xfrm>
          <a:prstGeom prst="rect">
            <a:avLst/>
          </a:prstGeom>
          <a:noFill/>
          <a:ln/>
        </p:spPr>
        <p:txBody>
          <a:bodyPr wrap="square" lIns="0" tIns="0" rIns="0" bIns="0" rtlCol="0" anchor="t"/>
          <a:lstStyle/>
          <a:p>
            <a:pPr algn="l" indent="0" marL="0">
              <a:lnSpc>
                <a:spcPts val="2520"/>
              </a:lnSpc>
              <a:buNone/>
            </a:pPr>
            <a:r>
              <a:rPr lang="en-US" sz="1800" dirty="0">
                <a:solidFill>
                  <a:srgbClr val="5B6B82"/>
                </a:solidFill>
                <a:latin typeface="Pretendard" pitchFamily="34" charset="0"/>
                <a:ea typeface="Pretendard" pitchFamily="34" charset="-122"/>
                <a:cs typeface="Pretendard" pitchFamily="34" charset="-120"/>
              </a:rPr>
              <a:t>목표와 확인된 실적을 구분,</a:t>
            </a:r>
            <a:pPr algn="l" indent="0" marL="0">
              <a:lnSpc>
                <a:spcPts val="2520"/>
              </a:lnSpc>
              <a:buNone/>
            </a:pPr>
            <a:endParaRPr lang="en-US" sz="1800" dirty="0"/>
          </a:p>
          <a:p>
            <a:pPr algn="l" indent="0" marL="0">
              <a:lnSpc>
                <a:spcPts val="2520"/>
              </a:lnSpc>
              <a:buNone/>
            </a:pPr>
            <a:r>
              <a:rPr lang="en-US" sz="1800" dirty="0">
                <a:solidFill>
                  <a:srgbClr val="5B6B82"/>
                </a:solidFill>
                <a:latin typeface="Pretendard" pitchFamily="34" charset="0"/>
                <a:ea typeface="Pretendard" pitchFamily="34" charset="-122"/>
                <a:cs typeface="Pretendard" pitchFamily="34" charset="-120"/>
              </a:rPr>
              <a:t>미확보 정보는 그대로 표시</a:t>
            </a:r>
            <a:endParaRPr lang="en-US" sz="1800" dirty="0"/>
          </a:p>
        </p:txBody>
      </p:sp>
      <p:sp>
        <p:nvSpPr>
          <p:cNvPr id="30" name="Text 26"/>
          <p:cNvSpPr txBox="1"/>
          <p:nvPr/>
        </p:nvSpPr>
        <p:spPr>
          <a:xfrm>
            <a:off x="12763195" y="6877202"/>
            <a:ext cx="4096512" cy="277063"/>
          </a:xfrm>
          <a:prstGeom prst="rect">
            <a:avLst/>
          </a:prstGeom>
          <a:noFill/>
          <a:ln/>
        </p:spPr>
        <p:txBody>
          <a:bodyPr wrap="none" lIns="0" tIns="0" rIns="0" bIns="0" rtlCol="0" anchor="ctr"/>
          <a:lstStyle/>
          <a:p>
            <a:pPr algn="l" indent="0" marL="0">
              <a:buNone/>
            </a:pPr>
            <a:r>
              <a:rPr lang="en-US" sz="1800" b="1" dirty="0">
                <a:solidFill>
                  <a:srgbClr val="5B6B82"/>
                </a:solidFill>
                <a:latin typeface="Pretendard" pitchFamily="34" charset="0"/>
                <a:ea typeface="Pretendard" pitchFamily="34" charset="-122"/>
                <a:cs typeface="Pretendard" pitchFamily="34" charset="-120"/>
              </a:rPr>
              <a:t>현재 상태</a:t>
            </a:r>
            <a:endParaRPr lang="en-US" sz="1800" dirty="0"/>
          </a:p>
        </p:txBody>
      </p:sp>
      <p:sp>
        <p:nvSpPr>
          <p:cNvPr id="31" name="Shape 27"/>
          <p:cNvSpPr/>
          <p:nvPr/>
        </p:nvSpPr>
        <p:spPr>
          <a:xfrm>
            <a:off x="12763195" y="7306056"/>
            <a:ext cx="599846" cy="362102"/>
          </a:xfrm>
          <a:prstGeom prst="roundRect">
            <a:avLst>
              <a:gd name="adj" fmla="val 20960"/>
            </a:avLst>
          </a:prstGeom>
          <a:solidFill>
            <a:srgbClr val="12B5A6"/>
          </a:solidFill>
          <a:ln w="12700">
            <a:solidFill>
              <a:srgbClr val="FFFFFF">
                <a:alpha val="0"/>
              </a:srgbClr>
            </a:solidFill>
            <a:prstDash val="solid"/>
          </a:ln>
        </p:spPr>
      </p:sp>
      <p:sp>
        <p:nvSpPr>
          <p:cNvPr id="32" name="Text 28"/>
          <p:cNvSpPr txBox="1"/>
          <p:nvPr/>
        </p:nvSpPr>
        <p:spPr>
          <a:xfrm>
            <a:off x="12763195" y="7306056"/>
            <a:ext cx="600761" cy="362102"/>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algn="l" indent="0" marL="0">
              <a:buNone/>
            </a:pPr>
            <a:r>
              <a:rPr lang="en-US" sz="1650" b="1" dirty="0">
                <a:solidFill>
                  <a:srgbClr val="FFFFFF"/>
                </a:solidFill>
                <a:latin typeface="Pretendard" pitchFamily="34" charset="0"/>
                <a:ea typeface="Pretendard" pitchFamily="34" charset="-122"/>
                <a:cs typeface="Pretendard" pitchFamily="34" charset="-120"/>
              </a:rPr>
              <a:t>구현</a:t>
            </a:r>
            <a:endParaRPr lang="en-US" sz="1650" dirty="0"/>
          </a:p>
        </p:txBody>
      </p:sp>
      <p:sp>
        <p:nvSpPr>
          <p:cNvPr id="33" name="Text 29"/>
          <p:cNvSpPr txBox="1"/>
          <p:nvPr/>
        </p:nvSpPr>
        <p:spPr>
          <a:xfrm>
            <a:off x="13487400" y="7329830"/>
            <a:ext cx="2075688" cy="314554"/>
          </a:xfrm>
          <a:prstGeom prst="rect">
            <a:avLst/>
          </a:prstGeom>
          <a:noFill/>
          <a:ln/>
        </p:spPr>
        <p:txBody>
          <a:bodyPr wrap="none" lIns="0" tIns="0" rIns="0" bIns="0" rtlCol="0" anchor="ctr"/>
          <a:lstStyle/>
          <a:p>
            <a:pPr algn="l" indent="0" marL="0">
              <a:buNone/>
            </a:pPr>
            <a:r>
              <a:rPr lang="en-US" sz="2025" b="1" dirty="0">
                <a:solidFill>
                  <a:srgbClr val="0A1F44"/>
                </a:solidFill>
                <a:latin typeface="Pretendard" pitchFamily="34" charset="0"/>
                <a:ea typeface="Pretendard" pitchFamily="34" charset="-122"/>
                <a:cs typeface="Pretendard" pitchFamily="34" charset="-120"/>
              </a:rPr>
              <a:t>사업별 추진현황</a:t>
            </a:r>
            <a:endParaRPr lang="en-US" sz="2025" dirty="0"/>
          </a:p>
        </p:txBody>
      </p:sp>
      <p:sp>
        <p:nvSpPr>
          <p:cNvPr id="34" name="Shape 30"/>
          <p:cNvSpPr/>
          <p:nvPr/>
        </p:nvSpPr>
        <p:spPr>
          <a:xfrm>
            <a:off x="12763195" y="7973568"/>
            <a:ext cx="599846" cy="362102"/>
          </a:xfrm>
          <a:prstGeom prst="roundRect">
            <a:avLst>
              <a:gd name="adj" fmla="val 20960"/>
            </a:avLst>
          </a:prstGeom>
          <a:solidFill>
            <a:srgbClr val="E8A317"/>
          </a:solidFill>
          <a:ln w="12700">
            <a:solidFill>
              <a:srgbClr val="FFFFFF">
                <a:alpha val="0"/>
              </a:srgbClr>
            </a:solidFill>
            <a:prstDash val="solid"/>
          </a:ln>
        </p:spPr>
      </p:sp>
      <p:sp>
        <p:nvSpPr>
          <p:cNvPr id="35" name="Text 31"/>
          <p:cNvSpPr txBox="1"/>
          <p:nvPr/>
        </p:nvSpPr>
        <p:spPr>
          <a:xfrm>
            <a:off x="12763195" y="7973568"/>
            <a:ext cx="600761" cy="362102"/>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algn="l" indent="0" marL="0">
              <a:buNone/>
            </a:pPr>
            <a:r>
              <a:rPr lang="en-US" sz="1650" b="1" dirty="0">
                <a:solidFill>
                  <a:srgbClr val="FFFFFF"/>
                </a:solidFill>
                <a:latin typeface="Pretendard" pitchFamily="34" charset="0"/>
                <a:ea typeface="Pretendard" pitchFamily="34" charset="-122"/>
                <a:cs typeface="Pretendard" pitchFamily="34" charset="-120"/>
              </a:rPr>
              <a:t>보완</a:t>
            </a:r>
            <a:endParaRPr lang="en-US" sz="1650" dirty="0"/>
          </a:p>
        </p:txBody>
      </p:sp>
      <p:sp>
        <p:nvSpPr>
          <p:cNvPr id="36" name="Text 32"/>
          <p:cNvSpPr txBox="1"/>
          <p:nvPr/>
        </p:nvSpPr>
        <p:spPr>
          <a:xfrm>
            <a:off x="13487400" y="7819949"/>
            <a:ext cx="1677010" cy="676656"/>
          </a:xfrm>
          <a:prstGeom prst="rect">
            <a:avLst/>
          </a:prstGeom>
          <a:noFill/>
          <a:ln/>
        </p:spPr>
        <p:txBody>
          <a:bodyPr wrap="square" lIns="0" tIns="0" rIns="0" bIns="0" rtlCol="0" anchor="t"/>
          <a:lstStyle/>
          <a:p>
            <a:pPr algn="l" indent="0" marL="0">
              <a:lnSpc>
                <a:spcPct val="130000"/>
              </a:lnSpc>
              <a:buNone/>
            </a:pPr>
            <a:r>
              <a:rPr lang="en-US" sz="2025" b="1" dirty="0">
                <a:solidFill>
                  <a:srgbClr val="0A1F44"/>
                </a:solidFill>
                <a:latin typeface="Pretendard" pitchFamily="34" charset="0"/>
                <a:ea typeface="Pretendard" pitchFamily="34" charset="-122"/>
                <a:cs typeface="Pretendard" pitchFamily="34" charset="-120"/>
              </a:rPr>
              <a:t>정책·프로그램별</a:t>
            </a:r>
            <a:pPr algn="l" indent="0" marL="0">
              <a:lnSpc>
                <a:spcPct val="130000"/>
              </a:lnSpc>
              <a:buNone/>
            </a:pPr>
            <a:endParaRPr lang="en-US" sz="2025" dirty="0"/>
          </a:p>
          <a:p>
            <a:pPr algn="l" indent="0" marL="0">
              <a:lnSpc>
                <a:spcPct val="130000"/>
              </a:lnSpc>
              <a:buNone/>
            </a:pPr>
            <a:r>
              <a:rPr lang="en-US" sz="2025" b="1" dirty="0">
                <a:solidFill>
                  <a:srgbClr val="0A1F44"/>
                </a:solidFill>
                <a:latin typeface="Pretendard" pitchFamily="34" charset="0"/>
                <a:ea typeface="Pretendard" pitchFamily="34" charset="-122"/>
                <a:cs typeface="Pretendard" pitchFamily="34" charset="-120"/>
              </a:rPr>
              <a:t>현황용 정책 자료</a:t>
            </a:r>
            <a:endParaRPr lang="en-US" sz="2025" dirty="0"/>
          </a:p>
        </p:txBody>
      </p:sp>
      <p:sp>
        <p:nvSpPr>
          <p:cNvPr id="37" name="Text 33"/>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38" name="Text 34"/>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43000" y="2095805"/>
            <a:ext cx="10096805" cy="5715000"/>
          </a:xfrm>
          <a:prstGeom prst="roundRect">
            <a:avLst>
              <a:gd name="adj" fmla="val 2672"/>
            </a:avLst>
          </a:prstGeom>
          <a:solidFill>
            <a:srgbClr val="0A1F44"/>
          </a:solidFill>
          <a:ln w="12700">
            <a:solidFill>
              <a:srgbClr val="FFFFFF">
                <a:alpha val="0"/>
              </a:srgbClr>
            </a:solidFill>
            <a:prstDash val="solid"/>
          </a:ln>
        </p:spPr>
      </p:sp>
      <p:sp>
        <p:nvSpPr>
          <p:cNvPr id="4" name="Shape 1"/>
          <p:cNvSpPr/>
          <p:nvPr/>
        </p:nvSpPr>
        <p:spPr>
          <a:xfrm>
            <a:off x="11620195" y="2095805"/>
            <a:ext cx="5524805" cy="3200400"/>
          </a:xfrm>
          <a:prstGeom prst="roundRect">
            <a:avLst>
              <a:gd name="adj" fmla="val 4171"/>
            </a:avLst>
          </a:prstGeom>
          <a:solidFill>
            <a:srgbClr val="D5DEEA"/>
          </a:solidFill>
          <a:ln w="12700">
            <a:solidFill>
              <a:srgbClr val="FFFFFF">
                <a:alpha val="0"/>
              </a:srgbClr>
            </a:solidFill>
            <a:prstDash val="solid"/>
          </a:ln>
        </p:spPr>
      </p:sp>
      <p:pic>
        <p:nvPicPr>
          <p:cNvPr id="5" name="Image 0" descr="gen-dedup-6bae5a415f9b0bae08816f9fb144723f.png">    </p:cNvPr>
          <p:cNvPicPr>
            <a:picLocks noChangeAspect="1"/>
          </p:cNvPicPr>
          <p:nvPr/>
        </p:nvPicPr>
        <p:blipFill>
          <a:blip r:embed="rId1"/>
          <a:stretch>
            <a:fillRect/>
          </a:stretch>
        </p:blipFill>
        <p:spPr>
          <a:xfrm>
            <a:off x="1238098" y="2190902"/>
            <a:ext cx="9905695" cy="5524805"/>
          </a:xfrm>
          <a:prstGeom prst="rect">
            <a:avLst/>
          </a:prstGeom>
        </p:spPr>
      </p:pic>
      <p:pic>
        <p:nvPicPr>
          <p:cNvPr id="6" name="Image 1" descr="gen-dedup-131eef8616de5cf43cf1de4dbb0a85e7.png">    </p:cNvPr>
          <p:cNvPicPr>
            <a:picLocks noChangeAspect="1"/>
          </p:cNvPicPr>
          <p:nvPr/>
        </p:nvPicPr>
        <p:blipFill>
          <a:blip r:embed="rId2"/>
          <a:stretch>
            <a:fillRect/>
          </a:stretch>
        </p:blipFill>
        <p:spPr>
          <a:xfrm>
            <a:off x="11677802" y="2152498"/>
            <a:ext cx="5410505" cy="3086100"/>
          </a:xfrm>
          <a:prstGeom prst="rect">
            <a:avLst/>
          </a:prstGeom>
        </p:spPr>
      </p:pic>
      <p:sp>
        <p:nvSpPr>
          <p:cNvPr id="7" name="Shape 2"/>
          <p:cNvSpPr/>
          <p:nvPr/>
        </p:nvSpPr>
        <p:spPr>
          <a:xfrm>
            <a:off x="4476902" y="3666744"/>
            <a:ext cx="4839005" cy="3696005"/>
          </a:xfrm>
          <a:prstGeom prst="roundRect">
            <a:avLst>
              <a:gd name="adj" fmla="val 2573"/>
            </a:avLst>
          </a:prstGeom>
          <a:noFill/>
          <a:ln w="50800">
            <a:solidFill>
              <a:srgbClr val="E8A317"/>
            </a:solidFill>
            <a:prstDash val="solid"/>
          </a:ln>
        </p:spPr>
      </p:sp>
      <p:sp>
        <p:nvSpPr>
          <p:cNvPr id="8" name="Shape 3"/>
          <p:cNvSpPr/>
          <p:nvPr/>
        </p:nvSpPr>
        <p:spPr>
          <a:xfrm>
            <a:off x="2667305" y="3762756"/>
            <a:ext cx="1790395" cy="3886200"/>
          </a:xfrm>
          <a:prstGeom prst="roundRect">
            <a:avLst>
              <a:gd name="adj" fmla="val 5312"/>
            </a:avLst>
          </a:prstGeom>
          <a:noFill/>
          <a:ln w="50800">
            <a:solidFill>
              <a:srgbClr val="E8A317"/>
            </a:solidFill>
            <a:prstDash val="solid"/>
          </a:ln>
        </p:spPr>
      </p:sp>
      <p:sp>
        <p:nvSpPr>
          <p:cNvPr id="9" name="Text 4"/>
          <p:cNvSpPr txBox="1"/>
          <p:nvPr/>
        </p:nvSpPr>
        <p:spPr>
          <a:xfrm>
            <a:off x="1143000" y="571500"/>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09 구현 결과 ② 지역 및 공급현황</a:t>
            </a:r>
            <a:endParaRPr lang="en-US" sz="2100" dirty="0"/>
          </a:p>
        </p:txBody>
      </p:sp>
      <p:sp>
        <p:nvSpPr>
          <p:cNvPr id="10" name="Text 5"/>
          <p:cNvSpPr txBox="1"/>
          <p:nvPr/>
        </p:nvSpPr>
        <p:spPr>
          <a:xfrm>
            <a:off x="1143000" y="990295"/>
            <a:ext cx="16002000" cy="590702"/>
          </a:xfrm>
          <a:prstGeom prst="rect">
            <a:avLst/>
          </a:prstGeom>
          <a:noFill/>
          <a:ln/>
        </p:spPr>
        <p:txBody>
          <a:bodyPr wrap="none" lIns="0" tIns="0" rIns="0" bIns="0" rtlCol="0" anchor="ctr"/>
          <a:lstStyle/>
          <a:p>
            <a:pPr algn="l" indent="0" marL="0">
              <a:buNone/>
            </a:pPr>
            <a:r>
              <a:rPr lang="en-US" sz="3900" b="1" spc="-112" kern="0" dirty="0">
                <a:solidFill>
                  <a:srgbClr val="0A1F44"/>
                </a:solidFill>
                <a:latin typeface="Pretendard" pitchFamily="34" charset="0"/>
                <a:ea typeface="Pretendard" pitchFamily="34" charset="-122"/>
                <a:cs typeface="Pretendard" pitchFamily="34" charset="-120"/>
              </a:rPr>
              <a:t>지도 위에서 </a:t>
            </a:r>
            <a:pPr algn="l" indent="0" marL="0">
              <a:buNone/>
            </a:pPr>
            <a:r>
              <a:rPr lang="en-US" sz="3900" b="1" spc="-112" kern="0" dirty="0">
                <a:solidFill>
                  <a:srgbClr val="1F6FEB"/>
                </a:solidFill>
                <a:latin typeface="Pretendard" pitchFamily="34" charset="0"/>
                <a:ea typeface="Pretendard" pitchFamily="34" charset="-122"/>
                <a:cs typeface="Pretendard" pitchFamily="34" charset="-120"/>
              </a:rPr>
              <a:t>지역별 공급 흐름</a:t>
            </a:r>
            <a:pPr algn="l" indent="0" marL="0">
              <a:buNone/>
            </a:pPr>
            <a:r>
              <a:rPr lang="en-US" sz="3900" b="1" spc="-112" kern="0" dirty="0">
                <a:solidFill>
                  <a:srgbClr val="0A1F44"/>
                </a:solidFill>
                <a:latin typeface="Pretendard" pitchFamily="34" charset="0"/>
                <a:ea typeface="Pretendard" pitchFamily="34" charset="-122"/>
                <a:cs typeface="Pretendard" pitchFamily="34" charset="-120"/>
              </a:rPr>
              <a:t>을 확인합니다</a:t>
            </a:r>
            <a:endParaRPr lang="en-US" sz="3900" dirty="0"/>
          </a:p>
        </p:txBody>
      </p:sp>
      <p:sp>
        <p:nvSpPr>
          <p:cNvPr id="11" name="Shape 6"/>
          <p:cNvSpPr/>
          <p:nvPr/>
        </p:nvSpPr>
        <p:spPr>
          <a:xfrm>
            <a:off x="8953805" y="3448202"/>
            <a:ext cx="457200" cy="457200"/>
          </a:xfrm>
          <a:prstGeom prst="ellipse">
            <a:avLst/>
          </a:prstGeom>
          <a:solidFill>
            <a:srgbClr val="E8A317"/>
          </a:solidFill>
          <a:ln w="12700">
            <a:solidFill>
              <a:srgbClr val="FFFFFF">
                <a:alpha val="0"/>
              </a:srgbClr>
            </a:solidFill>
            <a:prstDash val="solid"/>
          </a:ln>
        </p:spPr>
      </p:sp>
      <p:sp>
        <p:nvSpPr>
          <p:cNvPr id="12" name="Text 7"/>
          <p:cNvSpPr/>
          <p:nvPr/>
        </p:nvSpPr>
        <p:spPr>
          <a:xfrm>
            <a:off x="8953805" y="3448202"/>
            <a:ext cx="457200" cy="4572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1</a:t>
            </a:r>
            <a:endParaRPr lang="en-US" sz="2100" dirty="0"/>
          </a:p>
        </p:txBody>
      </p:sp>
      <p:sp>
        <p:nvSpPr>
          <p:cNvPr id="13" name="Shape 8"/>
          <p:cNvSpPr/>
          <p:nvPr/>
        </p:nvSpPr>
        <p:spPr>
          <a:xfrm>
            <a:off x="2438705" y="3543300"/>
            <a:ext cx="457200" cy="457200"/>
          </a:xfrm>
          <a:prstGeom prst="ellipse">
            <a:avLst/>
          </a:prstGeom>
          <a:solidFill>
            <a:srgbClr val="E8A317"/>
          </a:solidFill>
          <a:ln w="12700">
            <a:solidFill>
              <a:srgbClr val="FFFFFF">
                <a:alpha val="0"/>
              </a:srgbClr>
            </a:solidFill>
            <a:prstDash val="solid"/>
          </a:ln>
        </p:spPr>
      </p:sp>
      <p:sp>
        <p:nvSpPr>
          <p:cNvPr id="14" name="Text 9"/>
          <p:cNvSpPr/>
          <p:nvPr/>
        </p:nvSpPr>
        <p:spPr>
          <a:xfrm>
            <a:off x="2438705" y="3543300"/>
            <a:ext cx="457200" cy="4572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2</a:t>
            </a:r>
            <a:endParaRPr lang="en-US" sz="2100" dirty="0"/>
          </a:p>
        </p:txBody>
      </p:sp>
      <p:sp>
        <p:nvSpPr>
          <p:cNvPr id="15" name="Text 10"/>
          <p:cNvSpPr txBox="1"/>
          <p:nvPr/>
        </p:nvSpPr>
        <p:spPr>
          <a:xfrm>
            <a:off x="1143000" y="7925105"/>
            <a:ext cx="10096805"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실제 서비스 화면 · 공급현황 지도 (3D 형상은 가상 모델, 공급량은 공식 원천)</a:t>
            </a:r>
            <a:endParaRPr lang="en-US" sz="1800" dirty="0"/>
          </a:p>
        </p:txBody>
      </p:sp>
      <p:sp>
        <p:nvSpPr>
          <p:cNvPr id="16" name="Shape 11"/>
          <p:cNvSpPr/>
          <p:nvPr/>
        </p:nvSpPr>
        <p:spPr>
          <a:xfrm>
            <a:off x="11430000" y="1904695"/>
            <a:ext cx="457200" cy="457200"/>
          </a:xfrm>
          <a:prstGeom prst="ellipse">
            <a:avLst/>
          </a:prstGeom>
          <a:solidFill>
            <a:srgbClr val="E8A317"/>
          </a:solidFill>
          <a:ln w="12700">
            <a:solidFill>
              <a:srgbClr val="FFFFFF">
                <a:alpha val="0"/>
              </a:srgbClr>
            </a:solidFill>
            <a:prstDash val="solid"/>
          </a:ln>
        </p:spPr>
      </p:sp>
      <p:sp>
        <p:nvSpPr>
          <p:cNvPr id="17" name="Text 12"/>
          <p:cNvSpPr/>
          <p:nvPr/>
        </p:nvSpPr>
        <p:spPr>
          <a:xfrm>
            <a:off x="11430000" y="1904695"/>
            <a:ext cx="457200" cy="457200"/>
          </a:xfrm>
          <a:prstGeom prst="rect">
            <a:avLst/>
          </a:prstGeom>
          <a:solidFill>
            <a:srgbClr val="FFFFFF">
              <a:alpha val="0"/>
            </a:srgbClr>
          </a:solidFill>
          <a:ln>
            <a:solidFill>
              <a:srgbClr val="FFFFFF">
                <a:alpha val="0"/>
              </a:srgbClr>
            </a:solidFill>
          </a:ln>
        </p:spPr>
        <p:txBody>
          <a:bodyPr wrap="none" lIns="0" tIns="0" rIns="0" bIns="0" rtlCol="0" anchor="ctr"/>
          <a:lstStyle/>
          <a:p>
            <a:pPr algn="ctr" indent="0" marL="0">
              <a:buNone/>
            </a:pPr>
            <a:r>
              <a:rPr lang="en-US" sz="2100" b="1" dirty="0">
                <a:solidFill>
                  <a:srgbClr val="FFFFFF"/>
                </a:solidFill>
                <a:latin typeface="Pretendard" pitchFamily="34" charset="0"/>
                <a:ea typeface="Pretendard" pitchFamily="34" charset="-122"/>
                <a:cs typeface="Pretendard" pitchFamily="34" charset="-120"/>
              </a:rPr>
              <a:t>3</a:t>
            </a:r>
            <a:endParaRPr lang="en-US" sz="2100" dirty="0"/>
          </a:p>
        </p:txBody>
      </p:sp>
      <p:sp>
        <p:nvSpPr>
          <p:cNvPr id="18" name="Text 13"/>
          <p:cNvSpPr txBox="1"/>
          <p:nvPr/>
        </p:nvSpPr>
        <p:spPr>
          <a:xfrm>
            <a:off x="11620195" y="5524805"/>
            <a:ext cx="5524805" cy="342900"/>
          </a:xfrm>
          <a:prstGeom prst="rect">
            <a:avLst/>
          </a:prstGeom>
          <a:noFill/>
          <a:ln/>
        </p:spPr>
        <p:txBody>
          <a:bodyPr wrap="none" lIns="0" tIns="0" rIns="0" bIns="0" rtlCol="0" anchor="ctr"/>
          <a:lstStyle/>
          <a:p>
            <a:pPr algn="l" indent="0" marL="0">
              <a:buNone/>
            </a:pPr>
            <a:r>
              <a:rPr lang="en-US" sz="1950" b="1" dirty="0">
                <a:solidFill>
                  <a:srgbClr val="E8A317"/>
                </a:solidFill>
                <a:latin typeface="Pretendard" pitchFamily="34" charset="0"/>
                <a:ea typeface="Pretendard" pitchFamily="34" charset="-122"/>
                <a:cs typeface="Pretendard" pitchFamily="34" charset="-120"/>
              </a:rPr>
              <a:t>1</a:t>
            </a:r>
            <a:pPr algn="l" indent="0" marL="0">
              <a:buNone/>
            </a:pPr>
            <a:r>
              <a:rPr lang="en-US" sz="1950" b="1" dirty="0">
                <a:solidFill>
                  <a:srgbClr val="0A1F44"/>
                </a:solidFill>
                <a:latin typeface="Pretendard" pitchFamily="34" charset="0"/>
                <a:ea typeface="Pretendard" pitchFamily="34" charset="-122"/>
                <a:cs typeface="Pretendard" pitchFamily="34" charset="-120"/>
              </a:rPr>
              <a:t>지역·블록 단위 공급계획</a:t>
            </a:r>
            <a:pPr algn="l" indent="0" marL="0">
              <a:buNone/>
            </a:pPr>
            <a:r>
              <a:rPr lang="en-US" sz="1950" dirty="0">
                <a:solidFill>
                  <a:srgbClr val="0A1F44"/>
                </a:solidFill>
                <a:latin typeface="Pretendard" pitchFamily="34" charset="0"/>
                <a:ea typeface="Pretendard" pitchFamily="34" charset="-122"/>
                <a:cs typeface="Pretendard" pitchFamily="34" charset="-120"/>
              </a:rPr>
              <a:t> 지도 표시</a:t>
            </a:r>
            <a:endParaRPr lang="en-US" sz="1950" dirty="0"/>
          </a:p>
        </p:txBody>
      </p:sp>
      <p:sp>
        <p:nvSpPr>
          <p:cNvPr id="19" name="Text 14"/>
          <p:cNvSpPr txBox="1"/>
          <p:nvPr/>
        </p:nvSpPr>
        <p:spPr>
          <a:xfrm>
            <a:off x="11620195" y="6011266"/>
            <a:ext cx="5524805" cy="342900"/>
          </a:xfrm>
          <a:prstGeom prst="rect">
            <a:avLst/>
          </a:prstGeom>
          <a:noFill/>
          <a:ln/>
        </p:spPr>
        <p:txBody>
          <a:bodyPr wrap="none" lIns="0" tIns="0" rIns="0" bIns="0" rtlCol="0" anchor="ctr"/>
          <a:lstStyle/>
          <a:p>
            <a:pPr algn="l" indent="0" marL="0">
              <a:buNone/>
            </a:pPr>
            <a:r>
              <a:rPr lang="en-US" sz="1950" b="1" dirty="0">
                <a:solidFill>
                  <a:srgbClr val="E8A317"/>
                </a:solidFill>
                <a:latin typeface="Pretendard" pitchFamily="34" charset="0"/>
                <a:ea typeface="Pretendard" pitchFamily="34" charset="-122"/>
                <a:cs typeface="Pretendard" pitchFamily="34" charset="-120"/>
              </a:rPr>
              <a:t>2</a:t>
            </a:r>
            <a:pPr algn="l" indent="0" marL="0">
              <a:buNone/>
            </a:pPr>
            <a:r>
              <a:rPr lang="en-US" sz="1950" dirty="0">
                <a:solidFill>
                  <a:srgbClr val="0A1F44"/>
                </a:solidFill>
                <a:latin typeface="Pretendard" pitchFamily="34" charset="0"/>
                <a:ea typeface="Pretendard" pitchFamily="34" charset="-122"/>
                <a:cs typeface="Pretendard" pitchFamily="34" charset="-120"/>
              </a:rPr>
              <a:t> 선택 사업의 </a:t>
            </a:r>
            <a:pPr algn="l" indent="0" marL="0">
              <a:buNone/>
            </a:pPr>
            <a:r>
              <a:rPr lang="en-US" sz="1950" b="1" dirty="0">
                <a:solidFill>
                  <a:srgbClr val="0A1F44"/>
                </a:solidFill>
                <a:latin typeface="Pretendard" pitchFamily="34" charset="0"/>
                <a:ea typeface="Pretendard" pitchFamily="34" charset="-122"/>
                <a:cs typeface="Pretendard" pitchFamily="34" charset="-120"/>
              </a:rPr>
              <a:t>단계별 물량·일정</a:t>
            </a:r>
            <a:endParaRPr lang="en-US" sz="1950" dirty="0"/>
          </a:p>
        </p:txBody>
      </p:sp>
      <p:sp>
        <p:nvSpPr>
          <p:cNvPr id="20" name="Text 15"/>
          <p:cNvSpPr txBox="1"/>
          <p:nvPr/>
        </p:nvSpPr>
        <p:spPr>
          <a:xfrm>
            <a:off x="11620195" y="6497726"/>
            <a:ext cx="5524805" cy="342900"/>
          </a:xfrm>
          <a:prstGeom prst="rect">
            <a:avLst/>
          </a:prstGeom>
          <a:noFill/>
          <a:ln/>
        </p:spPr>
        <p:txBody>
          <a:bodyPr wrap="none" lIns="0" tIns="0" rIns="0" bIns="0" rtlCol="0" anchor="ctr"/>
          <a:lstStyle/>
          <a:p>
            <a:pPr algn="l" indent="0" marL="0">
              <a:buNone/>
            </a:pPr>
            <a:r>
              <a:rPr lang="en-US" sz="1950" b="1" dirty="0">
                <a:solidFill>
                  <a:srgbClr val="E8A317"/>
                </a:solidFill>
                <a:latin typeface="Pretendard" pitchFamily="34" charset="0"/>
                <a:ea typeface="Pretendard" pitchFamily="34" charset="-122"/>
                <a:cs typeface="Pretendard" pitchFamily="34" charset="-120"/>
              </a:rPr>
              <a:t>3</a:t>
            </a:r>
            <a:pPr algn="l" indent="0" marL="0">
              <a:buNone/>
            </a:pPr>
            <a:r>
              <a:rPr lang="en-US" sz="1950" dirty="0">
                <a:solidFill>
                  <a:srgbClr val="0A1F44"/>
                </a:solidFill>
                <a:latin typeface="Pretendard" pitchFamily="34" charset="0"/>
                <a:ea typeface="Pretendard" pitchFamily="34" charset="-122"/>
                <a:cs typeface="Pretendard" pitchFamily="34" charset="-120"/>
              </a:rPr>
              <a:t> 서울·인천·경기 </a:t>
            </a:r>
            <a:pPr algn="l" indent="0" marL="0">
              <a:buNone/>
            </a:pPr>
            <a:r>
              <a:rPr lang="en-US" sz="1950" b="1" dirty="0">
                <a:solidFill>
                  <a:srgbClr val="0A1F44"/>
                </a:solidFill>
                <a:latin typeface="Pretendard" pitchFamily="34" charset="0"/>
                <a:ea typeface="Pretendard" pitchFamily="34" charset="-122"/>
                <a:cs typeface="Pretendard" pitchFamily="34" charset="-120"/>
              </a:rPr>
              <a:t>연도별 공급 비교</a:t>
            </a:r>
            <a:endParaRPr lang="en-US" sz="1950" dirty="0"/>
          </a:p>
        </p:txBody>
      </p:sp>
      <p:sp>
        <p:nvSpPr>
          <p:cNvPr id="21" name="Shape 16"/>
          <p:cNvSpPr/>
          <p:nvPr/>
        </p:nvSpPr>
        <p:spPr>
          <a:xfrm>
            <a:off x="1143000" y="8477402"/>
            <a:ext cx="8563356" cy="705002"/>
          </a:xfrm>
          <a:prstGeom prst="roundRect">
            <a:avLst>
              <a:gd name="adj" fmla="val 18936"/>
            </a:avLst>
          </a:prstGeom>
          <a:solidFill>
            <a:srgbClr val="E0F7F4"/>
          </a:solidFill>
          <a:ln w="12700">
            <a:solidFill>
              <a:srgbClr val="FFFFFF">
                <a:alpha val="0"/>
              </a:srgbClr>
            </a:solidFill>
            <a:prstDash val="solid"/>
          </a:ln>
        </p:spPr>
      </p:sp>
      <p:sp>
        <p:nvSpPr>
          <p:cNvPr id="22" name="Shape 17"/>
          <p:cNvSpPr/>
          <p:nvPr/>
        </p:nvSpPr>
        <p:spPr>
          <a:xfrm>
            <a:off x="1390802" y="8648395"/>
            <a:ext cx="599846" cy="362102"/>
          </a:xfrm>
          <a:prstGeom prst="roundRect">
            <a:avLst>
              <a:gd name="adj" fmla="val 20960"/>
            </a:avLst>
          </a:prstGeom>
          <a:solidFill>
            <a:srgbClr val="12B5A6"/>
          </a:solidFill>
          <a:ln w="12700">
            <a:solidFill>
              <a:srgbClr val="FFFFFF">
                <a:alpha val="0"/>
              </a:srgbClr>
            </a:solidFill>
            <a:prstDash val="solid"/>
          </a:ln>
        </p:spPr>
      </p:sp>
      <p:sp>
        <p:nvSpPr>
          <p:cNvPr id="23" name="Text 18"/>
          <p:cNvSpPr txBox="1"/>
          <p:nvPr/>
        </p:nvSpPr>
        <p:spPr>
          <a:xfrm>
            <a:off x="1390802" y="8648395"/>
            <a:ext cx="600761" cy="362102"/>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algn="l" indent="0" marL="0">
              <a:buNone/>
            </a:pPr>
            <a:r>
              <a:rPr lang="en-US" sz="1650" b="1" dirty="0">
                <a:solidFill>
                  <a:srgbClr val="FFFFFF"/>
                </a:solidFill>
                <a:latin typeface="Pretendard" pitchFamily="34" charset="0"/>
                <a:ea typeface="Pretendard" pitchFamily="34" charset="-122"/>
                <a:cs typeface="Pretendard" pitchFamily="34" charset="-120"/>
              </a:rPr>
              <a:t>구현</a:t>
            </a:r>
            <a:endParaRPr lang="en-US" sz="1650" dirty="0"/>
          </a:p>
        </p:txBody>
      </p:sp>
      <p:sp>
        <p:nvSpPr>
          <p:cNvPr id="24" name="Text 19"/>
          <p:cNvSpPr txBox="1"/>
          <p:nvPr/>
        </p:nvSpPr>
        <p:spPr>
          <a:xfrm>
            <a:off x="2152498" y="8686800"/>
            <a:ext cx="5949086" cy="286207"/>
          </a:xfrm>
          <a:prstGeom prst="rect">
            <a:avLst/>
          </a:prstGeom>
          <a:noFill/>
          <a:ln/>
        </p:spPr>
        <p:txBody>
          <a:bodyPr wrap="none" lIns="0" tIns="0" rIns="0" bIns="0" rtlCol="0" anchor="ctr"/>
          <a:lstStyle/>
          <a:p>
            <a:pPr algn="l" indent="0" marL="0">
              <a:buNone/>
            </a:pPr>
            <a:r>
              <a:rPr lang="en-US" sz="1875" b="1" dirty="0">
                <a:solidFill>
                  <a:srgbClr val="0A1F44"/>
                </a:solidFill>
                <a:latin typeface="Pretendard" pitchFamily="34" charset="0"/>
                <a:ea typeface="Pretendard" pitchFamily="34" charset="-122"/>
                <a:cs typeface="Pretendard" pitchFamily="34" charset="-120"/>
              </a:rPr>
              <a:t>확보 데이터 범위와 위치 미연결 사업을 함께 표시</a:t>
            </a:r>
            <a:endParaRPr lang="en-US" sz="1875" dirty="0"/>
          </a:p>
        </p:txBody>
      </p:sp>
      <p:sp>
        <p:nvSpPr>
          <p:cNvPr id="25" name="Shape 20"/>
          <p:cNvSpPr/>
          <p:nvPr/>
        </p:nvSpPr>
        <p:spPr>
          <a:xfrm>
            <a:off x="9930384" y="8477402"/>
            <a:ext cx="7220102" cy="705002"/>
          </a:xfrm>
          <a:prstGeom prst="roundRect">
            <a:avLst>
              <a:gd name="adj" fmla="val 18936"/>
            </a:avLst>
          </a:prstGeom>
          <a:solidFill>
            <a:srgbClr val="FDF3DC"/>
          </a:solidFill>
          <a:ln w="12700">
            <a:solidFill>
              <a:srgbClr val="FFFFFF">
                <a:alpha val="0"/>
              </a:srgbClr>
            </a:solidFill>
            <a:prstDash val="solid"/>
          </a:ln>
        </p:spPr>
      </p:sp>
      <p:sp>
        <p:nvSpPr>
          <p:cNvPr id="26" name="Shape 21"/>
          <p:cNvSpPr/>
          <p:nvPr/>
        </p:nvSpPr>
        <p:spPr>
          <a:xfrm>
            <a:off x="10178186" y="8648395"/>
            <a:ext cx="599846" cy="362102"/>
          </a:xfrm>
          <a:prstGeom prst="roundRect">
            <a:avLst>
              <a:gd name="adj" fmla="val 20960"/>
            </a:avLst>
          </a:prstGeom>
          <a:solidFill>
            <a:srgbClr val="E8A317"/>
          </a:solidFill>
          <a:ln w="12700">
            <a:solidFill>
              <a:srgbClr val="FFFFFF">
                <a:alpha val="0"/>
              </a:srgbClr>
            </a:solidFill>
            <a:prstDash val="solid"/>
          </a:ln>
        </p:spPr>
      </p:sp>
      <p:sp>
        <p:nvSpPr>
          <p:cNvPr id="27" name="Text 22"/>
          <p:cNvSpPr txBox="1"/>
          <p:nvPr/>
        </p:nvSpPr>
        <p:spPr>
          <a:xfrm>
            <a:off x="10178186" y="8648395"/>
            <a:ext cx="600761" cy="362102"/>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algn="l" indent="0" marL="0">
              <a:buNone/>
            </a:pPr>
            <a:r>
              <a:rPr lang="en-US" sz="1650" b="1" dirty="0">
                <a:solidFill>
                  <a:srgbClr val="FFFFFF"/>
                </a:solidFill>
                <a:latin typeface="Pretendard" pitchFamily="34" charset="0"/>
                <a:ea typeface="Pretendard" pitchFamily="34" charset="-122"/>
                <a:cs typeface="Pretendard" pitchFamily="34" charset="-120"/>
              </a:rPr>
              <a:t>향후</a:t>
            </a:r>
            <a:endParaRPr lang="en-US" sz="1650" dirty="0"/>
          </a:p>
        </p:txBody>
      </p:sp>
      <p:sp>
        <p:nvSpPr>
          <p:cNvPr id="28" name="Text 23"/>
          <p:cNvSpPr txBox="1"/>
          <p:nvPr/>
        </p:nvSpPr>
        <p:spPr>
          <a:xfrm>
            <a:off x="10939882" y="8686800"/>
            <a:ext cx="4472330" cy="286207"/>
          </a:xfrm>
          <a:prstGeom prst="rect">
            <a:avLst/>
          </a:prstGeom>
          <a:noFill/>
          <a:ln/>
        </p:spPr>
        <p:txBody>
          <a:bodyPr wrap="none" lIns="0" tIns="0" rIns="0" bIns="0" rtlCol="0" anchor="ctr"/>
          <a:lstStyle/>
          <a:p>
            <a:pPr algn="l" indent="0" marL="0">
              <a:buNone/>
            </a:pPr>
            <a:r>
              <a:rPr lang="en-US" sz="1875" b="1" dirty="0">
                <a:solidFill>
                  <a:srgbClr val="0A1F44"/>
                </a:solidFill>
                <a:latin typeface="Pretendard" pitchFamily="34" charset="0"/>
                <a:ea typeface="Pretendard" pitchFamily="34" charset="-122"/>
                <a:cs typeface="Pretendard" pitchFamily="34" charset="-120"/>
              </a:rPr>
              <a:t>학교·어린이집 등 생활 기반시설 정보</a:t>
            </a:r>
            <a:endParaRPr lang="en-US" sz="1875" dirty="0"/>
          </a:p>
        </p:txBody>
      </p:sp>
      <p:sp>
        <p:nvSpPr>
          <p:cNvPr id="29" name="Text 24"/>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30" name="Text 25"/>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F44"/>
        </a:solidFill>
      </p:bgPr>
    </p:bg>
    <p:spTree>
      <p:nvGrpSpPr>
        <p:cNvPr id="1" name=""/>
        <p:cNvGrpSpPr/>
        <p:nvPr/>
      </p:nvGrpSpPr>
      <p:grpSpPr>
        <a:xfrm>
          <a:off x="0" y="0"/>
          <a:ext cx="0" cy="0"/>
          <a:chOff x="0" y="0"/>
          <a:chExt cx="0" cy="0"/>
        </a:xfrm>
      </p:grpSpPr>
      <p:pic>
        <p:nvPicPr>
          <p:cNvPr id="3" name="Image 0" descr="gen-dedup-a18cb0b782d4457ec6a1c52d9aaaba87.png">    </p:cNvPr>
          <p:cNvPicPr>
            <a:picLocks noChangeAspect="1"/>
          </p:cNvPicPr>
          <p:nvPr/>
        </p:nvPicPr>
        <p:blipFill>
          <a:blip r:embed="rId1"/>
          <a:stretch>
            <a:fillRect/>
          </a:stretch>
        </p:blipFill>
        <p:spPr>
          <a:xfrm>
            <a:off x="1143000" y="2190902"/>
            <a:ext cx="7715707" cy="3143707"/>
          </a:xfrm>
          <a:prstGeom prst="rect">
            <a:avLst/>
          </a:prstGeom>
        </p:spPr>
      </p:pic>
      <p:pic>
        <p:nvPicPr>
          <p:cNvPr id="4" name="Image 1" descr="gen-dedup-4a4dd87815e6fb5f940d522f242c037c.png">    </p:cNvPr>
          <p:cNvPicPr>
            <a:picLocks noChangeAspect="1"/>
          </p:cNvPicPr>
          <p:nvPr/>
        </p:nvPicPr>
        <p:blipFill>
          <a:blip r:embed="rId2"/>
          <a:stretch>
            <a:fillRect/>
          </a:stretch>
        </p:blipFill>
        <p:spPr>
          <a:xfrm>
            <a:off x="9430207" y="2190902"/>
            <a:ext cx="7715707" cy="3143707"/>
          </a:xfrm>
          <a:prstGeom prst="rect">
            <a:avLst/>
          </a:prstGeom>
        </p:spPr>
      </p:pic>
      <p:pic>
        <p:nvPicPr>
          <p:cNvPr id="5" name="Image 2" descr="gen-dedup-131edf299d49f8eacad6e80b91bb2e23.png">    </p:cNvPr>
          <p:cNvPicPr>
            <a:picLocks noChangeAspect="1"/>
          </p:cNvPicPr>
          <p:nvPr/>
        </p:nvPicPr>
        <p:blipFill>
          <a:blip r:embed="rId3"/>
          <a:stretch>
            <a:fillRect/>
          </a:stretch>
        </p:blipFill>
        <p:spPr>
          <a:xfrm>
            <a:off x="1143000" y="6096305"/>
            <a:ext cx="7715707" cy="2857500"/>
          </a:xfrm>
          <a:prstGeom prst="rect">
            <a:avLst/>
          </a:prstGeom>
        </p:spPr>
      </p:pic>
      <p:pic>
        <p:nvPicPr>
          <p:cNvPr id="6" name="Image 3" descr="gen-dedup-c781d625bb87b463a1ec471346387505.png">    </p:cNvPr>
          <p:cNvPicPr>
            <a:picLocks noChangeAspect="1"/>
          </p:cNvPicPr>
          <p:nvPr/>
        </p:nvPicPr>
        <p:blipFill>
          <a:blip r:embed="rId4"/>
          <a:stretch>
            <a:fillRect/>
          </a:stretch>
        </p:blipFill>
        <p:spPr>
          <a:xfrm>
            <a:off x="9430207" y="6096305"/>
            <a:ext cx="7715707" cy="2857500"/>
          </a:xfrm>
          <a:prstGeom prst="rect">
            <a:avLst/>
          </a:prstGeom>
        </p:spPr>
      </p:pic>
      <p:sp>
        <p:nvSpPr>
          <p:cNvPr id="7" name="Text 0"/>
          <p:cNvSpPr txBox="1"/>
          <p:nvPr/>
        </p:nvSpPr>
        <p:spPr>
          <a:xfrm>
            <a:off x="1143000" y="571500"/>
            <a:ext cx="1047811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10 서비스 시연</a:t>
            </a:r>
            <a:endParaRPr lang="en-US" sz="2100" dirty="0"/>
          </a:p>
        </p:txBody>
      </p:sp>
      <p:sp>
        <p:nvSpPr>
          <p:cNvPr id="8" name="Text 1"/>
          <p:cNvSpPr txBox="1"/>
          <p:nvPr/>
        </p:nvSpPr>
        <p:spPr>
          <a:xfrm>
            <a:off x="1143000" y="990295"/>
            <a:ext cx="10478110" cy="590702"/>
          </a:xfrm>
          <a:prstGeom prst="rect">
            <a:avLst/>
          </a:prstGeom>
          <a:noFill/>
          <a:ln/>
        </p:spPr>
        <p:txBody>
          <a:bodyPr wrap="none" lIns="0" tIns="0" rIns="0" bIns="0" rtlCol="0" anchor="ctr"/>
          <a:lstStyle/>
          <a:p>
            <a:pPr algn="l" indent="0" marL="0">
              <a:buNone/>
            </a:pPr>
            <a:r>
              <a:rPr lang="en-US" sz="3900" b="1" spc="-112" kern="0" dirty="0">
                <a:solidFill>
                  <a:srgbClr val="FFFFFF"/>
                </a:solidFill>
                <a:latin typeface="Pretendard" pitchFamily="34" charset="0"/>
                <a:ea typeface="Pretendard" pitchFamily="34" charset="-122"/>
                <a:cs typeface="Pretendard" pitchFamily="34" charset="-120"/>
              </a:rPr>
              <a:t>4단계로 따라가는 상황판</a:t>
            </a:r>
            <a:endParaRPr lang="en-US" sz="3900" dirty="0"/>
          </a:p>
        </p:txBody>
      </p:sp>
      <p:sp>
        <p:nvSpPr>
          <p:cNvPr id="9" name="Text 2"/>
          <p:cNvSpPr txBox="1"/>
          <p:nvPr/>
        </p:nvSpPr>
        <p:spPr>
          <a:xfrm>
            <a:off x="12001500" y="1047902"/>
            <a:ext cx="5143500" cy="295351"/>
          </a:xfrm>
          <a:prstGeom prst="rect">
            <a:avLst/>
          </a:prstGeom>
          <a:noFill/>
          <a:ln/>
        </p:spPr>
        <p:txBody>
          <a:bodyPr wrap="none" lIns="0" tIns="0" rIns="0" bIns="0" rtlCol="0" anchor="ctr"/>
          <a:lstStyle/>
          <a:p>
            <a:pPr algn="r" indent="0" marL="0">
              <a:buNone/>
            </a:pPr>
            <a:r>
              <a:rPr lang="en-US" sz="1950" b="1" dirty="0">
                <a:solidFill>
                  <a:srgbClr val="7FB2FF"/>
                </a:solidFill>
                <a:latin typeface="Pretendard" pitchFamily="34" charset="0"/>
                <a:ea typeface="Pretendard" pitchFamily="34" charset="-122"/>
                <a:cs typeface="Pretendard" pitchFamily="34" charset="-120"/>
              </a:rPr>
              <a:t>minslab.kr/poc/home</a:t>
            </a:r>
            <a:endParaRPr lang="en-US" sz="1950" dirty="0"/>
          </a:p>
        </p:txBody>
      </p:sp>
      <p:sp>
        <p:nvSpPr>
          <p:cNvPr id="10" name="Text 3"/>
          <p:cNvSpPr txBox="1"/>
          <p:nvPr/>
        </p:nvSpPr>
        <p:spPr>
          <a:xfrm>
            <a:off x="1143000" y="1714500"/>
            <a:ext cx="7715707" cy="324612"/>
          </a:xfrm>
          <a:prstGeom prst="rect">
            <a:avLst/>
          </a:prstGeom>
          <a:noFill/>
          <a:ln/>
        </p:spPr>
        <p:txBody>
          <a:bodyPr wrap="none" lIns="0" tIns="0" rIns="0" bIns="0" rtlCol="0" anchor="ctr"/>
          <a:lstStyle/>
          <a:p>
            <a:pPr algn="l" indent="0" marL="0">
              <a:buNone/>
            </a:pPr>
            <a:r>
              <a:rPr lang="en-US" sz="2100" b="1" dirty="0">
                <a:solidFill>
                  <a:srgbClr val="12B5A6"/>
                </a:solidFill>
                <a:latin typeface="Pretendard" pitchFamily="34" charset="0"/>
                <a:ea typeface="Pretendard" pitchFamily="34" charset="-122"/>
                <a:cs typeface="Pretendard" pitchFamily="34" charset="-120"/>
              </a:rPr>
              <a:t>STEP 1</a:t>
            </a:r>
            <a:pPr algn="l" indent="0" marL="0">
              <a:buNone/>
            </a:pPr>
            <a:r>
              <a:rPr lang="en-US" sz="2100" b="1" dirty="0">
                <a:solidFill>
                  <a:srgbClr val="FFFFFF"/>
                </a:solidFill>
                <a:latin typeface="Pretendard" pitchFamily="34" charset="0"/>
                <a:ea typeface="Pretendard" pitchFamily="34" charset="-122"/>
                <a:cs typeface="Pretendard" pitchFamily="34" charset="-120"/>
              </a:rPr>
              <a:t> 상황판 메인 · 공급현황 지도</a:t>
            </a:r>
            <a:endParaRPr lang="en-US" sz="2100" dirty="0"/>
          </a:p>
        </p:txBody>
      </p:sp>
      <p:sp>
        <p:nvSpPr>
          <p:cNvPr id="11" name="Text 4"/>
          <p:cNvSpPr txBox="1"/>
          <p:nvPr/>
        </p:nvSpPr>
        <p:spPr>
          <a:xfrm>
            <a:off x="9430207" y="1714500"/>
            <a:ext cx="7715707" cy="324612"/>
          </a:xfrm>
          <a:prstGeom prst="rect">
            <a:avLst/>
          </a:prstGeom>
          <a:noFill/>
          <a:ln/>
        </p:spPr>
        <p:txBody>
          <a:bodyPr wrap="none" lIns="0" tIns="0" rIns="0" bIns="0" rtlCol="0" anchor="ctr"/>
          <a:lstStyle/>
          <a:p>
            <a:pPr algn="l" indent="0" marL="0">
              <a:buNone/>
            </a:pPr>
            <a:r>
              <a:rPr lang="en-US" sz="2100" b="1" dirty="0">
                <a:solidFill>
                  <a:srgbClr val="12B5A6"/>
                </a:solidFill>
                <a:latin typeface="Pretendard" pitchFamily="34" charset="0"/>
                <a:ea typeface="Pretendard" pitchFamily="34" charset="-122"/>
                <a:cs typeface="Pretendard" pitchFamily="34" charset="-120"/>
              </a:rPr>
              <a:t>STEP 2</a:t>
            </a:r>
            <a:pPr algn="l" indent="0" marL="0">
              <a:buNone/>
            </a:pPr>
            <a:r>
              <a:rPr lang="en-US" sz="2100" b="1" dirty="0">
                <a:solidFill>
                  <a:srgbClr val="FFFFFF"/>
                </a:solidFill>
                <a:latin typeface="Pretendard" pitchFamily="34" charset="0"/>
                <a:ea typeface="Pretendard" pitchFamily="34" charset="-122"/>
                <a:cs typeface="Pretendard" pitchFamily="34" charset="-120"/>
              </a:rPr>
              <a:t> 정책 추진현황 메뉴</a:t>
            </a:r>
            <a:endParaRPr lang="en-US" sz="2100" dirty="0"/>
          </a:p>
        </p:txBody>
      </p:sp>
      <p:sp>
        <p:nvSpPr>
          <p:cNvPr id="12" name="Text 5"/>
          <p:cNvSpPr txBox="1"/>
          <p:nvPr/>
        </p:nvSpPr>
        <p:spPr>
          <a:xfrm>
            <a:off x="1143000" y="5619902"/>
            <a:ext cx="7715707" cy="324612"/>
          </a:xfrm>
          <a:prstGeom prst="rect">
            <a:avLst/>
          </a:prstGeom>
          <a:noFill/>
          <a:ln/>
        </p:spPr>
        <p:txBody>
          <a:bodyPr wrap="none" lIns="0" tIns="0" rIns="0" bIns="0" rtlCol="0" anchor="ctr"/>
          <a:lstStyle/>
          <a:p>
            <a:pPr algn="l" indent="0" marL="0">
              <a:buNone/>
            </a:pPr>
            <a:r>
              <a:rPr lang="en-US" sz="2100" b="1" dirty="0">
                <a:solidFill>
                  <a:srgbClr val="12B5A6"/>
                </a:solidFill>
                <a:latin typeface="Pretendard" pitchFamily="34" charset="0"/>
                <a:ea typeface="Pretendard" pitchFamily="34" charset="-122"/>
                <a:cs typeface="Pretendard" pitchFamily="34" charset="-120"/>
              </a:rPr>
              <a:t>STEP 3</a:t>
            </a:r>
            <a:pPr algn="l" indent="0" marL="0">
              <a:buNone/>
            </a:pPr>
            <a:r>
              <a:rPr lang="en-US" sz="2100" b="1" dirty="0">
                <a:solidFill>
                  <a:srgbClr val="FFFFFF"/>
                </a:solidFill>
                <a:latin typeface="Pretendard" pitchFamily="34" charset="0"/>
                <a:ea typeface="Pretendard" pitchFamily="34" charset="-122"/>
                <a:cs typeface="Pretendard" pitchFamily="34" charset="-120"/>
              </a:rPr>
              <a:t> 특정 사업의 단계별 진행</a:t>
            </a:r>
            <a:endParaRPr lang="en-US" sz="2100" dirty="0"/>
          </a:p>
        </p:txBody>
      </p:sp>
      <p:sp>
        <p:nvSpPr>
          <p:cNvPr id="13" name="Text 6"/>
          <p:cNvSpPr txBox="1"/>
          <p:nvPr/>
        </p:nvSpPr>
        <p:spPr>
          <a:xfrm>
            <a:off x="9430207" y="5619902"/>
            <a:ext cx="7715707" cy="324612"/>
          </a:xfrm>
          <a:prstGeom prst="rect">
            <a:avLst/>
          </a:prstGeom>
          <a:noFill/>
          <a:ln/>
        </p:spPr>
        <p:txBody>
          <a:bodyPr wrap="none" lIns="0" tIns="0" rIns="0" bIns="0" rtlCol="0" anchor="ctr"/>
          <a:lstStyle/>
          <a:p>
            <a:pPr algn="l" indent="0" marL="0">
              <a:buNone/>
            </a:pPr>
            <a:r>
              <a:rPr lang="en-US" sz="2100" b="1" dirty="0">
                <a:solidFill>
                  <a:srgbClr val="12B5A6"/>
                </a:solidFill>
                <a:latin typeface="Pretendard" pitchFamily="34" charset="0"/>
                <a:ea typeface="Pretendard" pitchFamily="34" charset="-122"/>
                <a:cs typeface="Pretendard" pitchFamily="34" charset="-120"/>
              </a:rPr>
              <a:t>STEP 4</a:t>
            </a:r>
            <a:pPr algn="l" indent="0" marL="0">
              <a:buNone/>
            </a:pPr>
            <a:r>
              <a:rPr lang="en-US" sz="2100" b="1" dirty="0">
                <a:solidFill>
                  <a:srgbClr val="FFFFFF"/>
                </a:solidFill>
                <a:latin typeface="Pretendard" pitchFamily="34" charset="0"/>
                <a:ea typeface="Pretendard" pitchFamily="34" charset="-122"/>
                <a:cs typeface="Pretendard" pitchFamily="34" charset="-120"/>
              </a:rPr>
              <a:t> 지역 여건 · 공급현황</a:t>
            </a:r>
            <a:endParaRPr lang="en-US" sz="2100" dirty="0"/>
          </a:p>
        </p:txBody>
      </p:sp>
      <p:sp>
        <p:nvSpPr>
          <p:cNvPr id="14" name="Text 7"/>
          <p:cNvSpPr txBox="1"/>
          <p:nvPr/>
        </p:nvSpPr>
        <p:spPr>
          <a:xfrm>
            <a:off x="1143000" y="9525305"/>
            <a:ext cx="13335610"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실제 서비스 화면 캡처 (2026-10-16) · 실시간 시연이 어려울 경우 본 화면으로 대체</a:t>
            </a:r>
            <a:endParaRPr lang="en-US" sz="1800" dirty="0"/>
          </a:p>
        </p:txBody>
      </p:sp>
      <p:sp>
        <p:nvSpPr>
          <p:cNvPr id="15" name="Text 8"/>
          <p:cNvSpPr txBox="1"/>
          <p:nvPr/>
        </p:nvSpPr>
        <p:spPr>
          <a:xfrm>
            <a:off x="16192195" y="9525305"/>
            <a:ext cx="952805" cy="277063"/>
          </a:xfrm>
          <a:prstGeom prst="rect">
            <a:avLst/>
          </a:prstGeom>
          <a:noFill/>
          <a:ln/>
        </p:spPr>
        <p:txBody>
          <a:bodyPr wrap="none" lIns="0" tIns="0" rIns="0" bIns="0" rtlCol="0" anchor="ctr"/>
          <a:lstStyle/>
          <a:p>
            <a:pPr algn="r" indent="0" marL="0">
              <a:buNone/>
            </a:pPr>
            <a:r>
              <a:rPr lang="en-US" sz="1800" b="1" dirty="0">
                <a:solidFill>
                  <a:srgbClr val="6F84A6"/>
                </a:solidFill>
                <a:latin typeface="Pretendard" pitchFamily="34" charset="0"/>
                <a:ea typeface="Pretendard" pitchFamily="34" charset="-122"/>
                <a:cs typeface="Pretendard"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3" name="Shape 0"/>
          <p:cNvSpPr/>
          <p:nvPr/>
        </p:nvSpPr>
        <p:spPr>
          <a:xfrm>
            <a:off x="1143000" y="3238805"/>
            <a:ext cx="7810805" cy="5810098"/>
          </a:xfrm>
          <a:prstGeom prst="roundRect">
            <a:avLst>
              <a:gd name="adj" fmla="val 3935"/>
            </a:avLst>
          </a:prstGeom>
          <a:solidFill>
            <a:srgbClr val="FFFFFF"/>
          </a:solidFill>
          <a:ln w="12700">
            <a:solidFill>
              <a:srgbClr val="FFFFFF">
                <a:alpha val="0"/>
              </a:srgbClr>
            </a:solidFill>
            <a:prstDash val="solid"/>
          </a:ln>
        </p:spPr>
      </p:sp>
      <p:sp>
        <p:nvSpPr>
          <p:cNvPr id="4" name="Shape 1"/>
          <p:cNvSpPr/>
          <p:nvPr/>
        </p:nvSpPr>
        <p:spPr>
          <a:xfrm>
            <a:off x="9334195" y="3238805"/>
            <a:ext cx="7810805" cy="5810098"/>
          </a:xfrm>
          <a:prstGeom prst="roundRect">
            <a:avLst>
              <a:gd name="adj" fmla="val 3935"/>
            </a:avLst>
          </a:prstGeom>
          <a:solidFill>
            <a:srgbClr val="0A1F44"/>
          </a:solidFill>
          <a:ln w="12700">
            <a:solidFill>
              <a:srgbClr val="FFFFFF">
                <a:alpha val="0"/>
              </a:srgbClr>
            </a:solidFill>
            <a:prstDash val="solid"/>
          </a:ln>
        </p:spPr>
      </p:sp>
      <p:sp>
        <p:nvSpPr>
          <p:cNvPr id="5" name="Text 2"/>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11 성과와 배운 점</a:t>
            </a:r>
            <a:endParaRPr lang="en-US" sz="2100" dirty="0"/>
          </a:p>
        </p:txBody>
      </p:sp>
      <p:sp>
        <p:nvSpPr>
          <p:cNvPr id="6" name="Text 3"/>
          <p:cNvSpPr txBox="1"/>
          <p:nvPr/>
        </p:nvSpPr>
        <p:spPr>
          <a:xfrm>
            <a:off x="1143000" y="1218895"/>
            <a:ext cx="16002000" cy="1343254"/>
          </a:xfrm>
          <a:prstGeom prst="rect">
            <a:avLst/>
          </a:prstGeom>
          <a:noFill/>
          <a:ln/>
        </p:spPr>
        <p:txBody>
          <a:bodyPr wrap="square" lIns="0" tIns="0" rIns="0" bIns="0" rtlCol="0" anchor="t"/>
          <a:lstStyle/>
          <a:p>
            <a:pPr algn="l" indent="0" marL="0">
              <a:lnSpc>
                <a:spcPct val="130000"/>
              </a:lnSpc>
              <a:buNone/>
            </a:pPr>
            <a:r>
              <a:rPr lang="en-US" sz="4050" b="1" spc="-112" kern="0" dirty="0">
                <a:solidFill>
                  <a:srgbClr val="0A1F44"/>
                </a:solidFill>
                <a:latin typeface="Pretendard" pitchFamily="34" charset="0"/>
                <a:ea typeface="Pretendard" pitchFamily="34" charset="-122"/>
                <a:cs typeface="Pretendard" pitchFamily="34" charset="-120"/>
              </a:rPr>
              <a:t>데이터를 많이 모으는 것보다,</a:t>
            </a:r>
            <a:pPr algn="l" indent="0" marL="0">
              <a:lnSpc>
                <a:spcPct val="130000"/>
              </a:lnSpc>
              <a:buNone/>
            </a:pPr>
            <a:endParaRPr lang="en-US" sz="4050" dirty="0"/>
          </a:p>
          <a:p>
            <a:pPr algn="l" indent="0" marL="0">
              <a:lnSpc>
                <a:spcPct val="130000"/>
              </a:lnSpc>
              <a:buNone/>
            </a:pPr>
            <a:r>
              <a:rPr lang="en-US" sz="4050" b="1" spc="-112" kern="0" dirty="0">
                <a:solidFill>
                  <a:srgbClr val="1F6FEB"/>
                </a:solidFill>
                <a:latin typeface="Pretendard" pitchFamily="34" charset="0"/>
                <a:ea typeface="Pretendard" pitchFamily="34" charset="-122"/>
                <a:cs typeface="Pretendard" pitchFamily="34" charset="-120"/>
              </a:rPr>
              <a:t>신뢰할 수 있게 연결하는 것</a:t>
            </a:r>
            <a:pPr algn="l" indent="0" marL="0">
              <a:lnSpc>
                <a:spcPct val="130000"/>
              </a:lnSpc>
              <a:buNone/>
            </a:pPr>
            <a:r>
              <a:rPr lang="en-US" sz="4050" b="1" spc="-112" kern="0" dirty="0">
                <a:solidFill>
                  <a:srgbClr val="0A1F44"/>
                </a:solidFill>
                <a:latin typeface="Pretendard" pitchFamily="34" charset="0"/>
                <a:ea typeface="Pretendard" pitchFamily="34" charset="-122"/>
                <a:cs typeface="Pretendard" pitchFamily="34" charset="-120"/>
              </a:rPr>
              <a:t>이 중요했습니다</a:t>
            </a:r>
            <a:endParaRPr lang="en-US" sz="4050" dirty="0"/>
          </a:p>
        </p:txBody>
      </p:sp>
      <p:sp>
        <p:nvSpPr>
          <p:cNvPr id="7" name="Text 4"/>
          <p:cNvSpPr txBox="1"/>
          <p:nvPr/>
        </p:nvSpPr>
        <p:spPr>
          <a:xfrm>
            <a:off x="1619402" y="3619195"/>
            <a:ext cx="6954012" cy="381305"/>
          </a:xfrm>
          <a:prstGeom prst="rect">
            <a:avLst/>
          </a:prstGeom>
          <a:noFill/>
          <a:ln/>
        </p:spPr>
        <p:txBody>
          <a:bodyPr wrap="none" lIns="0" tIns="0" rIns="0" bIns="0" rtlCol="0" anchor="ctr"/>
          <a:lstStyle/>
          <a:p>
            <a:pPr algn="l" indent="0" marL="0">
              <a:buNone/>
            </a:pPr>
            <a:r>
              <a:rPr lang="en-US" sz="2550" b="1" dirty="0">
                <a:solidFill>
                  <a:srgbClr val="1F6FEB"/>
                </a:solidFill>
                <a:latin typeface="Pretendard" pitchFamily="34" charset="0"/>
                <a:ea typeface="Pretendard" pitchFamily="34" charset="-122"/>
                <a:cs typeface="Pretendard" pitchFamily="34" charset="-120"/>
              </a:rPr>
              <a:t>성과</a:t>
            </a:r>
            <a:endParaRPr lang="en-US" sz="2550" dirty="0"/>
          </a:p>
        </p:txBody>
      </p:sp>
      <p:sp>
        <p:nvSpPr>
          <p:cNvPr id="8" name="Text 5"/>
          <p:cNvSpPr txBox="1"/>
          <p:nvPr/>
        </p:nvSpPr>
        <p:spPr>
          <a:xfrm>
            <a:off x="1619402" y="4221785"/>
            <a:ext cx="6954012" cy="2739542"/>
          </a:xfrm>
          <a:prstGeom prst="rect">
            <a:avLst/>
          </a:prstGeom>
          <a:noFill/>
          <a:ln/>
        </p:spPr>
        <p:txBody>
          <a:bodyPr wrap="square" lIns="0" tIns="0" rIns="0" bIns="0" rtlCol="0" anchor="t"/>
          <a:lstStyle/>
          <a:p>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b="1" dirty="0">
                <a:solidFill>
                  <a:srgbClr val="1F6FEB"/>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분산된 주택공급 정보를 통합 표현하는 서비스 구현</a:t>
            </a:r>
            <a:pPr algn="l" indent="0" marL="0">
              <a:lnSpc>
                <a:spcPts val="2940"/>
              </a:lnSpc>
              <a:spcAft>
                <a:spcPts val="1650"/>
              </a:spcAft>
              <a:buNone/>
            </a:pPr>
            <a:endParaRPr lang="en-US" sz="2100" dirty="0"/>
          </a:p>
          <a:p>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b="1" dirty="0">
                <a:solidFill>
                  <a:srgbClr val="1F6FEB"/>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정책–프로그램–사업 중심 데이터 구조 마련</a:t>
            </a:r>
            <a:pPr algn="l" indent="0" marL="0">
              <a:lnSpc>
                <a:spcPts val="2940"/>
              </a:lnSpc>
              <a:spcAft>
                <a:spcPts val="1650"/>
              </a:spcAft>
              <a:buNone/>
            </a:pPr>
            <a:endParaRPr lang="en-US" sz="2100" dirty="0"/>
          </a:p>
          <a:p>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b="1" dirty="0">
                <a:solidFill>
                  <a:srgbClr val="1F6FEB"/>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공공데이터의 연결 가능성과 제약 확인</a:t>
            </a:r>
            <a:pPr algn="l" indent="0" marL="0">
              <a:lnSpc>
                <a:spcPts val="2940"/>
              </a:lnSpc>
              <a:spcAft>
                <a:spcPts val="1650"/>
              </a:spcAft>
              <a:buNone/>
            </a:pPr>
            <a:endParaRPr lang="en-US" sz="2100" dirty="0"/>
          </a:p>
          <a:p>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b="1" dirty="0">
                <a:solidFill>
                  <a:srgbClr val="1F6FEB"/>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확인된 사실과 미확인 정보를 구분해 표시</a:t>
            </a:r>
            <a:pPr algn="l" indent="0" marL="0">
              <a:lnSpc>
                <a:spcPts val="2940"/>
              </a:lnSpc>
              <a:spcAft>
                <a:spcPts val="1650"/>
              </a:spcAft>
              <a:buNone/>
            </a:pPr>
            <a:endParaRPr lang="en-US" sz="2100" dirty="0"/>
          </a:p>
          <a:p>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b="1" dirty="0">
                <a:solidFill>
                  <a:srgbClr val="1F6FEB"/>
                </a:solidFill>
                <a:latin typeface="Pretendard" pitchFamily="34" charset="0"/>
                <a:ea typeface="Pretendard" pitchFamily="34" charset="-122"/>
                <a:cs typeface="Pretendard" pitchFamily="34" charset="-120"/>
              </a:rPr>
              <a:t>✓</a:t>
            </a:r>
            <a:pPr algn="l" indent="0" marL="0">
              <a:lnSpc>
                <a:spcPts val="2940"/>
              </a:lnSpc>
              <a:spcAft>
                <a:spcPts val="1650"/>
              </a:spcAft>
              <a:buNone/>
            </a:pPr>
            <a:r>
              <a:rPr lang="en-US" sz="2100" dirty="0">
                <a:solidFill>
                  <a:srgbClr val="0A1F44"/>
                </a:solidFill>
                <a:latin typeface="Pretendard" pitchFamily="34" charset="0"/>
                <a:ea typeface="Pretendard" pitchFamily="34" charset="-122"/>
                <a:cs typeface="Pretendard" pitchFamily="34" charset="-120"/>
              </a:rPr>
              <a:t>정책 담당자·국민 관점을 함께 반영</a:t>
            </a:r>
            <a:endParaRPr lang="en-US" sz="2100" dirty="0"/>
          </a:p>
        </p:txBody>
      </p:sp>
      <p:sp>
        <p:nvSpPr>
          <p:cNvPr id="9" name="Text 6"/>
          <p:cNvSpPr txBox="1"/>
          <p:nvPr/>
        </p:nvSpPr>
        <p:spPr>
          <a:xfrm>
            <a:off x="9810598" y="3619195"/>
            <a:ext cx="6954012" cy="381305"/>
          </a:xfrm>
          <a:prstGeom prst="rect">
            <a:avLst/>
          </a:prstGeom>
          <a:noFill/>
          <a:ln/>
        </p:spPr>
        <p:txBody>
          <a:bodyPr wrap="none" lIns="0" tIns="0" rIns="0" bIns="0" rtlCol="0" anchor="ctr"/>
          <a:lstStyle/>
          <a:p>
            <a:pPr algn="l" indent="0" marL="0">
              <a:buNone/>
            </a:pPr>
            <a:r>
              <a:rPr lang="en-US" sz="2550" b="1" dirty="0">
                <a:solidFill>
                  <a:srgbClr val="12B5A6"/>
                </a:solidFill>
                <a:latin typeface="Pretendard" pitchFamily="34" charset="0"/>
                <a:ea typeface="Pretendard" pitchFamily="34" charset="-122"/>
                <a:cs typeface="Pretendard" pitchFamily="34" charset="-120"/>
              </a:rPr>
              <a:t>배운 점</a:t>
            </a:r>
            <a:endParaRPr lang="en-US" sz="2550" dirty="0"/>
          </a:p>
        </p:txBody>
      </p:sp>
      <p:sp>
        <p:nvSpPr>
          <p:cNvPr id="10" name="Text 7"/>
          <p:cNvSpPr txBox="1"/>
          <p:nvPr/>
        </p:nvSpPr>
        <p:spPr>
          <a:xfrm>
            <a:off x="9810598" y="4248302"/>
            <a:ext cx="6954012"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제공된다 ≠ 활용할 수 있다</a:t>
            </a:r>
            <a:endParaRPr lang="en-US" sz="2250" dirty="0"/>
          </a:p>
        </p:txBody>
      </p:sp>
      <p:sp>
        <p:nvSpPr>
          <p:cNvPr id="11" name="Text 8"/>
          <p:cNvSpPr txBox="1"/>
          <p:nvPr/>
        </p:nvSpPr>
        <p:spPr>
          <a:xfrm>
            <a:off x="9810598" y="4629607"/>
            <a:ext cx="6954012"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데이터 제공과 실제 활용 가능성은 다름</a:t>
            </a:r>
            <a:endParaRPr lang="en-US" sz="1800" dirty="0"/>
          </a:p>
        </p:txBody>
      </p:sp>
      <p:sp>
        <p:nvSpPr>
          <p:cNvPr id="12" name="Text 9"/>
          <p:cNvSpPr txBox="1"/>
          <p:nvPr/>
        </p:nvSpPr>
        <p:spPr>
          <a:xfrm>
            <a:off x="9810598" y="5152644"/>
            <a:ext cx="6954012"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공통 식별체계와 표준화</a:t>
            </a:r>
            <a:endParaRPr lang="en-US" sz="2250" dirty="0"/>
          </a:p>
        </p:txBody>
      </p:sp>
      <p:sp>
        <p:nvSpPr>
          <p:cNvPr id="13" name="Text 10"/>
          <p:cNvSpPr txBox="1"/>
          <p:nvPr/>
        </p:nvSpPr>
        <p:spPr>
          <a:xfrm>
            <a:off x="9810598" y="5533949"/>
            <a:ext cx="6954012"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연결의 출발점은 같은 사업을 알아보는 것</a:t>
            </a:r>
            <a:endParaRPr lang="en-US" sz="1800" dirty="0"/>
          </a:p>
        </p:txBody>
      </p:sp>
      <p:sp>
        <p:nvSpPr>
          <p:cNvPr id="14" name="Text 11"/>
          <p:cNvSpPr txBox="1"/>
          <p:nvPr/>
        </p:nvSpPr>
        <p:spPr>
          <a:xfrm>
            <a:off x="9810598" y="6057900"/>
            <a:ext cx="6954012"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빈칸도 투명하게</a:t>
            </a:r>
            <a:endParaRPr lang="en-US" sz="2250" dirty="0"/>
          </a:p>
        </p:txBody>
      </p:sp>
      <p:sp>
        <p:nvSpPr>
          <p:cNvPr id="15" name="Text 12"/>
          <p:cNvSpPr txBox="1"/>
          <p:nvPr/>
        </p:nvSpPr>
        <p:spPr>
          <a:xfrm>
            <a:off x="9810598" y="6439205"/>
            <a:ext cx="6954012"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연결되지 않은 데이터도 숨기지 않고 표현</a:t>
            </a:r>
            <a:endParaRPr lang="en-US" sz="1800" dirty="0"/>
          </a:p>
        </p:txBody>
      </p:sp>
      <p:sp>
        <p:nvSpPr>
          <p:cNvPr id="16" name="Text 13"/>
          <p:cNvSpPr txBox="1"/>
          <p:nvPr/>
        </p:nvSpPr>
        <p:spPr>
          <a:xfrm>
            <a:off x="9810598" y="6963156"/>
            <a:ext cx="6954012" cy="342900"/>
          </a:xfrm>
          <a:prstGeom prst="rect">
            <a:avLst/>
          </a:prstGeom>
          <a:noFill/>
          <a:ln/>
        </p:spPr>
        <p:txBody>
          <a:bodyPr wrap="none" lIns="0" tIns="0" rIns="0" bIns="0" rtlCol="0" anchor="ctr"/>
          <a:lstStyle/>
          <a:p>
            <a:pPr algn="l" indent="0" marL="0">
              <a:buNone/>
            </a:pPr>
            <a:r>
              <a:rPr lang="en-US" sz="2250" b="1" dirty="0">
                <a:solidFill>
                  <a:srgbClr val="FFFFFF"/>
                </a:solidFill>
                <a:latin typeface="Pretendard" pitchFamily="34" charset="0"/>
                <a:ea typeface="Pretendard" pitchFamily="34" charset="-122"/>
                <a:cs typeface="Pretendard" pitchFamily="34" charset="-120"/>
              </a:rPr>
              <a:t>구현보다 긴 것은 관리</a:t>
            </a:r>
            <a:endParaRPr lang="en-US" sz="2250" dirty="0"/>
          </a:p>
        </p:txBody>
      </p:sp>
      <p:sp>
        <p:nvSpPr>
          <p:cNvPr id="17" name="Text 14"/>
          <p:cNvSpPr txBox="1"/>
          <p:nvPr/>
        </p:nvSpPr>
        <p:spPr>
          <a:xfrm>
            <a:off x="9810598" y="7343546"/>
            <a:ext cx="6954012" cy="277063"/>
          </a:xfrm>
          <a:prstGeom prst="rect">
            <a:avLst/>
          </a:prstGeom>
          <a:noFill/>
          <a:ln/>
        </p:spPr>
        <p:txBody>
          <a:bodyPr wrap="none" lIns="0" tIns="0" rIns="0" bIns="0" rtlCol="0" anchor="ctr"/>
          <a:lstStyle/>
          <a:p>
            <a:pPr algn="l" indent="0" marL="0">
              <a:buNone/>
            </a:pPr>
            <a:r>
              <a:rPr lang="en-US" sz="1800" dirty="0">
                <a:solidFill>
                  <a:srgbClr val="8FA6C8"/>
                </a:solidFill>
                <a:latin typeface="Pretendard" pitchFamily="34" charset="0"/>
                <a:ea typeface="Pretendard" pitchFamily="34" charset="-122"/>
                <a:cs typeface="Pretendard" pitchFamily="34" charset="-120"/>
              </a:rPr>
              <a:t>지속적인 수집·검증 체계가 필요</a:t>
            </a:r>
            <a:endParaRPr lang="en-US" sz="1800" dirty="0"/>
          </a:p>
        </p:txBody>
      </p:sp>
      <p:sp>
        <p:nvSpPr>
          <p:cNvPr id="18" name="Text 15"/>
          <p:cNvSpPr txBox="1"/>
          <p:nvPr/>
        </p:nvSpPr>
        <p:spPr>
          <a:xfrm>
            <a:off x="1143000" y="9620402"/>
            <a:ext cx="85725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주택공급 상황판 · 전파 도파민</a:t>
            </a:r>
            <a:endParaRPr lang="en-US" sz="1800" dirty="0"/>
          </a:p>
        </p:txBody>
      </p:sp>
      <p:sp>
        <p:nvSpPr>
          <p:cNvPr id="19" name="Text 16"/>
          <p:cNvSpPr txBox="1"/>
          <p:nvPr/>
        </p:nvSpPr>
        <p:spPr>
          <a:xfrm>
            <a:off x="16192195" y="9620402"/>
            <a:ext cx="952805" cy="277063"/>
          </a:xfrm>
          <a:prstGeom prst="rect">
            <a:avLst/>
          </a:prstGeom>
          <a:noFill/>
          <a:ln/>
        </p:spPr>
        <p:txBody>
          <a:bodyPr wrap="none" lIns="0" tIns="0" rIns="0" bIns="0" rtlCol="0" anchor="ctr"/>
          <a:lstStyle/>
          <a:p>
            <a:pPr algn="r" indent="0" marL="0">
              <a:buNone/>
            </a:pPr>
            <a:r>
              <a:rPr lang="en-US" sz="1800" b="1" dirty="0">
                <a:solidFill>
                  <a:srgbClr val="8A99B0"/>
                </a:solidFill>
                <a:latin typeface="Pretendard" pitchFamily="34" charset="0"/>
                <a:ea typeface="Pretendard" pitchFamily="34" charset="-122"/>
                <a:cs typeface="Pretendard"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44"/>
        </a:solidFill>
      </p:bgPr>
    </p:bg>
    <p:spTree>
      <p:nvGrpSpPr>
        <p:cNvPr id="1" name=""/>
        <p:cNvGrpSpPr/>
        <p:nvPr/>
      </p:nvGrpSpPr>
      <p:grpSpPr>
        <a:xfrm>
          <a:off x="0" y="0"/>
          <a:ext cx="0" cy="0"/>
          <a:chOff x="0" y="0"/>
          <a:chExt cx="0" cy="0"/>
        </a:xfrm>
      </p:grpSpPr>
      <p:pic>
        <p:nvPicPr>
          <p:cNvPr id="3" name="Image 0" descr="gen-dedup-dc00c040863b4dd3f4d67fd3476924f2.png">    </p:cNvPr>
          <p:cNvPicPr>
            <a:picLocks noChangeAspect="1"/>
          </p:cNvPicPr>
          <p:nvPr/>
        </p:nvPicPr>
        <p:blipFill>
          <a:blip r:embed="rId1"/>
          <a:srcRect l="0" r="0" t="-74" b="-74"/>
          <a:stretch/>
        </p:blipFill>
        <p:spPr>
          <a:xfrm>
            <a:off x="1143000" y="5143500"/>
            <a:ext cx="95098" cy="2476195"/>
          </a:xfrm>
          <a:prstGeom prst="rect">
            <a:avLst/>
          </a:prstGeom>
        </p:spPr>
      </p:pic>
      <p:pic>
        <p:nvPicPr>
          <p:cNvPr id="4" name="Image 1" descr="gen-dedup-df6ea64a4ba2cde5dea3580ac393b94e.jpg">    </p:cNvPr>
          <p:cNvPicPr>
            <a:picLocks noChangeAspect="1"/>
          </p:cNvPicPr>
          <p:nvPr/>
        </p:nvPicPr>
        <p:blipFill>
          <a:blip r:embed="rId2">
            <a:alphaModFix amt="22000"/>
          </a:blip>
          <a:stretch>
            <a:fillRect/>
          </a:stretch>
        </p:blipFill>
        <p:spPr>
          <a:xfrm>
            <a:off x="0" y="0"/>
            <a:ext cx="18288000" cy="10287000"/>
          </a:xfrm>
          <a:prstGeom prst="rect">
            <a:avLst/>
          </a:prstGeom>
        </p:spPr>
      </p:pic>
      <p:sp>
        <p:nvSpPr>
          <p:cNvPr id="5" name="Text 0"/>
          <p:cNvSpPr txBox="1"/>
          <p:nvPr/>
        </p:nvSpPr>
        <p:spPr>
          <a:xfrm>
            <a:off x="1143000" y="761695"/>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12 향후 발전 방향</a:t>
            </a:r>
            <a:endParaRPr lang="en-US" sz="2100" dirty="0"/>
          </a:p>
        </p:txBody>
      </p:sp>
      <p:sp>
        <p:nvSpPr>
          <p:cNvPr id="6" name="Text 1"/>
          <p:cNvSpPr txBox="1"/>
          <p:nvPr/>
        </p:nvSpPr>
        <p:spPr>
          <a:xfrm>
            <a:off x="1143000" y="1218895"/>
            <a:ext cx="16592702" cy="571500"/>
          </a:xfrm>
          <a:prstGeom prst="rect">
            <a:avLst/>
          </a:prstGeom>
          <a:noFill/>
          <a:ln/>
        </p:spPr>
        <p:txBody>
          <a:bodyPr wrap="none" lIns="0" tIns="0" rIns="0" bIns="0" rtlCol="0" anchor="ctr"/>
          <a:lstStyle/>
          <a:p>
            <a:pPr algn="l" indent="0" marL="0">
              <a:buNone/>
            </a:pPr>
            <a:r>
              <a:rPr lang="en-US" sz="3750" b="1" spc="-90" kern="0" dirty="0">
                <a:solidFill>
                  <a:srgbClr val="FFFFFF"/>
                </a:solidFill>
                <a:latin typeface="Pretendard" pitchFamily="34" charset="0"/>
                <a:ea typeface="Pretendard" pitchFamily="34" charset="-122"/>
                <a:cs typeface="Pretendard" pitchFamily="34" charset="-120"/>
              </a:rPr>
              <a:t>계획을 보여주는 상황판에서, </a:t>
            </a:r>
            <a:pPr algn="l" indent="0" marL="0">
              <a:buNone/>
            </a:pPr>
            <a:r>
              <a:rPr lang="en-US" sz="3750" b="1" spc="-90" kern="0" dirty="0">
                <a:solidFill>
                  <a:srgbClr val="12B5A6"/>
                </a:solidFill>
                <a:latin typeface="Pretendard" pitchFamily="34" charset="0"/>
                <a:ea typeface="Pretendard" pitchFamily="34" charset="-122"/>
                <a:cs typeface="Pretendard" pitchFamily="34" charset="-120"/>
              </a:rPr>
              <a:t>실제 진행을 설명하는 상황판으로</a:t>
            </a:r>
            <a:endParaRPr lang="en-US" sz="3750" dirty="0"/>
          </a:p>
        </p:txBody>
      </p:sp>
      <p:sp>
        <p:nvSpPr>
          <p:cNvPr id="7" name="Shape 2"/>
          <p:cNvSpPr/>
          <p:nvPr/>
        </p:nvSpPr>
        <p:spPr>
          <a:xfrm>
            <a:off x="1143000" y="2381098"/>
            <a:ext cx="3066898" cy="1904695"/>
          </a:xfrm>
          <a:prstGeom prst="roundRect">
            <a:avLst>
              <a:gd name="adj" fmla="val 8017"/>
            </a:avLst>
          </a:prstGeom>
          <a:solidFill>
            <a:srgbClr val="FFFFFF">
              <a:alpha val="8000"/>
            </a:srgbClr>
          </a:solidFill>
          <a:ln w="12700">
            <a:solidFill>
              <a:srgbClr val="FFFFFF">
                <a:alpha val="18000"/>
              </a:srgbClr>
            </a:solidFill>
            <a:prstDash val="solid"/>
          </a:ln>
        </p:spPr>
      </p:sp>
      <p:sp>
        <p:nvSpPr>
          <p:cNvPr id="8" name="Text 3"/>
          <p:cNvSpPr txBox="1"/>
          <p:nvPr/>
        </p:nvSpPr>
        <p:spPr>
          <a:xfrm>
            <a:off x="1362456" y="2619756"/>
            <a:ext cx="2628900"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1</a:t>
            </a:r>
            <a:endParaRPr lang="en-US" sz="2250" dirty="0"/>
          </a:p>
        </p:txBody>
      </p:sp>
      <p:sp>
        <p:nvSpPr>
          <p:cNvPr id="9" name="Text 4"/>
          <p:cNvSpPr txBox="1"/>
          <p:nvPr/>
        </p:nvSpPr>
        <p:spPr>
          <a:xfrm>
            <a:off x="1362456" y="3038551"/>
            <a:ext cx="2628900" cy="676656"/>
          </a:xfrm>
          <a:prstGeom prst="rect">
            <a:avLst/>
          </a:prstGeom>
          <a:noFill/>
          <a:ln/>
        </p:spPr>
        <p:txBody>
          <a:bodyPr wrap="square" lIns="0" tIns="0" rIns="0" bIns="0" rtlCol="0" anchor="t"/>
          <a:lstStyle/>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정책·프로그램별</a:t>
            </a:r>
            <a:pPr algn="l" indent="0" marL="0">
              <a:lnSpc>
                <a:spcPct val="135000"/>
              </a:lnSpc>
              <a:buNone/>
            </a:pPr>
            <a:endParaRPr lang="en-US" sz="1950" dirty="0"/>
          </a:p>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추진현황 데이터 보완</a:t>
            </a:r>
            <a:endParaRPr lang="en-US" sz="1950" dirty="0"/>
          </a:p>
        </p:txBody>
      </p:sp>
      <p:sp>
        <p:nvSpPr>
          <p:cNvPr id="10" name="Shape 5"/>
          <p:cNvSpPr/>
          <p:nvPr/>
        </p:nvSpPr>
        <p:spPr>
          <a:xfrm>
            <a:off x="4377233" y="2381098"/>
            <a:ext cx="3066898" cy="1904695"/>
          </a:xfrm>
          <a:prstGeom prst="roundRect">
            <a:avLst>
              <a:gd name="adj" fmla="val 8017"/>
            </a:avLst>
          </a:prstGeom>
          <a:solidFill>
            <a:srgbClr val="FFFFFF">
              <a:alpha val="8000"/>
            </a:srgbClr>
          </a:solidFill>
          <a:ln w="12700">
            <a:solidFill>
              <a:srgbClr val="FFFFFF">
                <a:alpha val="18000"/>
              </a:srgbClr>
            </a:solidFill>
            <a:prstDash val="solid"/>
          </a:ln>
        </p:spPr>
      </p:sp>
      <p:sp>
        <p:nvSpPr>
          <p:cNvPr id="11" name="Text 6"/>
          <p:cNvSpPr txBox="1"/>
          <p:nvPr/>
        </p:nvSpPr>
        <p:spPr>
          <a:xfrm>
            <a:off x="4596689" y="2619756"/>
            <a:ext cx="2628900"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2</a:t>
            </a:r>
            <a:endParaRPr lang="en-US" sz="2250" dirty="0"/>
          </a:p>
        </p:txBody>
      </p:sp>
      <p:sp>
        <p:nvSpPr>
          <p:cNvPr id="12" name="Text 7"/>
          <p:cNvSpPr txBox="1"/>
          <p:nvPr/>
        </p:nvSpPr>
        <p:spPr>
          <a:xfrm>
            <a:off x="4596689" y="3038551"/>
            <a:ext cx="2628900" cy="676656"/>
          </a:xfrm>
          <a:prstGeom prst="rect">
            <a:avLst/>
          </a:prstGeom>
          <a:noFill/>
          <a:ln/>
        </p:spPr>
        <p:txBody>
          <a:bodyPr wrap="square" lIns="0" tIns="0" rIns="0" bIns="0" rtlCol="0" anchor="t"/>
          <a:lstStyle/>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학교·어린이집 등</a:t>
            </a:r>
            <a:pPr algn="l" indent="0" marL="0">
              <a:lnSpc>
                <a:spcPct val="135000"/>
              </a:lnSpc>
              <a:buNone/>
            </a:pPr>
            <a:endParaRPr lang="en-US" sz="1950" dirty="0"/>
          </a:p>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생활 기반시설 확대</a:t>
            </a:r>
            <a:endParaRPr lang="en-US" sz="1950" dirty="0"/>
          </a:p>
        </p:txBody>
      </p:sp>
      <p:sp>
        <p:nvSpPr>
          <p:cNvPr id="13" name="Shape 8"/>
          <p:cNvSpPr/>
          <p:nvPr/>
        </p:nvSpPr>
        <p:spPr>
          <a:xfrm>
            <a:off x="7612380" y="2381098"/>
            <a:ext cx="3066898" cy="1904695"/>
          </a:xfrm>
          <a:prstGeom prst="roundRect">
            <a:avLst>
              <a:gd name="adj" fmla="val 8017"/>
            </a:avLst>
          </a:prstGeom>
          <a:solidFill>
            <a:srgbClr val="FFFFFF">
              <a:alpha val="8000"/>
            </a:srgbClr>
          </a:solidFill>
          <a:ln w="12700">
            <a:solidFill>
              <a:srgbClr val="FFFFFF">
                <a:alpha val="18000"/>
              </a:srgbClr>
            </a:solidFill>
            <a:prstDash val="solid"/>
          </a:ln>
        </p:spPr>
      </p:sp>
      <p:sp>
        <p:nvSpPr>
          <p:cNvPr id="14" name="Text 9"/>
          <p:cNvSpPr txBox="1"/>
          <p:nvPr/>
        </p:nvSpPr>
        <p:spPr>
          <a:xfrm>
            <a:off x="7830922" y="2619756"/>
            <a:ext cx="2628900"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3</a:t>
            </a:r>
            <a:endParaRPr lang="en-US" sz="2250" dirty="0"/>
          </a:p>
        </p:txBody>
      </p:sp>
      <p:sp>
        <p:nvSpPr>
          <p:cNvPr id="15" name="Text 10"/>
          <p:cNvSpPr txBox="1"/>
          <p:nvPr/>
        </p:nvSpPr>
        <p:spPr>
          <a:xfrm>
            <a:off x="7830922" y="3038551"/>
            <a:ext cx="2628900" cy="676656"/>
          </a:xfrm>
          <a:prstGeom prst="rect">
            <a:avLst/>
          </a:prstGeom>
          <a:noFill/>
          <a:ln/>
        </p:spPr>
        <p:txBody>
          <a:bodyPr wrap="square" lIns="0" tIns="0" rIns="0" bIns="0" rtlCol="0" anchor="t"/>
          <a:lstStyle/>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정책·사업 연계</a:t>
            </a:r>
            <a:pPr algn="l" indent="0" marL="0">
              <a:lnSpc>
                <a:spcPct val="135000"/>
              </a:lnSpc>
              <a:buNone/>
            </a:pPr>
            <a:endParaRPr lang="en-US" sz="1950" dirty="0"/>
          </a:p>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정확도 향상</a:t>
            </a:r>
            <a:endParaRPr lang="en-US" sz="1950" dirty="0"/>
          </a:p>
        </p:txBody>
      </p:sp>
      <p:sp>
        <p:nvSpPr>
          <p:cNvPr id="16" name="Shape 11"/>
          <p:cNvSpPr/>
          <p:nvPr/>
        </p:nvSpPr>
        <p:spPr>
          <a:xfrm>
            <a:off x="10846613" y="2381098"/>
            <a:ext cx="3066898" cy="1904695"/>
          </a:xfrm>
          <a:prstGeom prst="roundRect">
            <a:avLst>
              <a:gd name="adj" fmla="val 8017"/>
            </a:avLst>
          </a:prstGeom>
          <a:solidFill>
            <a:srgbClr val="FFFFFF">
              <a:alpha val="8000"/>
            </a:srgbClr>
          </a:solidFill>
          <a:ln w="12700">
            <a:solidFill>
              <a:srgbClr val="FFFFFF">
                <a:alpha val="18000"/>
              </a:srgbClr>
            </a:solidFill>
            <a:prstDash val="solid"/>
          </a:ln>
        </p:spPr>
      </p:sp>
      <p:sp>
        <p:nvSpPr>
          <p:cNvPr id="17" name="Text 12"/>
          <p:cNvSpPr txBox="1"/>
          <p:nvPr/>
        </p:nvSpPr>
        <p:spPr>
          <a:xfrm>
            <a:off x="11066069" y="2619756"/>
            <a:ext cx="2628900"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4</a:t>
            </a:r>
            <a:endParaRPr lang="en-US" sz="2250" dirty="0"/>
          </a:p>
        </p:txBody>
      </p:sp>
      <p:sp>
        <p:nvSpPr>
          <p:cNvPr id="18" name="Text 13"/>
          <p:cNvSpPr txBox="1"/>
          <p:nvPr/>
        </p:nvSpPr>
        <p:spPr>
          <a:xfrm>
            <a:off x="11066069" y="3038551"/>
            <a:ext cx="2628900" cy="676656"/>
          </a:xfrm>
          <a:prstGeom prst="rect">
            <a:avLst/>
          </a:prstGeom>
          <a:noFill/>
          <a:ln/>
        </p:spPr>
        <p:txBody>
          <a:bodyPr wrap="square" lIns="0" tIns="0" rIns="0" bIns="0" rtlCol="0" anchor="t"/>
          <a:lstStyle/>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수집·검증</a:t>
            </a:r>
            <a:pPr algn="l" indent="0" marL="0">
              <a:lnSpc>
                <a:spcPct val="135000"/>
              </a:lnSpc>
              <a:buNone/>
            </a:pPr>
            <a:endParaRPr lang="en-US" sz="1950" dirty="0"/>
          </a:p>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체계 개선</a:t>
            </a:r>
            <a:endParaRPr lang="en-US" sz="1950" dirty="0"/>
          </a:p>
        </p:txBody>
      </p:sp>
      <p:sp>
        <p:nvSpPr>
          <p:cNvPr id="19" name="Shape 14"/>
          <p:cNvSpPr/>
          <p:nvPr/>
        </p:nvSpPr>
        <p:spPr>
          <a:xfrm>
            <a:off x="14081760" y="2381098"/>
            <a:ext cx="3066898" cy="1904695"/>
          </a:xfrm>
          <a:prstGeom prst="roundRect">
            <a:avLst>
              <a:gd name="adj" fmla="val 8017"/>
            </a:avLst>
          </a:prstGeom>
          <a:solidFill>
            <a:srgbClr val="FFFFFF">
              <a:alpha val="8000"/>
            </a:srgbClr>
          </a:solidFill>
          <a:ln w="12700">
            <a:solidFill>
              <a:srgbClr val="FFFFFF">
                <a:alpha val="18000"/>
              </a:srgbClr>
            </a:solidFill>
            <a:prstDash val="solid"/>
          </a:ln>
        </p:spPr>
      </p:sp>
      <p:sp>
        <p:nvSpPr>
          <p:cNvPr id="20" name="Text 15"/>
          <p:cNvSpPr txBox="1"/>
          <p:nvPr/>
        </p:nvSpPr>
        <p:spPr>
          <a:xfrm>
            <a:off x="14300302" y="2619756"/>
            <a:ext cx="2628900" cy="342900"/>
          </a:xfrm>
          <a:prstGeom prst="rect">
            <a:avLst/>
          </a:prstGeom>
          <a:noFill/>
          <a:ln/>
        </p:spPr>
        <p:txBody>
          <a:bodyPr wrap="none" lIns="0" tIns="0" rIns="0" bIns="0" rtlCol="0" anchor="ctr"/>
          <a:lstStyle/>
          <a:p>
            <a:pPr algn="l" indent="0" marL="0">
              <a:buNone/>
            </a:pPr>
            <a:r>
              <a:rPr lang="en-US" sz="2250" b="1" dirty="0">
                <a:solidFill>
                  <a:srgbClr val="12B5A6"/>
                </a:solidFill>
                <a:latin typeface="Pretendard" pitchFamily="34" charset="0"/>
                <a:ea typeface="Pretendard" pitchFamily="34" charset="-122"/>
                <a:cs typeface="Pretendard" pitchFamily="34" charset="-120"/>
              </a:rPr>
              <a:t>5</a:t>
            </a:r>
            <a:endParaRPr lang="en-US" sz="2250" dirty="0"/>
          </a:p>
        </p:txBody>
      </p:sp>
      <p:sp>
        <p:nvSpPr>
          <p:cNvPr id="21" name="Text 16"/>
          <p:cNvSpPr txBox="1"/>
          <p:nvPr/>
        </p:nvSpPr>
        <p:spPr>
          <a:xfrm>
            <a:off x="14300302" y="3038551"/>
            <a:ext cx="2628900" cy="676656"/>
          </a:xfrm>
          <a:prstGeom prst="rect">
            <a:avLst/>
          </a:prstGeom>
          <a:noFill/>
          <a:ln/>
        </p:spPr>
        <p:txBody>
          <a:bodyPr wrap="square" lIns="0" tIns="0" rIns="0" bIns="0" rtlCol="0" anchor="t"/>
          <a:lstStyle/>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지연 요인·단계 변화</a:t>
            </a:r>
            <a:pPr algn="l" indent="0" marL="0">
              <a:lnSpc>
                <a:spcPct val="135000"/>
              </a:lnSpc>
              <a:buNone/>
            </a:pPr>
            <a:endParaRPr lang="en-US" sz="1950" dirty="0"/>
          </a:p>
          <a:p>
            <a:pPr algn="l" indent="0" marL="0">
              <a:lnSpc>
                <a:spcPct val="135000"/>
              </a:lnSpc>
              <a:buNone/>
            </a:pPr>
            <a:r>
              <a:rPr lang="en-US" sz="1950" b="1" dirty="0">
                <a:solidFill>
                  <a:srgbClr val="FFFFFF"/>
                </a:solidFill>
                <a:latin typeface="Pretendard" pitchFamily="34" charset="0"/>
                <a:ea typeface="Pretendard" pitchFamily="34" charset="-122"/>
                <a:cs typeface="Pretendard" pitchFamily="34" charset="-120"/>
              </a:rPr>
              <a:t>분석 기능 검토</a:t>
            </a:r>
            <a:endParaRPr lang="en-US" sz="1950" dirty="0"/>
          </a:p>
        </p:txBody>
      </p:sp>
      <p:sp>
        <p:nvSpPr>
          <p:cNvPr id="22" name="Text 17"/>
          <p:cNvSpPr txBox="1"/>
          <p:nvPr/>
        </p:nvSpPr>
        <p:spPr>
          <a:xfrm>
            <a:off x="1619402" y="5084064"/>
            <a:ext cx="15526512" cy="2136038"/>
          </a:xfrm>
          <a:prstGeom prst="rect">
            <a:avLst/>
          </a:prstGeom>
          <a:noFill/>
          <a:ln/>
        </p:spPr>
        <p:txBody>
          <a:bodyPr wrap="square" lIns="0" tIns="0" rIns="0" bIns="0" rtlCol="0" anchor="t"/>
          <a:lstStyle/>
          <a:p>
            <a:pPr algn="l" indent="0" marL="0">
              <a:lnSpc>
                <a:spcPts val="5438"/>
              </a:lnSpc>
              <a:buNone/>
            </a:pPr>
            <a:r>
              <a:rPr lang="en-US" sz="3750" b="1" spc="-75" kern="0" dirty="0">
                <a:solidFill>
                  <a:srgbClr val="FFFFFF"/>
                </a:solidFill>
                <a:latin typeface="Pretendard" pitchFamily="34" charset="0"/>
                <a:ea typeface="Pretendard" pitchFamily="34" charset="-122"/>
                <a:cs typeface="Pretendard" pitchFamily="34" charset="-120"/>
              </a:rPr>
              <a:t>주택공급 상황판은 공급계획을 나열하는 것이 아니라,</a:t>
            </a:r>
            <a:pPr algn="l" indent="0" marL="0">
              <a:lnSpc>
                <a:spcPts val="5438"/>
              </a:lnSpc>
              <a:buNone/>
            </a:pPr>
            <a:endParaRPr lang="en-US" sz="3750" dirty="0"/>
          </a:p>
          <a:p>
            <a:pPr algn="l" indent="0" marL="0">
              <a:lnSpc>
                <a:spcPts val="5438"/>
              </a:lnSpc>
              <a:buNone/>
            </a:pPr>
            <a:r>
              <a:rPr lang="en-US" sz="3750" b="1" spc="-75" kern="0" dirty="0">
                <a:solidFill>
                  <a:srgbClr val="12B5A6"/>
                </a:solidFill>
                <a:latin typeface="Pretendard" pitchFamily="34" charset="0"/>
                <a:ea typeface="Pretendard" pitchFamily="34" charset="-122"/>
                <a:cs typeface="Pretendard" pitchFamily="34" charset="-120"/>
              </a:rPr>
              <a:t>정책이 실제 주거공급으로 이어지는 과정</a:t>
            </a:r>
            <a:pPr algn="l" indent="0" marL="0">
              <a:lnSpc>
                <a:spcPts val="5438"/>
              </a:lnSpc>
              <a:buNone/>
            </a:pPr>
            <a:r>
              <a:rPr lang="en-US" sz="3750" b="1" spc="-75" kern="0" dirty="0">
                <a:solidFill>
                  <a:srgbClr val="FFFFFF"/>
                </a:solidFill>
                <a:latin typeface="Pretendard" pitchFamily="34" charset="0"/>
                <a:ea typeface="Pretendard" pitchFamily="34" charset="-122"/>
                <a:cs typeface="Pretendard" pitchFamily="34" charset="-120"/>
              </a:rPr>
              <a:t>을</a:t>
            </a:r>
            <a:pPr algn="l" indent="0" marL="0">
              <a:lnSpc>
                <a:spcPts val="5438"/>
              </a:lnSpc>
              <a:buNone/>
            </a:pPr>
            <a:endParaRPr lang="en-US" sz="3750" dirty="0"/>
          </a:p>
          <a:p>
            <a:pPr algn="l" indent="0" marL="0">
              <a:lnSpc>
                <a:spcPts val="5438"/>
              </a:lnSpc>
              <a:buNone/>
            </a:pPr>
            <a:r>
              <a:rPr lang="en-US" sz="3750" b="1" spc="-75" kern="0" dirty="0">
                <a:solidFill>
                  <a:srgbClr val="FFFFFF"/>
                </a:solidFill>
                <a:latin typeface="Pretendard" pitchFamily="34" charset="0"/>
                <a:ea typeface="Pretendard" pitchFamily="34" charset="-122"/>
                <a:cs typeface="Pretendard" pitchFamily="34" charset="-120"/>
              </a:rPr>
              <a:t>보여주기 위한 시도입니다.</a:t>
            </a:r>
            <a:endParaRPr lang="en-US" sz="3750" dirty="0"/>
          </a:p>
        </p:txBody>
      </p:sp>
      <p:sp>
        <p:nvSpPr>
          <p:cNvPr id="23" name="Text 18"/>
          <p:cNvSpPr txBox="1"/>
          <p:nvPr/>
        </p:nvSpPr>
        <p:spPr>
          <a:xfrm>
            <a:off x="1143000" y="8667598"/>
            <a:ext cx="9525305" cy="457200"/>
          </a:xfrm>
          <a:prstGeom prst="rect">
            <a:avLst/>
          </a:prstGeom>
          <a:noFill/>
          <a:ln/>
        </p:spPr>
        <p:txBody>
          <a:bodyPr wrap="none" lIns="0" tIns="0" rIns="0" bIns="0" rtlCol="0" anchor="ctr"/>
          <a:lstStyle/>
          <a:p>
            <a:pPr algn="l" indent="0" marL="0">
              <a:buNone/>
            </a:pPr>
            <a:r>
              <a:rPr lang="en-US" sz="3000" b="1" dirty="0">
                <a:solidFill>
                  <a:srgbClr val="FFFFFF"/>
                </a:solidFill>
                <a:latin typeface="Pretendard" pitchFamily="34" charset="0"/>
                <a:ea typeface="Pretendard" pitchFamily="34" charset="-122"/>
                <a:cs typeface="Pretendard" pitchFamily="34" charset="-120"/>
              </a:rPr>
              <a:t>감사합니다 · 팀 </a:t>
            </a:r>
            <a:pPr algn="l" indent="0" marL="0">
              <a:buNone/>
            </a:pPr>
            <a:r>
              <a:rPr lang="en-US" sz="3000" b="1" dirty="0">
                <a:solidFill>
                  <a:srgbClr val="12B5A6"/>
                </a:solidFill>
                <a:latin typeface="Pretendard" pitchFamily="34" charset="0"/>
                <a:ea typeface="Pretendard" pitchFamily="34" charset="-122"/>
                <a:cs typeface="Pretendard" pitchFamily="34" charset="-120"/>
              </a:rPr>
              <a:t>전파 도파민</a:t>
            </a:r>
            <a:endParaRPr lang="en-US" sz="3000" dirty="0"/>
          </a:p>
        </p:txBody>
      </p:sp>
      <p:sp>
        <p:nvSpPr>
          <p:cNvPr id="24" name="Text 19"/>
          <p:cNvSpPr txBox="1"/>
          <p:nvPr/>
        </p:nvSpPr>
        <p:spPr>
          <a:xfrm>
            <a:off x="12382805" y="8810244"/>
            <a:ext cx="4763110" cy="295351"/>
          </a:xfrm>
          <a:prstGeom prst="rect">
            <a:avLst/>
          </a:prstGeom>
          <a:noFill/>
          <a:ln/>
        </p:spPr>
        <p:txBody>
          <a:bodyPr wrap="none" lIns="0" tIns="0" rIns="0" bIns="0" rtlCol="0" anchor="ctr"/>
          <a:lstStyle/>
          <a:p>
            <a:pPr algn="r" indent="0" marL="0">
              <a:buNone/>
            </a:pPr>
            <a:r>
              <a:rPr lang="en-US" sz="1950" b="1" dirty="0">
                <a:solidFill>
                  <a:srgbClr val="8FA6C8"/>
                </a:solidFill>
                <a:latin typeface="Pretendard" pitchFamily="34" charset="0"/>
                <a:ea typeface="Pretendard" pitchFamily="34" charset="-122"/>
                <a:cs typeface="Pretendard" pitchFamily="34" charset="-120"/>
              </a:rPr>
              <a:t>minslab.kr/poc/home</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1143000" y="666598"/>
            <a:ext cx="16002000" cy="324612"/>
          </a:xfrm>
          <a:prstGeom prst="rect">
            <a:avLst/>
          </a:prstGeom>
          <a:noFill/>
          <a:ln/>
        </p:spPr>
        <p:txBody>
          <a:bodyPr wrap="none" lIns="0" tIns="0" rIns="0" bIns="0" rtlCol="0" anchor="ctr"/>
          <a:lstStyle/>
          <a:p>
            <a:pPr algn="l" indent="0" marL="0">
              <a:buNone/>
            </a:pPr>
            <a:r>
              <a:rPr lang="en-US" sz="2100" b="1" spc="150" kern="0" dirty="0">
                <a:solidFill>
                  <a:srgbClr val="12B5A6"/>
                </a:solidFill>
                <a:latin typeface="Pretendard" pitchFamily="34" charset="0"/>
                <a:ea typeface="Pretendard" pitchFamily="34" charset="-122"/>
                <a:cs typeface="Pretendard" pitchFamily="34" charset="-120"/>
              </a:rPr>
              <a:t>부록 · 발표자용 (발표 시 숨김)</a:t>
            </a:r>
            <a:endParaRPr lang="en-US" sz="2100" dirty="0"/>
          </a:p>
        </p:txBody>
      </p:sp>
      <p:sp>
        <p:nvSpPr>
          <p:cNvPr id="3" name="Text 1"/>
          <p:cNvSpPr txBox="1"/>
          <p:nvPr/>
        </p:nvSpPr>
        <p:spPr>
          <a:xfrm>
            <a:off x="1143000" y="1086307"/>
            <a:ext cx="16002000" cy="590702"/>
          </a:xfrm>
          <a:prstGeom prst="rect">
            <a:avLst/>
          </a:prstGeom>
          <a:noFill/>
          <a:ln/>
        </p:spPr>
        <p:txBody>
          <a:bodyPr wrap="none" lIns="0" tIns="0" rIns="0" bIns="0" rtlCol="0" anchor="ctr"/>
          <a:lstStyle/>
          <a:p>
            <a:pPr algn="l" indent="0" marL="0">
              <a:buNone/>
            </a:pPr>
            <a:r>
              <a:rPr lang="en-US" sz="3900" b="1" spc="-90" kern="0" dirty="0">
                <a:solidFill>
                  <a:srgbClr val="0A1F44"/>
                </a:solidFill>
                <a:latin typeface="Pretendard" pitchFamily="34" charset="0"/>
                <a:ea typeface="Pretendard" pitchFamily="34" charset="-122"/>
                <a:cs typeface="Pretendard" pitchFamily="34" charset="-120"/>
              </a:rPr>
              <a:t>발표 흐름과 시간 배분 — 총 15분</a:t>
            </a:r>
            <a:endParaRPr lang="en-US" sz="3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2095805"/>
          <a:ext cx="16002000" cy="4562856"/>
        </p:xfrm>
        <a:graphic>
          <a:graphicData uri="http://schemas.openxmlformats.org/drawingml/2006/table">
            <a:tbl>
              <a:tblPr/>
              <a:tblGrid>
                <a:gridCol w="3810305"/>
                <a:gridCol w="7619695"/>
                <a:gridCol w="2286000"/>
                <a:gridCol w="2286000"/>
              </a:tblGrid>
              <a:tr h="506984">
                <a:tc>
                  <a:txBody>
                    <a:bodyPr/>
                    <a:lstStyle/>
                    <a:p>
                      <a:pPr algn="l" indent="0" marL="0">
                        <a:buNone/>
                      </a:pPr>
                      <a:r>
                        <a:rPr lang="en-US" sz="1950" b="1" dirty="0">
                          <a:solidFill>
                            <a:srgbClr val="FFFFFF"/>
                          </a:solidFill>
                          <a:latin typeface="Pretendard" pitchFamily="34" charset="0"/>
                          <a:ea typeface="Pretendard" pitchFamily="34" charset="-122"/>
                          <a:cs typeface="Pretendard" pitchFamily="34" charset="-120"/>
                        </a:rPr>
                        <a:t>흐름</a:t>
                      </a:r>
                      <a:endParaRPr lang="en-US" sz="1950" dirty="0">
                        <a:latin typeface="Pretendard" charset="0"/>
                        <a:ea typeface="Pretendard" charset="0"/>
                        <a:cs typeface="Pretendard" charset="0"/>
                      </a:endParaRPr>
                    </a:p>
                  </a:txBody>
                  <a:tcPr marL="190195" marR="190195"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0A1F44"/>
                    </a:solidFill>
                  </a:tcPr>
                </a:tc>
                <a:tc>
                  <a:txBody>
                    <a:bodyPr/>
                    <a:lstStyle/>
                    <a:p>
                      <a:pPr algn="l" indent="0" marL="0">
                        <a:buNone/>
                      </a:pPr>
                      <a:r>
                        <a:rPr lang="en-US" sz="1950" b="1" dirty="0">
                          <a:solidFill>
                            <a:srgbClr val="FFFFFF"/>
                          </a:solidFill>
                          <a:latin typeface="Pretendard" pitchFamily="34" charset="0"/>
                          <a:ea typeface="Pretendard" pitchFamily="34" charset="-122"/>
                          <a:cs typeface="Pretendard" pitchFamily="34" charset="-120"/>
                        </a:rPr>
                        <a:t>슬라이드</a:t>
                      </a:r>
                      <a:endParaRPr lang="en-US" sz="1950" dirty="0">
                        <a:latin typeface="Pretendard" charset="0"/>
                        <a:ea typeface="Pretendard" charset="0"/>
                        <a:cs typeface="Pretendard" charset="0"/>
                      </a:endParaRPr>
                    </a:p>
                  </a:txBody>
                  <a:tcPr marL="190195" marR="190195"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0A1F44"/>
                    </a:solidFill>
                  </a:tcPr>
                </a:tc>
                <a:tc>
                  <a:txBody>
                    <a:bodyPr/>
                    <a:lstStyle/>
                    <a:p>
                      <a:pPr algn="r" indent="0" marL="0">
                        <a:buNone/>
                      </a:pPr>
                      <a:r>
                        <a:rPr lang="en-US" sz="1950" b="1" dirty="0">
                          <a:solidFill>
                            <a:srgbClr val="FFFFFF"/>
                          </a:solidFill>
                          <a:latin typeface="Pretendard" pitchFamily="34" charset="0"/>
                          <a:ea typeface="Pretendard" pitchFamily="34" charset="-122"/>
                          <a:cs typeface="Pretendard" pitchFamily="34" charset="-120"/>
                        </a:rPr>
                        <a:t>시간</a:t>
                      </a:r>
                      <a:endParaRPr lang="en-US" sz="1950" dirty="0">
                        <a:latin typeface="Pretendard" charset="0"/>
                        <a:ea typeface="Pretendard" charset="0"/>
                        <a:cs typeface="Pretendard" charset="0"/>
                      </a:endParaRPr>
                    </a:p>
                  </a:txBody>
                  <a:tcPr marL="190195" marR="190195"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0A1F44"/>
                    </a:solidFill>
                  </a:tcPr>
                </a:tc>
                <a:tc>
                  <a:txBody>
                    <a:bodyPr/>
                    <a:lstStyle/>
                    <a:p>
                      <a:pPr algn="r" indent="0" marL="0">
                        <a:buNone/>
                      </a:pPr>
                      <a:r>
                        <a:rPr lang="en-US" sz="1950" b="1" dirty="0">
                          <a:solidFill>
                            <a:srgbClr val="FFFFFF"/>
                          </a:solidFill>
                          <a:latin typeface="Pretendard" pitchFamily="34" charset="0"/>
                          <a:ea typeface="Pretendard" pitchFamily="34" charset="-122"/>
                          <a:cs typeface="Pretendard" pitchFamily="34" charset="-120"/>
                        </a:rPr>
                        <a:t>누적</a:t>
                      </a:r>
                      <a:endParaRPr lang="en-US" sz="1950" dirty="0">
                        <a:latin typeface="Pretendard" charset="0"/>
                        <a:ea typeface="Pretendard" charset="0"/>
                        <a:cs typeface="Pretendard" charset="0"/>
                      </a:endParaRPr>
                    </a:p>
                  </a:txBody>
                  <a:tcPr marL="190195" marR="190195"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0A1F44"/>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도입</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01 표지</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0A1F44"/>
                          </a:solidFill>
                          <a:latin typeface="Pretendard" pitchFamily="34" charset="0"/>
                          <a:ea typeface="Pretendard" pitchFamily="34" charset="-122"/>
                          <a:cs typeface="Pretendard" pitchFamily="34" charset="-120"/>
                        </a:rPr>
                        <a:t>0:30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5B6B82"/>
                          </a:solidFill>
                          <a:latin typeface="Pretendard" pitchFamily="34" charset="0"/>
                          <a:ea typeface="Pretendard" pitchFamily="34" charset="-122"/>
                          <a:cs typeface="Pretendard" pitchFamily="34" charset="-120"/>
                        </a:rPr>
                        <a:t>0:30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문제 발견</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02 문제 제기</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algn="r" indent="0" marL="0">
                        <a:buNone/>
                      </a:pPr>
                      <a:r>
                        <a:rPr lang="en-US" sz="1950" dirty="0">
                          <a:solidFill>
                            <a:srgbClr val="0A1F44"/>
                          </a:solidFill>
                          <a:latin typeface="Pretendard" pitchFamily="34" charset="0"/>
                          <a:ea typeface="Pretendard" pitchFamily="34" charset="-122"/>
                          <a:cs typeface="Pretendard" pitchFamily="34" charset="-120"/>
                        </a:rPr>
                        <a:t>1:00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algn="r" indent="0" marL="0">
                        <a:buNone/>
                      </a:pPr>
                      <a:r>
                        <a:rPr lang="en-US" sz="1950" dirty="0">
                          <a:solidFill>
                            <a:srgbClr val="5B6B82"/>
                          </a:solidFill>
                          <a:latin typeface="Pretendard" pitchFamily="34" charset="0"/>
                          <a:ea typeface="Pretendard" pitchFamily="34" charset="-122"/>
                          <a:cs typeface="Pretendard" pitchFamily="34" charset="-120"/>
                        </a:rPr>
                        <a:t>1:30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서비스 기획</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03 목표·이용 대상 · 04 주택공급 6단계</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0A1F44"/>
                          </a:solidFill>
                          <a:latin typeface="Pretendard" pitchFamily="34" charset="0"/>
                          <a:ea typeface="Pretendard" pitchFamily="34" charset="-122"/>
                          <a:cs typeface="Pretendard" pitchFamily="34" charset="-120"/>
                        </a:rPr>
                        <a:t>2:00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5B6B82"/>
                          </a:solidFill>
                          <a:latin typeface="Pretendard" pitchFamily="34" charset="0"/>
                          <a:ea typeface="Pretendard" pitchFamily="34" charset="-122"/>
                          <a:cs typeface="Pretendard" pitchFamily="34" charset="-120"/>
                        </a:rPr>
                        <a:t>3:30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데이터 확보의 어려움</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05 공공데이터 연결 과제 · 06 확보·통합 과정</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algn="r" indent="0" marL="0">
                        <a:buNone/>
                      </a:pPr>
                      <a:r>
                        <a:rPr lang="en-US" sz="1950" dirty="0">
                          <a:solidFill>
                            <a:srgbClr val="0A1F44"/>
                          </a:solidFill>
                          <a:latin typeface="Pretendard" pitchFamily="34" charset="0"/>
                          <a:ea typeface="Pretendard" pitchFamily="34" charset="-122"/>
                          <a:cs typeface="Pretendard" pitchFamily="34" charset="-120"/>
                        </a:rPr>
                        <a:t>3:00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algn="r" indent="0" marL="0">
                        <a:buNone/>
                      </a:pPr>
                      <a:r>
                        <a:rPr lang="en-US" sz="1950" dirty="0">
                          <a:solidFill>
                            <a:srgbClr val="5B6B82"/>
                          </a:solidFill>
                          <a:latin typeface="Pretendard" pitchFamily="34" charset="0"/>
                          <a:ea typeface="Pretendard" pitchFamily="34" charset="-122"/>
                          <a:cs typeface="Pretendard" pitchFamily="34" charset="-120"/>
                        </a:rPr>
                        <a:t>6:30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데이터 연결 방식</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07 연결 구조 · 08 시스템 구성</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0A1F44"/>
                          </a:solidFill>
                          <a:latin typeface="Pretendard" pitchFamily="34" charset="0"/>
                          <a:ea typeface="Pretendard" pitchFamily="34" charset="-122"/>
                          <a:cs typeface="Pretendard" pitchFamily="34" charset="-120"/>
                        </a:rPr>
                        <a:t>2:00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5B6B82"/>
                          </a:solidFill>
                          <a:latin typeface="Pretendard" pitchFamily="34" charset="0"/>
                          <a:ea typeface="Pretendard" pitchFamily="34" charset="-122"/>
                          <a:cs typeface="Pretendard" pitchFamily="34" charset="-120"/>
                        </a:rPr>
                        <a:t>8:30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실제 구현</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09 추진현황 · 10 지역·공급현황 · 11 시연</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algn="r" indent="0" marL="0">
                        <a:buNone/>
                      </a:pPr>
                      <a:r>
                        <a:rPr lang="en-US" sz="1950" dirty="0">
                          <a:solidFill>
                            <a:srgbClr val="0A1F44"/>
                          </a:solidFill>
                          <a:latin typeface="Pretendard" pitchFamily="34" charset="0"/>
                          <a:ea typeface="Pretendard" pitchFamily="34" charset="-122"/>
                          <a:cs typeface="Pretendard" pitchFamily="34" charset="-120"/>
                        </a:rPr>
                        <a:t>4:00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c>
                  <a:txBody>
                    <a:bodyPr/>
                    <a:lstStyle/>
                    <a:p>
                      <a:pPr algn="r" indent="0" marL="0">
                        <a:buNone/>
                      </a:pPr>
                      <a:r>
                        <a:rPr lang="en-US" sz="1950" dirty="0">
                          <a:solidFill>
                            <a:srgbClr val="5B6B82"/>
                          </a:solidFill>
                          <a:latin typeface="Pretendard" pitchFamily="34" charset="0"/>
                          <a:ea typeface="Pretendard" pitchFamily="34" charset="-122"/>
                          <a:cs typeface="Pretendard" pitchFamily="34" charset="-120"/>
                        </a:rPr>
                        <a:t>12:30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0F4FA"/>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성과와 향후 발전</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12 성과·배운 점 · 13 향후 방향·마무리</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0A1F44"/>
                          </a:solidFill>
                          <a:latin typeface="Pretendard" pitchFamily="34" charset="0"/>
                          <a:ea typeface="Pretendard" pitchFamily="34" charset="-122"/>
                          <a:cs typeface="Pretendard" pitchFamily="34" charset="-120"/>
                        </a:rPr>
                        <a:t>2:00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c>
                  <a:txBody>
                    <a:bodyPr/>
                    <a:lstStyle/>
                    <a:p>
                      <a:pPr algn="r" indent="0" marL="0">
                        <a:buNone/>
                      </a:pPr>
                      <a:r>
                        <a:rPr lang="en-US" sz="1950" dirty="0">
                          <a:solidFill>
                            <a:srgbClr val="5B6B82"/>
                          </a:solidFill>
                          <a:latin typeface="Pretendard" pitchFamily="34" charset="0"/>
                          <a:ea typeface="Pretendard" pitchFamily="34" charset="-122"/>
                          <a:cs typeface="Pretendard" pitchFamily="34" charset="-120"/>
                        </a:rPr>
                        <a:t>14:30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r h="506984">
                <a:tc>
                  <a:txBody>
                    <a:bodyPr/>
                    <a:lstStyle/>
                    <a:p>
                      <a:pPr indent="0" marL="0">
                        <a:buNone/>
                      </a:pPr>
                      <a:r>
                        <a:rPr lang="en-US" sz="1950" b="1" dirty="0">
                          <a:solidFill>
                            <a:srgbClr val="0A1F44"/>
                          </a:solidFill>
                          <a:latin typeface="Pretendard" pitchFamily="34" charset="0"/>
                          <a:ea typeface="Pretendard" pitchFamily="34" charset="-122"/>
                          <a:cs typeface="Pretendard" pitchFamily="34" charset="-120"/>
                        </a:rPr>
                        <a:t>여유</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0F7F4"/>
                    </a:solidFill>
                  </a:tcPr>
                </a:tc>
                <a:tc>
                  <a:txBody>
                    <a:bodyPr/>
                    <a:lstStyle/>
                    <a:p>
                      <a:pPr indent="0" marL="0">
                        <a:buNone/>
                      </a:pPr>
                      <a:r>
                        <a:rPr lang="en-US" sz="1950" dirty="0">
                          <a:solidFill>
                            <a:srgbClr val="0A1F44"/>
                          </a:solidFill>
                          <a:latin typeface="Pretendard" pitchFamily="34" charset="0"/>
                          <a:ea typeface="Pretendard" pitchFamily="34" charset="-122"/>
                          <a:cs typeface="Pretendard" pitchFamily="34" charset="-120"/>
                        </a:rPr>
                        <a:t>전환·시연 접속 지연 대비</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0F7F4"/>
                    </a:solidFill>
                  </a:tcPr>
                </a:tc>
                <a:tc>
                  <a:txBody>
                    <a:bodyPr/>
                    <a:lstStyle/>
                    <a:p>
                      <a:pPr algn="r" indent="0" marL="0">
                        <a:buNone/>
                      </a:pPr>
                      <a:r>
                        <a:rPr lang="en-US" sz="1950" b="1" dirty="0">
                          <a:solidFill>
                            <a:srgbClr val="0A1F44"/>
                          </a:solidFill>
                          <a:latin typeface="Pretendard" pitchFamily="34" charset="0"/>
                          <a:ea typeface="Pretendard" pitchFamily="34" charset="-122"/>
                          <a:cs typeface="Pretendard" pitchFamily="34" charset="-120"/>
                        </a:rPr>
                        <a:t>0:30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0F7F4"/>
                    </a:solidFill>
                  </a:tcPr>
                </a:tc>
                <a:tc>
                  <a:txBody>
                    <a:bodyPr/>
                    <a:lstStyle/>
                    <a:p>
                      <a:pPr algn="r" indent="0" marL="0">
                        <a:buNone/>
                      </a:pPr>
                      <a:r>
                        <a:rPr lang="en-US" sz="1950" b="1" dirty="0">
                          <a:solidFill>
                            <a:srgbClr val="0A1F44"/>
                          </a:solidFill>
                          <a:latin typeface="Pretendard" pitchFamily="34" charset="0"/>
                          <a:ea typeface="Pretendard" pitchFamily="34" charset="-122"/>
                          <a:cs typeface="Pretendard" pitchFamily="34" charset="-120"/>
                        </a:rPr>
                        <a:t>15:00</a:t>
                      </a:r>
                      <a:endParaRPr lang="en-US" sz="1950" dirty="0">
                        <a:latin typeface="Pretendard" charset="0"/>
                        <a:ea typeface="Pretendard" charset="0"/>
                        <a:cs typeface="Pretendard" charset="0"/>
                      </a:endParaRPr>
                    </a:p>
                  </a:txBody>
                  <a:tcPr marL="190195" marR="190195" marT="105156" marB="105156"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0F7F4"/>
                    </a:solidFill>
                  </a:tcPr>
                </a:tc>
              </a:tr>
            </a:tbl>
          </a:graphicData>
        </a:graphic>
      </p:graphicFrame>
      <p:sp>
        <p:nvSpPr>
          <p:cNvPr id="5" name="Text 2"/>
          <p:cNvSpPr txBox="1"/>
          <p:nvPr/>
        </p:nvSpPr>
        <p:spPr>
          <a:xfrm>
            <a:off x="1143000" y="7905902"/>
            <a:ext cx="7763256" cy="352958"/>
          </a:xfrm>
          <a:prstGeom prst="rect">
            <a:avLst/>
          </a:prstGeom>
          <a:noFill/>
          <a:ln/>
        </p:spPr>
        <p:txBody>
          <a:bodyPr wrap="none" lIns="0" tIns="0" rIns="0" bIns="0" rtlCol="0" anchor="ctr"/>
          <a:lstStyle/>
          <a:p>
            <a:pPr algn="l" indent="0" marL="0">
              <a:buNone/>
            </a:pPr>
            <a:r>
              <a:rPr lang="en-US" sz="1875" b="1" dirty="0">
                <a:solidFill>
                  <a:srgbClr val="1F6FEB"/>
                </a:solidFill>
                <a:latin typeface="Pretendard" pitchFamily="34" charset="0"/>
                <a:ea typeface="Pretendard" pitchFamily="34" charset="-122"/>
                <a:cs typeface="Pretendard" pitchFamily="34" charset="-120"/>
              </a:rPr>
              <a:t>왜 필요한가</a:t>
            </a:r>
            <a:pPr algn="l" indent="0" marL="0">
              <a:buNone/>
            </a:pPr>
            <a:r>
              <a:rPr lang="en-US" sz="1875" dirty="0">
                <a:solidFill>
                  <a:srgbClr val="0A1F44"/>
                </a:solidFill>
                <a:latin typeface="Pretendard" pitchFamily="34" charset="0"/>
                <a:ea typeface="Pretendard" pitchFamily="34" charset="-122"/>
                <a:cs typeface="Pretendard" pitchFamily="34" charset="-120"/>
              </a:rPr>
              <a:t> → 02 · 03</a:t>
            </a:r>
            <a:endParaRPr lang="en-US" sz="1875" dirty="0"/>
          </a:p>
        </p:txBody>
      </p:sp>
      <p:sp>
        <p:nvSpPr>
          <p:cNvPr id="6" name="Text 3"/>
          <p:cNvSpPr txBox="1"/>
          <p:nvPr/>
        </p:nvSpPr>
        <p:spPr>
          <a:xfrm>
            <a:off x="9381744" y="7905902"/>
            <a:ext cx="7763256" cy="352958"/>
          </a:xfrm>
          <a:prstGeom prst="rect">
            <a:avLst/>
          </a:prstGeom>
          <a:noFill/>
          <a:ln/>
        </p:spPr>
        <p:txBody>
          <a:bodyPr wrap="none" lIns="0" tIns="0" rIns="0" bIns="0" rtlCol="0" anchor="ctr"/>
          <a:lstStyle/>
          <a:p>
            <a:pPr algn="l" indent="0" marL="0">
              <a:buNone/>
            </a:pPr>
            <a:r>
              <a:rPr lang="en-US" sz="1875" b="1" dirty="0">
                <a:solidFill>
                  <a:srgbClr val="1F6FEB"/>
                </a:solidFill>
                <a:latin typeface="Pretendard" pitchFamily="34" charset="0"/>
                <a:ea typeface="Pretendard" pitchFamily="34" charset="-122"/>
                <a:cs typeface="Pretendard" pitchFamily="34" charset="-120"/>
              </a:rPr>
              <a:t>공공데이터를 어떻게 활용했나</a:t>
            </a:r>
            <a:pPr algn="l" indent="0" marL="0">
              <a:buNone/>
            </a:pPr>
            <a:r>
              <a:rPr lang="en-US" sz="1875" dirty="0">
                <a:solidFill>
                  <a:srgbClr val="0A1F44"/>
                </a:solidFill>
                <a:latin typeface="Pretendard" pitchFamily="34" charset="0"/>
                <a:ea typeface="Pretendard" pitchFamily="34" charset="-122"/>
                <a:cs typeface="Pretendard" pitchFamily="34" charset="-120"/>
              </a:rPr>
              <a:t> → 05 · 06 · 07</a:t>
            </a:r>
            <a:endParaRPr lang="en-US" sz="1875" dirty="0"/>
          </a:p>
        </p:txBody>
      </p:sp>
      <p:sp>
        <p:nvSpPr>
          <p:cNvPr id="7" name="Text 4"/>
          <p:cNvSpPr txBox="1"/>
          <p:nvPr/>
        </p:nvSpPr>
        <p:spPr>
          <a:xfrm>
            <a:off x="1143000" y="8364931"/>
            <a:ext cx="7763256" cy="352958"/>
          </a:xfrm>
          <a:prstGeom prst="rect">
            <a:avLst/>
          </a:prstGeom>
          <a:noFill/>
          <a:ln/>
        </p:spPr>
        <p:txBody>
          <a:bodyPr wrap="none" lIns="0" tIns="0" rIns="0" bIns="0" rtlCol="0" anchor="ctr"/>
          <a:lstStyle/>
          <a:p>
            <a:pPr algn="l" indent="0" marL="0">
              <a:buNone/>
            </a:pPr>
            <a:r>
              <a:rPr lang="en-US" sz="1875" b="1" dirty="0">
                <a:solidFill>
                  <a:srgbClr val="1F6FEB"/>
                </a:solidFill>
                <a:latin typeface="Pretendard" pitchFamily="34" charset="0"/>
                <a:ea typeface="Pretendard" pitchFamily="34" charset="-122"/>
                <a:cs typeface="Pretendard" pitchFamily="34" charset="-120"/>
              </a:rPr>
              <a:t>무엇을 구현했나</a:t>
            </a:r>
            <a:pPr algn="l" indent="0" marL="0">
              <a:buNone/>
            </a:pPr>
            <a:r>
              <a:rPr lang="en-US" sz="1875" dirty="0">
                <a:solidFill>
                  <a:srgbClr val="0A1F44"/>
                </a:solidFill>
                <a:latin typeface="Pretendard" pitchFamily="34" charset="0"/>
                <a:ea typeface="Pretendard" pitchFamily="34" charset="-122"/>
                <a:cs typeface="Pretendard" pitchFamily="34" charset="-120"/>
              </a:rPr>
              <a:t> → 08 · 09 · 10 · 11</a:t>
            </a:r>
            <a:endParaRPr lang="en-US" sz="1875" dirty="0"/>
          </a:p>
        </p:txBody>
      </p:sp>
      <p:sp>
        <p:nvSpPr>
          <p:cNvPr id="8" name="Text 5"/>
          <p:cNvSpPr txBox="1"/>
          <p:nvPr/>
        </p:nvSpPr>
        <p:spPr>
          <a:xfrm>
            <a:off x="9381744" y="8364931"/>
            <a:ext cx="7763256" cy="352958"/>
          </a:xfrm>
          <a:prstGeom prst="rect">
            <a:avLst/>
          </a:prstGeom>
          <a:noFill/>
          <a:ln/>
        </p:spPr>
        <p:txBody>
          <a:bodyPr wrap="none" lIns="0" tIns="0" rIns="0" bIns="0" rtlCol="0" anchor="ctr"/>
          <a:lstStyle/>
          <a:p>
            <a:pPr algn="l" indent="0" marL="0">
              <a:buNone/>
            </a:pPr>
            <a:r>
              <a:rPr lang="en-US" sz="1875" b="1" dirty="0">
                <a:solidFill>
                  <a:srgbClr val="1F6FEB"/>
                </a:solidFill>
                <a:latin typeface="Pretendard" pitchFamily="34" charset="0"/>
                <a:ea typeface="Pretendard" pitchFamily="34" charset="-122"/>
                <a:cs typeface="Pretendard" pitchFamily="34" charset="-120"/>
              </a:rPr>
              <a:t>무엇을 배웠나</a:t>
            </a:r>
            <a:pPr algn="l" indent="0" marL="0">
              <a:buNone/>
            </a:pPr>
            <a:r>
              <a:rPr lang="en-US" sz="1875" dirty="0">
                <a:solidFill>
                  <a:srgbClr val="0A1F44"/>
                </a:solidFill>
                <a:latin typeface="Pretendard" pitchFamily="34" charset="0"/>
                <a:ea typeface="Pretendard" pitchFamily="34" charset="-122"/>
                <a:cs typeface="Pretendard" pitchFamily="34" charset="-120"/>
              </a:rPr>
              <a:t> → 12 · 13</a:t>
            </a:r>
            <a:endParaRPr lang="en-US" sz="1875" dirty="0"/>
          </a:p>
        </p:txBody>
      </p:sp>
      <p:sp>
        <p:nvSpPr>
          <p:cNvPr id="9" name="Text 6"/>
          <p:cNvSpPr txBox="1"/>
          <p:nvPr/>
        </p:nvSpPr>
        <p:spPr>
          <a:xfrm>
            <a:off x="1143000" y="8900770"/>
            <a:ext cx="16002000" cy="277063"/>
          </a:xfrm>
          <a:prstGeom prst="rect">
            <a:avLst/>
          </a:prstGeom>
          <a:noFill/>
          <a:ln/>
        </p:spPr>
        <p:txBody>
          <a:bodyPr wrap="none" lIns="0" tIns="0" rIns="0" bIns="0" rtlCol="0" anchor="ctr"/>
          <a:lstStyle/>
          <a:p>
            <a:pPr algn="l" indent="0" marL="0">
              <a:buNone/>
            </a:pPr>
            <a:r>
              <a:rPr lang="en-US" sz="1800" dirty="0">
                <a:solidFill>
                  <a:srgbClr val="8A99B0"/>
                </a:solidFill>
                <a:latin typeface="Pretendard" pitchFamily="34" charset="0"/>
                <a:ea typeface="Pretendard" pitchFamily="34" charset="-122"/>
                <a:cs typeface="Pretendard" pitchFamily="34" charset="-120"/>
              </a:rPr>
              <a:t>시간이 부족하면 11 시연을 30초로 줄이고 09·10 화면 설명으로 대체</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2026-10-16T05:48:01Z</dcterms:created>
  <dcterms:modified xsi:type="dcterms:W3CDTF">2026-10-16T05:48:01Z</dcterms:modified>
</cp:coreProperties>
</file>